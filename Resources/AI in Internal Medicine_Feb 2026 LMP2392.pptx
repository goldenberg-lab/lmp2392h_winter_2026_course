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80" r:id="rId2"/>
  </p:sldMasterIdLst>
  <p:notesMasterIdLst>
    <p:notesMasterId r:id="rId55"/>
  </p:notesMasterIdLst>
  <p:sldIdLst>
    <p:sldId id="357" r:id="rId3"/>
    <p:sldId id="2147375293" r:id="rId4"/>
    <p:sldId id="2147375240" r:id="rId5"/>
    <p:sldId id="2147375241" r:id="rId6"/>
    <p:sldId id="2147375295" r:id="rId7"/>
    <p:sldId id="2147375296" r:id="rId8"/>
    <p:sldId id="2147375253" r:id="rId9"/>
    <p:sldId id="2147375245" r:id="rId10"/>
    <p:sldId id="2147375299" r:id="rId11"/>
    <p:sldId id="2147375244" r:id="rId12"/>
    <p:sldId id="2147375297" r:id="rId13"/>
    <p:sldId id="2147375254" r:id="rId14"/>
    <p:sldId id="2147375302" r:id="rId15"/>
    <p:sldId id="2147375349" r:id="rId16"/>
    <p:sldId id="2147375262" r:id="rId17"/>
    <p:sldId id="2147375320" r:id="rId18"/>
    <p:sldId id="2147375321" r:id="rId19"/>
    <p:sldId id="2147375246" r:id="rId20"/>
    <p:sldId id="2147375301" r:id="rId21"/>
    <p:sldId id="2147375255" r:id="rId22"/>
    <p:sldId id="2147375306" r:id="rId23"/>
    <p:sldId id="2147375305" r:id="rId24"/>
    <p:sldId id="2147375267" r:id="rId25"/>
    <p:sldId id="2147375272" r:id="rId26"/>
    <p:sldId id="2147375283" r:id="rId27"/>
    <p:sldId id="2147375264" r:id="rId28"/>
    <p:sldId id="2147375266" r:id="rId29"/>
    <p:sldId id="2147375280" r:id="rId30"/>
    <p:sldId id="2147375281" r:id="rId31"/>
    <p:sldId id="2147375282" r:id="rId32"/>
    <p:sldId id="1849" r:id="rId33"/>
    <p:sldId id="2147375220" r:id="rId34"/>
    <p:sldId id="1706" r:id="rId35"/>
    <p:sldId id="260" r:id="rId36"/>
    <p:sldId id="283" r:id="rId37"/>
    <p:sldId id="286" r:id="rId38"/>
    <p:sldId id="2147479191" r:id="rId39"/>
    <p:sldId id="2147375268" r:id="rId40"/>
    <p:sldId id="2147375286" r:id="rId41"/>
    <p:sldId id="2147375313" r:id="rId42"/>
    <p:sldId id="2147375323" r:id="rId43"/>
    <p:sldId id="2147479255" r:id="rId44"/>
    <p:sldId id="2147479261" r:id="rId45"/>
    <p:sldId id="2147479262" r:id="rId46"/>
    <p:sldId id="2147479238" r:id="rId47"/>
    <p:sldId id="2147347841" r:id="rId48"/>
    <p:sldId id="2147375279" r:id="rId49"/>
    <p:sldId id="2147375275" r:id="rId50"/>
    <p:sldId id="2147375276" r:id="rId51"/>
    <p:sldId id="2147375277" r:id="rId52"/>
    <p:sldId id="340" r:id="rId53"/>
    <p:sldId id="214737533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7E2C403-EBD1-4F89-5B6F-3063BA0294CC}" name="Lee, Tracy" initials="TL" userId="S::tracy.lee@ontariohealth.ca::8d2e2327-8971-4f87-af78-d16aa1805f2b" providerId="AD"/>
  <p188:author id="{477E0B16-19AC-0EB1-5D60-D0754C75EC44}" name="Khuc, Nicole (MOH)" initials="KN(" userId="S::Nicole.Khuc@ontario.ca::927c9f4c-9f00-4c36-b903-39bb3261c0d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homas-Jacques, Tyla (MOH)" initials="TT(" lastIdx="2" clrIdx="0">
    <p:extLst>
      <p:ext uri="{19B8F6BF-5375-455C-9EA6-DF929625EA0E}">
        <p15:presenceInfo xmlns:p15="http://schemas.microsoft.com/office/powerpoint/2012/main" userId="S::Tyla.Thomas-Jacques@ontario.ca::102f5212-55d6-4d7e-b052-6f978769dab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85"/>
    <a:srgbClr val="15195F"/>
    <a:srgbClr val="F16F21"/>
    <a:srgbClr val="1D64B6"/>
    <a:srgbClr val="BE5208"/>
    <a:srgbClr val="1619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21" autoAdjust="0"/>
    <p:restoredTop sz="84793" autoAdjust="0"/>
  </p:normalViewPr>
  <p:slideViewPr>
    <p:cSldViewPr snapToGrid="0">
      <p:cViewPr varScale="1">
        <p:scale>
          <a:sx n="51" d="100"/>
          <a:sy n="51" d="100"/>
        </p:scale>
        <p:origin x="77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61" Type="http://schemas.microsoft.com/office/2018/10/relationships/authors" Target="author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B823BB-0067-4E22-AA50-6D6FD9BE272B}" type="datetimeFigureOut">
              <a:rPr lang="en-CA" smtClean="0"/>
              <a:t>2026-02-11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08EDAB-49F7-4C8C-BD98-9CCDE175B7C3}" type="slidenum">
              <a:rPr lang="en-CA" smtClean="0"/>
              <a:t>‹#›</a:t>
            </a:fld>
            <a:endParaRPr lang="en-CA"/>
          </a:p>
        </p:txBody>
      </p:sp>
    </p:spTree>
    <p:extLst>
      <p:ext uri="{BB962C8B-B14F-4D97-AF65-F5344CB8AC3E}">
        <p14:creationId xmlns:p14="http://schemas.microsoft.com/office/powerpoint/2010/main" val="4034269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oecd.org/content/dam/oecd/en/publications/reports/2023/11/health-at-a-glance-2023_e04f8239/7a7afb35-en.pdf" TargetMode="External"/><Relationship Id="rId2" Type="http://schemas.openxmlformats.org/officeDocument/2006/relationships/slide" Target="../slides/slide43.xml"/><Relationship Id="rId1" Type="http://schemas.openxmlformats.org/officeDocument/2006/relationships/notesMaster" Target="../notesMasters/notesMaster1.xml"/><Relationship Id="rId5" Type="http://schemas.openxmlformats.org/officeDocument/2006/relationships/hyperlink" Target="https://hsrlce.utoronto.ca/wp-content/uploads/2015/03/Prevalence-and-Extent-of-Obstructive-Coronary-Artery-Disease-Among-Patients-Undergoing-Elective-Coronary-Catheterization-in-New-York-State-and-Ontario.pdf" TargetMode="External"/><Relationship Id="rId4" Type="http://schemas.openxmlformats.org/officeDocument/2006/relationships/hyperlink" Target="https://jamanetwork.com/journals/jama/fullarticle/2749213"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oecd.org/content/dam/oecd/en/publications/reports/2023/11/health-at-a-glance-2023_e04f8239/7a7afb35-en.pdf"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s://hsrlce.utoronto.ca/wp-content/uploads/2015/03/Prevalence-and-Extent-of-Obstructive-Coronary-Artery-Disease-Among-Patients-Undergoing-Elective-Coronary-Catheterization-in-New-York-State-and-Ontario.pdf" TargetMode="External"/><Relationship Id="rId4" Type="http://schemas.openxmlformats.org/officeDocument/2006/relationships/hyperlink" Target="https://jamanetwork.com/journals/jama/fullarticle/2749213"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8225" y="523875"/>
            <a:ext cx="4654550" cy="26193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63550" rtl="0" eaLnBrk="0" fontAlgn="base" latinLnBrk="0" hangingPunct="0">
              <a:lnSpc>
                <a:spcPct val="100000"/>
              </a:lnSpc>
              <a:spcBef>
                <a:spcPct val="0"/>
              </a:spcBef>
              <a:spcAft>
                <a:spcPct val="0"/>
              </a:spcAft>
              <a:buClrTx/>
              <a:buSzTx/>
              <a:buFontTx/>
              <a:buNone/>
              <a:tabLst/>
              <a:defRPr/>
            </a:pPr>
            <a:fld id="{0597D704-995A-451A-AAA2-B9462F0B3A37}" type="slidenum">
              <a:rPr kumimoji="0" lang="en-CA"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463550" rtl="0" eaLnBrk="0" fontAlgn="base" latinLnBrk="0" hangingPunct="0">
                <a:lnSpc>
                  <a:spcPct val="100000"/>
                </a:lnSpc>
                <a:spcBef>
                  <a:spcPct val="0"/>
                </a:spcBef>
                <a:spcAft>
                  <a:spcPct val="0"/>
                </a:spcAft>
                <a:buClrTx/>
                <a:buSzTx/>
                <a:buFontTx/>
                <a:buNone/>
                <a:tabLst/>
                <a:defRPr/>
              </a:pPr>
              <a:t>1</a:t>
            </a:fld>
            <a:endParaRPr kumimoji="0" lang="en-CA"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3965980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66666"/>
                </a:solidFill>
                <a:effectLst/>
                <a:latin typeface="OTNEJMScalaSansLF"/>
              </a:rPr>
              <a:t>Generative pretrained transformer (GPT) model percentiles among physicians on 120 attempts at the examination for every medical specialty are shown. The dotted red lines mark the percentile corresponding with a passing score. The graphic was created by the authors using data from the 2022 Israeli board residency examinations and results from the GPT models. OB/GYN denotes obstetrics and gynecology</a:t>
            </a:r>
          </a:p>
          <a:p>
            <a:endParaRPr lang="en-US" b="0" i="0" dirty="0">
              <a:solidFill>
                <a:srgbClr val="666666"/>
              </a:solidFill>
              <a:effectLst/>
              <a:latin typeface="OTNEJMScalaSansLF"/>
            </a:endParaRPr>
          </a:p>
          <a:p>
            <a:r>
              <a:rPr lang="en-US" b="0" i="0" dirty="0">
                <a:solidFill>
                  <a:srgbClr val="4D4D4D"/>
                </a:solidFill>
                <a:effectLst/>
                <a:latin typeface="Lyon Text Web"/>
              </a:rPr>
              <a:t>To account for model variability between attempts, this procedure was repeated 120 times for each model across each medical specialty.</a:t>
            </a:r>
            <a:r>
              <a:rPr lang="en-US" b="0" i="0" dirty="0">
                <a:solidFill>
                  <a:srgbClr val="666666"/>
                </a:solidFill>
                <a:effectLst/>
                <a:latin typeface="OTNEJMScalaSansLF"/>
              </a:rPr>
              <a:t>.</a:t>
            </a:r>
            <a:endParaRPr lang="en-CA" dirty="0"/>
          </a:p>
        </p:txBody>
      </p:sp>
      <p:sp>
        <p:nvSpPr>
          <p:cNvPr id="4" name="Slide Number Placeholder 3"/>
          <p:cNvSpPr>
            <a:spLocks noGrp="1"/>
          </p:cNvSpPr>
          <p:nvPr>
            <p:ph type="sldNum" sz="quarter" idx="5"/>
          </p:nvPr>
        </p:nvSpPr>
        <p:spPr/>
        <p:txBody>
          <a:bodyPr/>
          <a:lstStyle/>
          <a:p>
            <a:fld id="{CF08EDAB-49F7-4C8C-BD98-9CCDE175B7C3}" type="slidenum">
              <a:rPr lang="en-CA" smtClean="0"/>
              <a:t>10</a:t>
            </a:fld>
            <a:endParaRPr lang="en-CA"/>
          </a:p>
        </p:txBody>
      </p:sp>
    </p:spTree>
    <p:extLst>
      <p:ext uri="{BB962C8B-B14F-4D97-AF65-F5344CB8AC3E}">
        <p14:creationId xmlns:p14="http://schemas.microsoft.com/office/powerpoint/2010/main" val="1057080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B8311-64E2-66A9-A72F-244D20E04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448DD-5EA3-C253-2177-DC343DACD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296F0-0EE5-C913-F991-8EC0FD52CA3D}"/>
              </a:ext>
            </a:extLst>
          </p:cNvPr>
          <p:cNvSpPr>
            <a:spLocks noGrp="1"/>
          </p:cNvSpPr>
          <p:nvPr>
            <p:ph type="body" idx="1"/>
          </p:nvPr>
        </p:nvSpPr>
        <p:spPr/>
        <p:txBody>
          <a:bodyPr/>
          <a:lstStyle/>
          <a:p>
            <a:r>
              <a:rPr lang="en-US" b="0" i="0" dirty="0">
                <a:solidFill>
                  <a:srgbClr val="666666"/>
                </a:solidFill>
                <a:effectLst/>
                <a:latin typeface="OTNEJMScalaSansLF"/>
              </a:rPr>
              <a:t>Generative pretrained transformer (GPT) model percentiles among physicians on 120 attempts at the examination for every medical specialty are shown. The dotted red lines mark the percentile corresponding with a passing score. The graphic was created by the authors using data from the 2022 Israeli board residency examinations and results from the GPT models. OB/GYN denotes obstetrics and gynecology</a:t>
            </a:r>
          </a:p>
          <a:p>
            <a:endParaRPr lang="en-US" b="0" i="0" dirty="0">
              <a:solidFill>
                <a:srgbClr val="666666"/>
              </a:solidFill>
              <a:effectLst/>
              <a:latin typeface="OTNEJMScalaSansLF"/>
            </a:endParaRPr>
          </a:p>
          <a:p>
            <a:r>
              <a:rPr lang="en-US" b="0" i="0" dirty="0">
                <a:solidFill>
                  <a:srgbClr val="4D4D4D"/>
                </a:solidFill>
                <a:effectLst/>
                <a:latin typeface="Lyon Text Web"/>
              </a:rPr>
              <a:t>To account for model variability between attempts, this procedure was repeated 120 times for each model across each medical specialty.</a:t>
            </a:r>
            <a:r>
              <a:rPr lang="en-US" b="0" i="0" dirty="0">
                <a:solidFill>
                  <a:srgbClr val="666666"/>
                </a:solidFill>
                <a:effectLst/>
                <a:latin typeface="OTNEJMScalaSansLF"/>
              </a:rPr>
              <a:t>.</a:t>
            </a:r>
            <a:endParaRPr lang="en-CA" dirty="0"/>
          </a:p>
        </p:txBody>
      </p:sp>
      <p:sp>
        <p:nvSpPr>
          <p:cNvPr id="4" name="Slide Number Placeholder 3">
            <a:extLst>
              <a:ext uri="{FF2B5EF4-FFF2-40B4-BE49-F238E27FC236}">
                <a16:creationId xmlns:a16="http://schemas.microsoft.com/office/drawing/2014/main" id="{38FC4605-8AD8-51B9-5ED2-45B4569908DE}"/>
              </a:ext>
            </a:extLst>
          </p:cNvPr>
          <p:cNvSpPr>
            <a:spLocks noGrp="1"/>
          </p:cNvSpPr>
          <p:nvPr>
            <p:ph type="sldNum" sz="quarter" idx="5"/>
          </p:nvPr>
        </p:nvSpPr>
        <p:spPr/>
        <p:txBody>
          <a:bodyPr/>
          <a:lstStyle/>
          <a:p>
            <a:fld id="{CF08EDAB-49F7-4C8C-BD98-9CCDE175B7C3}" type="slidenum">
              <a:rPr lang="en-CA" smtClean="0"/>
              <a:t>11</a:t>
            </a:fld>
            <a:endParaRPr lang="en-CA"/>
          </a:p>
        </p:txBody>
      </p:sp>
    </p:spTree>
    <p:extLst>
      <p:ext uri="{BB962C8B-B14F-4D97-AF65-F5344CB8AC3E}">
        <p14:creationId xmlns:p14="http://schemas.microsoft.com/office/powerpoint/2010/main" val="4029596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CA" dirty="0"/>
              <a:t>Better at eliciting history or better at synthesizing into a diagnosis? </a:t>
            </a:r>
          </a:p>
          <a:p>
            <a:pPr marL="171450" indent="-171450">
              <a:buFontTx/>
              <a:buChar char="-"/>
            </a:pPr>
            <a:r>
              <a:rPr lang="en-CA" dirty="0"/>
              <a:t>Similar performance when AI used the MD chat</a:t>
            </a:r>
          </a:p>
          <a:p>
            <a:pPr marL="171450" indent="-171450">
              <a:buFontTx/>
              <a:buChar char="-"/>
            </a:pPr>
            <a:r>
              <a:rPr lang="en-CA" dirty="0"/>
              <a:t>Caveat: synthetic environment</a:t>
            </a:r>
          </a:p>
        </p:txBody>
      </p:sp>
      <p:sp>
        <p:nvSpPr>
          <p:cNvPr id="4" name="Slide Number Placeholder 3"/>
          <p:cNvSpPr>
            <a:spLocks noGrp="1"/>
          </p:cNvSpPr>
          <p:nvPr>
            <p:ph type="sldNum" sz="quarter" idx="5"/>
          </p:nvPr>
        </p:nvSpPr>
        <p:spPr/>
        <p:txBody>
          <a:bodyPr/>
          <a:lstStyle/>
          <a:p>
            <a:fld id="{CF08EDAB-49F7-4C8C-BD98-9CCDE175B7C3}" type="slidenum">
              <a:rPr lang="en-CA" smtClean="0"/>
              <a:t>21</a:t>
            </a:fld>
            <a:endParaRPr lang="en-CA"/>
          </a:p>
        </p:txBody>
      </p:sp>
    </p:spTree>
    <p:extLst>
      <p:ext uri="{BB962C8B-B14F-4D97-AF65-F5344CB8AC3E}">
        <p14:creationId xmlns:p14="http://schemas.microsoft.com/office/powerpoint/2010/main" val="3642452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E2E2E"/>
                </a:solidFill>
                <a:effectLst/>
                <a:latin typeface="Source Sans Pro" panose="020B0503030403020204" pitchFamily="34" charset="0"/>
              </a:rPr>
              <a:t>We included 180 922 patients with 649 931 normal sinus rhythm ECGs for analysis: 454 789 ECGs recorded from 126 526 patients in the training dataset, 64 340 ECGs from 18 116 patients in the internal validation dataset, and 130 802 ECGs from 36 280 patients in the testing dataset. 3051 (8·4%) patients in the testing dataset had verified atrial fibrillation before the normal sinus rhythm ECG tested by the model. A single AI-enabled ECG identified atrial fibrillation with an AUC of 0·87 (95% CI 0·86–0·88), sensitivity of 79·0% (77·5–80·4), specificity of 79·5% (79·0–79·9), F1 score of 39·2% (38·1–40·3), and overall accuracy of 79·4% (79·0–79·9).</a:t>
            </a:r>
          </a:p>
          <a:p>
            <a:endParaRPr lang="en-US" b="0" i="0" dirty="0">
              <a:solidFill>
                <a:srgbClr val="2E2E2E"/>
              </a:solidFill>
              <a:effectLst/>
              <a:latin typeface="Source Sans Pro" panose="020B0503030403020204" pitchFamily="34" charset="0"/>
            </a:endParaRPr>
          </a:p>
          <a:p>
            <a:r>
              <a:rPr lang="en-US" b="0" i="0" dirty="0">
                <a:solidFill>
                  <a:srgbClr val="2E2E2E"/>
                </a:solidFill>
                <a:effectLst/>
                <a:latin typeface="Source Sans Pro" panose="020B0503030403020204" pitchFamily="34" charset="0"/>
              </a:rPr>
              <a:t>1003 patients with a mean age of 74 years (SD 8·8) from 40 US states completed the study. Over a mean 22·3 days of continuous monitoring, atrial fibrillation was detected in six (1·6%) of 370 patients with low risk and 48 (7·6%) of 633 with high risk (odds ratio 4·98, 95% CI 2·11–11·75, p=0·0002). Compared with usual care, AI-guided screening was associated with increased detection of atrial fibrillation (high-risk group: 3·6% [95% CI 2·3–5·4] with usual care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10·6% [8·3–13·2] with AI-guided screening, p&lt;0·0001; low-risk group: 0·9%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2·4%, p=0·12) over a median follow-up of 9·9 months (IQR 7·1–11·0).</a:t>
            </a:r>
            <a:endParaRPr lang="en-CA" dirty="0"/>
          </a:p>
        </p:txBody>
      </p:sp>
      <p:sp>
        <p:nvSpPr>
          <p:cNvPr id="4" name="Slide Number Placeholder 3"/>
          <p:cNvSpPr>
            <a:spLocks noGrp="1"/>
          </p:cNvSpPr>
          <p:nvPr>
            <p:ph type="sldNum" sz="quarter" idx="5"/>
          </p:nvPr>
        </p:nvSpPr>
        <p:spPr/>
        <p:txBody>
          <a:bodyPr/>
          <a:lstStyle/>
          <a:p>
            <a:fld id="{CF08EDAB-49F7-4C8C-BD98-9CCDE175B7C3}" type="slidenum">
              <a:rPr lang="en-CA" smtClean="0"/>
              <a:t>27</a:t>
            </a:fld>
            <a:endParaRPr lang="en-CA"/>
          </a:p>
        </p:txBody>
      </p:sp>
    </p:spTree>
    <p:extLst>
      <p:ext uri="{BB962C8B-B14F-4D97-AF65-F5344CB8AC3E}">
        <p14:creationId xmlns:p14="http://schemas.microsoft.com/office/powerpoint/2010/main" val="3958317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5FA3-AF1A-136D-6510-DB76316A2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7EA73-44C9-79F4-F66E-2D67B81659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EA549-6E21-6BFD-A04D-7293F3FC3210}"/>
              </a:ext>
            </a:extLst>
          </p:cNvPr>
          <p:cNvSpPr>
            <a:spLocks noGrp="1"/>
          </p:cNvSpPr>
          <p:nvPr>
            <p:ph type="body" idx="1"/>
          </p:nvPr>
        </p:nvSpPr>
        <p:spPr/>
        <p:txBody>
          <a:bodyPr/>
          <a:lstStyle/>
          <a:p>
            <a:r>
              <a:rPr lang="en-US" b="0" i="0" dirty="0">
                <a:solidFill>
                  <a:srgbClr val="2E2E2E"/>
                </a:solidFill>
                <a:effectLst/>
                <a:latin typeface="Source Sans Pro" panose="020B0503030403020204" pitchFamily="34" charset="0"/>
              </a:rPr>
              <a:t>We included 180 922 patients with 649 931 normal sinus rhythm ECGs for analysis: 454 789 ECGs recorded from 126 526 patients in the training dataset, 64 340 ECGs from 18 116 patients in the internal validation dataset, and 130 802 ECGs from 36 280 patients in the testing dataset. 3051 (8·4%) patients in the testing dataset had verified atrial fibrillation before the normal sinus rhythm ECG tested by the model. A single AI-enabled ECG identified atrial fibrillation with an AUC of 0·87 (95% CI 0·86–0·88), sensitivity of 79·0% (77·5–80·4), specificity of 79·5% (79·0–79·9), F1 score of 39·2% (38·1–40·3), and overall accuracy of 79·4% (79·0–79·9).</a:t>
            </a:r>
          </a:p>
          <a:p>
            <a:endParaRPr lang="en-US" b="0" i="0" dirty="0">
              <a:solidFill>
                <a:srgbClr val="2E2E2E"/>
              </a:solidFill>
              <a:effectLst/>
              <a:latin typeface="Source Sans Pro" panose="020B0503030403020204" pitchFamily="34" charset="0"/>
            </a:endParaRPr>
          </a:p>
          <a:p>
            <a:r>
              <a:rPr lang="en-US" b="0" i="0" dirty="0">
                <a:solidFill>
                  <a:srgbClr val="2E2E2E"/>
                </a:solidFill>
                <a:effectLst/>
                <a:latin typeface="Source Sans Pro" panose="020B0503030403020204" pitchFamily="34" charset="0"/>
              </a:rPr>
              <a:t>1003 patients with a mean age of 74 years (SD 8·8) from 40 US states completed the study. Over a mean 22·3 days of continuous monitoring, atrial fibrillation was detected in six (1·6%) of 370 patients with low risk and 48 (7·6%) of 633 with high risk (odds ratio 4·98, 95% CI 2·11–11·75, p=0·0002). Compared with usual care, AI-guided screening was associated with increased detection of atrial fibrillation (high-risk group: 3·6% [95% CI 2·3–5·4] with usual care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10·6% [8·3–13·2] with AI-guided screening, p&lt;0·0001; low-risk group: 0·9%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2·4%, p=0·12) over a median follow-up of 9·9 months (IQR 7·1–11·0).</a:t>
            </a:r>
            <a:endParaRPr lang="en-CA" dirty="0"/>
          </a:p>
        </p:txBody>
      </p:sp>
      <p:sp>
        <p:nvSpPr>
          <p:cNvPr id="4" name="Slide Number Placeholder 3">
            <a:extLst>
              <a:ext uri="{FF2B5EF4-FFF2-40B4-BE49-F238E27FC236}">
                <a16:creationId xmlns:a16="http://schemas.microsoft.com/office/drawing/2014/main" id="{03CC09EF-82C1-BF9B-D291-0880CCA6DBE2}"/>
              </a:ext>
            </a:extLst>
          </p:cNvPr>
          <p:cNvSpPr>
            <a:spLocks noGrp="1"/>
          </p:cNvSpPr>
          <p:nvPr>
            <p:ph type="sldNum" sz="quarter" idx="5"/>
          </p:nvPr>
        </p:nvSpPr>
        <p:spPr/>
        <p:txBody>
          <a:bodyPr/>
          <a:lstStyle/>
          <a:p>
            <a:fld id="{CF08EDAB-49F7-4C8C-BD98-9CCDE175B7C3}" type="slidenum">
              <a:rPr lang="en-CA" smtClean="0"/>
              <a:t>28</a:t>
            </a:fld>
            <a:endParaRPr lang="en-CA"/>
          </a:p>
        </p:txBody>
      </p:sp>
    </p:spTree>
    <p:extLst>
      <p:ext uri="{BB962C8B-B14F-4D97-AF65-F5344CB8AC3E}">
        <p14:creationId xmlns:p14="http://schemas.microsoft.com/office/powerpoint/2010/main" val="2844630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CD2F-1FFE-7F2E-8678-9A072B6A5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43684-2725-3559-0A7A-6FB0E8EF6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BFCB6-3EA2-F4C8-6140-3A4C49098C93}"/>
              </a:ext>
            </a:extLst>
          </p:cNvPr>
          <p:cNvSpPr>
            <a:spLocks noGrp="1"/>
          </p:cNvSpPr>
          <p:nvPr>
            <p:ph type="body" idx="1"/>
          </p:nvPr>
        </p:nvSpPr>
        <p:spPr/>
        <p:txBody>
          <a:bodyPr/>
          <a:lstStyle/>
          <a:p>
            <a:r>
              <a:rPr lang="en-US" b="0" i="0" dirty="0">
                <a:solidFill>
                  <a:srgbClr val="2E2E2E"/>
                </a:solidFill>
                <a:effectLst/>
                <a:latin typeface="Source Sans Pro" panose="020B0503030403020204" pitchFamily="34" charset="0"/>
              </a:rPr>
              <a:t>We included 180 922 patients with 649 931 normal sinus rhythm ECGs for analysis: 454 789 ECGs recorded from 126 526 patients in the training dataset, 64 340 ECGs from 18 116 patients in the internal validation dataset, and 130 802 ECGs from 36 280 patients in the testing dataset. 3051 (8·4%) patients in the testing dataset had verified atrial fibrillation before the normal sinus rhythm ECG tested by the model. A single AI-enabled ECG identified atrial fibrillation with an AUC of 0·87 (95% CI 0·86–0·88), sensitivity of 79·0% (77·5–80·4), specificity of 79·5% (79·0–79·9), F1 score of 39·2% (38·1–40·3), and overall accuracy of 79·4% (79·0–79·9).</a:t>
            </a:r>
          </a:p>
          <a:p>
            <a:endParaRPr lang="en-US" b="0" i="0" dirty="0">
              <a:solidFill>
                <a:srgbClr val="2E2E2E"/>
              </a:solidFill>
              <a:effectLst/>
              <a:latin typeface="Source Sans Pro" panose="020B0503030403020204" pitchFamily="34" charset="0"/>
            </a:endParaRPr>
          </a:p>
          <a:p>
            <a:r>
              <a:rPr lang="en-US" b="0" i="0" dirty="0">
                <a:solidFill>
                  <a:srgbClr val="2E2E2E"/>
                </a:solidFill>
                <a:effectLst/>
                <a:latin typeface="Source Sans Pro" panose="020B0503030403020204" pitchFamily="34" charset="0"/>
              </a:rPr>
              <a:t>1003 patients with a mean age of 74 years (SD 8·8) from 40 US states completed the study. Over a mean 22·3 days of continuous monitoring, atrial fibrillation was detected in six (1·6%) of 370 patients with low risk and 48 (7·6%) of 633 with high risk (odds ratio 4·98, 95% CI 2·11–11·75, p=0·0002). Compared with usual care, AI-guided screening was associated with increased detection of atrial fibrillation (high-risk group: 3·6% [95% CI 2·3–5·4] with usual care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10·6% [8·3–13·2] with AI-guided screening, p&lt;0·0001; low-risk group: 0·9%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2·4%, p=0·12) over a median follow-up of 9·9 months (IQR 7·1–11·0).</a:t>
            </a:r>
            <a:endParaRPr lang="en-CA" dirty="0"/>
          </a:p>
        </p:txBody>
      </p:sp>
      <p:sp>
        <p:nvSpPr>
          <p:cNvPr id="4" name="Slide Number Placeholder 3">
            <a:extLst>
              <a:ext uri="{FF2B5EF4-FFF2-40B4-BE49-F238E27FC236}">
                <a16:creationId xmlns:a16="http://schemas.microsoft.com/office/drawing/2014/main" id="{5CD254EC-415D-AA75-7E82-F23BE4C17CFF}"/>
              </a:ext>
            </a:extLst>
          </p:cNvPr>
          <p:cNvSpPr>
            <a:spLocks noGrp="1"/>
          </p:cNvSpPr>
          <p:nvPr>
            <p:ph type="sldNum" sz="quarter" idx="5"/>
          </p:nvPr>
        </p:nvSpPr>
        <p:spPr/>
        <p:txBody>
          <a:bodyPr/>
          <a:lstStyle/>
          <a:p>
            <a:fld id="{CF08EDAB-49F7-4C8C-BD98-9CCDE175B7C3}" type="slidenum">
              <a:rPr lang="en-CA" smtClean="0"/>
              <a:t>29</a:t>
            </a:fld>
            <a:endParaRPr lang="en-CA"/>
          </a:p>
        </p:txBody>
      </p:sp>
    </p:spTree>
    <p:extLst>
      <p:ext uri="{BB962C8B-B14F-4D97-AF65-F5344CB8AC3E}">
        <p14:creationId xmlns:p14="http://schemas.microsoft.com/office/powerpoint/2010/main" val="1237552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12A80-FB92-3DB3-D80F-0C7EA65C0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7561F-4024-7241-8EEE-6957CD20E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7C760-67B9-D8C9-D301-9C9528B4E517}"/>
              </a:ext>
            </a:extLst>
          </p:cNvPr>
          <p:cNvSpPr>
            <a:spLocks noGrp="1"/>
          </p:cNvSpPr>
          <p:nvPr>
            <p:ph type="body" idx="1"/>
          </p:nvPr>
        </p:nvSpPr>
        <p:spPr/>
        <p:txBody>
          <a:bodyPr/>
          <a:lstStyle/>
          <a:p>
            <a:r>
              <a:rPr lang="en-US" b="0" i="0" dirty="0">
                <a:solidFill>
                  <a:srgbClr val="2E2E2E"/>
                </a:solidFill>
                <a:effectLst/>
                <a:latin typeface="Source Sans Pro" panose="020B0503030403020204" pitchFamily="34" charset="0"/>
              </a:rPr>
              <a:t>We included 180 922 patients with 649 931 normal sinus rhythm ECGs for analysis: 454 789 ECGs recorded from 126 526 patients in the training dataset, 64 340 ECGs from 18 116 patients in the internal validation dataset, and 130 802 ECGs from 36 280 patients in the testing dataset. 3051 (8·4%) patients in the testing dataset had verified atrial fibrillation before the normal sinus rhythm ECG tested by the model. A single AI-enabled ECG identified atrial fibrillation with an AUC of 0·87 (95% CI 0·86–0·88), sensitivity of 79·0% (77·5–80·4), specificity of 79·5% (79·0–79·9), F1 score of 39·2% (38·1–40·3), and overall accuracy of 79·4% (79·0–79·9).</a:t>
            </a:r>
          </a:p>
          <a:p>
            <a:endParaRPr lang="en-US" b="0" i="0" dirty="0">
              <a:solidFill>
                <a:srgbClr val="2E2E2E"/>
              </a:solidFill>
              <a:effectLst/>
              <a:latin typeface="Source Sans Pro" panose="020B0503030403020204" pitchFamily="34" charset="0"/>
            </a:endParaRPr>
          </a:p>
          <a:p>
            <a:r>
              <a:rPr lang="en-US" b="0" i="0" dirty="0">
                <a:solidFill>
                  <a:srgbClr val="2E2E2E"/>
                </a:solidFill>
                <a:effectLst/>
                <a:latin typeface="Source Sans Pro" panose="020B0503030403020204" pitchFamily="34" charset="0"/>
              </a:rPr>
              <a:t>1003 patients (adults underwent ECG at any Mayo clinic site, no </a:t>
            </a:r>
            <a:r>
              <a:rPr lang="en-US" b="0" i="0" dirty="0" err="1">
                <a:solidFill>
                  <a:srgbClr val="2E2E2E"/>
                </a:solidFill>
                <a:effectLst/>
                <a:latin typeface="Source Sans Pro" panose="020B0503030403020204" pitchFamily="34" charset="0"/>
              </a:rPr>
              <a:t>Afib</a:t>
            </a:r>
            <a:r>
              <a:rPr lang="en-US" b="0" i="0" dirty="0">
                <a:solidFill>
                  <a:srgbClr val="2E2E2E"/>
                </a:solidFill>
                <a:effectLst/>
                <a:latin typeface="Source Sans Pro" panose="020B0503030403020204" pitchFamily="34" charset="0"/>
              </a:rPr>
              <a:t>, elevated CV risk that would merit anticoagulation). with a mean age of 74 years (SD 8·8) from 40 US states completed the study. Over a mean 22·3 days of continuous monitoring, atrial fibrillation was detected in six (1·6%) of 370 patients with low risk and 48 (7·6%) of 633 with high risk (odds ratio 4·98, 95% CI 2·11–11·75, p=0·0002). Compared with usual care, AI-guided screening was associated with increased detection of atrial fibrillation (high-risk group: 3·6% [95% CI 2·3–5·4] with usual care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10·6% [8·3–13·2] with AI-guided screening, p&lt;0·0001; low-risk group: 0·9% </a:t>
            </a:r>
            <a:r>
              <a:rPr lang="en-US" b="0" i="1" dirty="0">
                <a:solidFill>
                  <a:srgbClr val="2E2E2E"/>
                </a:solidFill>
                <a:effectLst/>
                <a:latin typeface="Source Sans Pro" panose="020B0503030403020204" pitchFamily="34" charset="0"/>
              </a:rPr>
              <a:t>vs</a:t>
            </a:r>
            <a:r>
              <a:rPr lang="en-US" b="0" i="0" dirty="0">
                <a:solidFill>
                  <a:srgbClr val="2E2E2E"/>
                </a:solidFill>
                <a:effectLst/>
                <a:latin typeface="Source Sans Pro" panose="020B0503030403020204" pitchFamily="34" charset="0"/>
              </a:rPr>
              <a:t> 2·4%, p=0·12) over a median follow-up of 9·9 months (IQR 7·1–11·0).</a:t>
            </a:r>
          </a:p>
          <a:p>
            <a:r>
              <a:rPr lang="en-US" b="0" i="0" dirty="0">
                <a:solidFill>
                  <a:srgbClr val="2E2E2E"/>
                </a:solidFill>
                <a:effectLst/>
                <a:latin typeface="Source Sans Pro" panose="020B0503030403020204" pitchFamily="34" charset="0"/>
              </a:rPr>
              <a:t>-2/3 of patients flagged as high risk by algorithm</a:t>
            </a:r>
            <a:endParaRPr lang="en-CA" dirty="0"/>
          </a:p>
        </p:txBody>
      </p:sp>
      <p:sp>
        <p:nvSpPr>
          <p:cNvPr id="4" name="Slide Number Placeholder 3">
            <a:extLst>
              <a:ext uri="{FF2B5EF4-FFF2-40B4-BE49-F238E27FC236}">
                <a16:creationId xmlns:a16="http://schemas.microsoft.com/office/drawing/2014/main" id="{AE8A1276-8EAC-5B4D-4C7E-9B7EC05D1622}"/>
              </a:ext>
            </a:extLst>
          </p:cNvPr>
          <p:cNvSpPr>
            <a:spLocks noGrp="1"/>
          </p:cNvSpPr>
          <p:nvPr>
            <p:ph type="sldNum" sz="quarter" idx="5"/>
          </p:nvPr>
        </p:nvSpPr>
        <p:spPr/>
        <p:txBody>
          <a:bodyPr/>
          <a:lstStyle/>
          <a:p>
            <a:fld id="{CF08EDAB-49F7-4C8C-BD98-9CCDE175B7C3}" type="slidenum">
              <a:rPr lang="en-CA" smtClean="0"/>
              <a:t>30</a:t>
            </a:fld>
            <a:endParaRPr lang="en-CA"/>
          </a:p>
        </p:txBody>
      </p:sp>
    </p:spTree>
    <p:extLst>
      <p:ext uri="{BB962C8B-B14F-4D97-AF65-F5344CB8AC3E}">
        <p14:creationId xmlns:p14="http://schemas.microsoft.com/office/powerpoint/2010/main" val="4276434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Phase in</a:t>
            </a:r>
          </a:p>
          <a:p>
            <a:r>
              <a:rPr lang="en-CA" dirty="0"/>
              <a:t>Can be used anywhere in the hospital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264889-8991-4296-8D45-7A193D550ADA}"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8006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eee70c1d5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g2eee70c1d5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3" name="Google Shape;63;g2eee70c1d5d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1634619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D81B-99AA-01A0-9891-A82B4C340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749B1-B9B6-F825-1762-56EC049D4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83A0B-FC6C-F9F0-8735-53699C36F8B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440EB57-7FE4-A1A5-3B56-7921F8AD08F9}"/>
              </a:ext>
            </a:extLst>
          </p:cNvPr>
          <p:cNvSpPr>
            <a:spLocks noGrp="1"/>
          </p:cNvSpPr>
          <p:nvPr>
            <p:ph type="sldNum" sz="quarter" idx="5"/>
          </p:nvPr>
        </p:nvSpPr>
        <p:spPr/>
        <p:txBody>
          <a:bodyPr/>
          <a:lstStyle/>
          <a:p>
            <a:fld id="{CF08EDAB-49F7-4C8C-BD98-9CCDE175B7C3}" type="slidenum">
              <a:rPr lang="en-CA" smtClean="0"/>
              <a:t>38</a:t>
            </a:fld>
            <a:endParaRPr lang="en-CA"/>
          </a:p>
        </p:txBody>
      </p:sp>
    </p:spTree>
    <p:extLst>
      <p:ext uri="{BB962C8B-B14F-4D97-AF65-F5344CB8AC3E}">
        <p14:creationId xmlns:p14="http://schemas.microsoft.com/office/powerpoint/2010/main" val="2557474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AE5C0-BF47-A091-4CBB-08CE7B7A0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93D20-8C81-D4B6-FC8A-04A4014D3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C91D3-5FDB-77ED-134E-DADB031DE1B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5175744-9D77-9A98-BC98-A3A323213042}"/>
              </a:ext>
            </a:extLst>
          </p:cNvPr>
          <p:cNvSpPr>
            <a:spLocks noGrp="1"/>
          </p:cNvSpPr>
          <p:nvPr>
            <p:ph type="sldNum" sz="quarter" idx="5"/>
          </p:nvPr>
        </p:nvSpPr>
        <p:spPr/>
        <p:txBody>
          <a:bodyPr/>
          <a:lstStyle/>
          <a:p>
            <a:fld id="{CF08EDAB-49F7-4C8C-BD98-9CCDE175B7C3}" type="slidenum">
              <a:rPr lang="en-CA" smtClean="0"/>
              <a:t>39</a:t>
            </a:fld>
            <a:endParaRPr lang="en-CA"/>
          </a:p>
        </p:txBody>
      </p:sp>
    </p:spTree>
    <p:extLst>
      <p:ext uri="{BB962C8B-B14F-4D97-AF65-F5344CB8AC3E}">
        <p14:creationId xmlns:p14="http://schemas.microsoft.com/office/powerpoint/2010/main" val="1414440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D90FC-B881-96F2-6487-238AA5882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95485-8E3B-F645-4751-2749DE38A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00FE7-57DD-D033-B535-01040AEDF31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36B65C7-00B5-2E21-DCFC-D17EBD033DE0}"/>
              </a:ext>
            </a:extLst>
          </p:cNvPr>
          <p:cNvSpPr>
            <a:spLocks noGrp="1"/>
          </p:cNvSpPr>
          <p:nvPr>
            <p:ph type="sldNum" sz="quarter" idx="5"/>
          </p:nvPr>
        </p:nvSpPr>
        <p:spPr/>
        <p:txBody>
          <a:bodyPr/>
          <a:lstStyle/>
          <a:p>
            <a:fld id="{CF08EDAB-49F7-4C8C-BD98-9CCDE175B7C3}" type="slidenum">
              <a:rPr lang="en-CA" smtClean="0"/>
              <a:t>40</a:t>
            </a:fld>
            <a:endParaRPr lang="en-CA"/>
          </a:p>
        </p:txBody>
      </p:sp>
    </p:spTree>
    <p:extLst>
      <p:ext uri="{BB962C8B-B14F-4D97-AF65-F5344CB8AC3E}">
        <p14:creationId xmlns:p14="http://schemas.microsoft.com/office/powerpoint/2010/main" val="9001469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818B-8E61-57DB-EB19-4CA67D1BD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3A0E0-946E-2800-3C72-F93931620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E0357-3C94-9E48-4CC0-DB9CC96F145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68DE739-5EB5-B24B-E13C-8398699321F3}"/>
              </a:ext>
            </a:extLst>
          </p:cNvPr>
          <p:cNvSpPr>
            <a:spLocks noGrp="1"/>
          </p:cNvSpPr>
          <p:nvPr>
            <p:ph type="sldNum" sz="quarter" idx="5"/>
          </p:nvPr>
        </p:nvSpPr>
        <p:spPr/>
        <p:txBody>
          <a:bodyPr/>
          <a:lstStyle/>
          <a:p>
            <a:fld id="{CF08EDAB-49F7-4C8C-BD98-9CCDE175B7C3}" type="slidenum">
              <a:rPr lang="en-CA" smtClean="0"/>
              <a:t>41</a:t>
            </a:fld>
            <a:endParaRPr lang="en-CA"/>
          </a:p>
        </p:txBody>
      </p:sp>
    </p:spTree>
    <p:extLst>
      <p:ext uri="{BB962C8B-B14F-4D97-AF65-F5344CB8AC3E}">
        <p14:creationId xmlns:p14="http://schemas.microsoft.com/office/powerpoint/2010/main" val="3195430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https://aspe.hhs.gov/sites/default/files/documents/ee0475e44e27daef00155e95a24fd023/nhis-q1-2024-datapoint.pdf</a:t>
            </a:r>
          </a:p>
          <a:p>
            <a:r>
              <a:rPr lang="en-US" dirty="0">
                <a:hlinkClick r:id="rId3"/>
              </a:rPr>
              <a:t>Health at a Glance 2023 (EN)</a:t>
            </a:r>
            <a:endParaRPr lang="en-CA" dirty="0"/>
          </a:p>
          <a:p>
            <a:r>
              <a:rPr lang="en-US" dirty="0">
                <a:hlinkClick r:id="rId4"/>
              </a:rPr>
              <a:t>Trends in Use of Medical Imaging in US Health Care Systems and in Ontario, Canada, 2000-2016 | Radiology | JAMA | JAMA Network</a:t>
            </a:r>
            <a:endParaRPr lang="en-US" dirty="0"/>
          </a:p>
          <a:p>
            <a:r>
              <a:rPr lang="en-CA" dirty="0">
                <a:hlinkClick r:id="rId5"/>
              </a:rPr>
              <a:t>Untitled</a:t>
            </a:r>
            <a:endParaRPr lang="en-CA" dirty="0"/>
          </a:p>
          <a:p>
            <a:r>
              <a:rPr lang="en-CA" dirty="0"/>
              <a:t>https://hsrlce.utoronto.ca/wp-content/uploads/2015/03/Prevalence-and-Extent-of-Obstructive-Coronary-Artery-Disease-Among-Patients-Undergoing-Elective-Coronary-Catheterization-in-New-York-State-and-Ontario.pdf </a:t>
            </a:r>
          </a:p>
          <a:p>
            <a:endParaRPr lang="en-CA" dirty="0"/>
          </a:p>
        </p:txBody>
      </p:sp>
      <p:sp>
        <p:nvSpPr>
          <p:cNvPr id="4" name="Slide Number Placeholder 3"/>
          <p:cNvSpPr>
            <a:spLocks noGrp="1"/>
          </p:cNvSpPr>
          <p:nvPr>
            <p:ph type="sldNum" sz="quarter" idx="5"/>
          </p:nvPr>
        </p:nvSpPr>
        <p:spPr/>
        <p:txBody>
          <a:bodyPr/>
          <a:lstStyle/>
          <a:p>
            <a:fld id="{CF08EDAB-49F7-4C8C-BD98-9CCDE175B7C3}" type="slidenum">
              <a:rPr lang="en-CA" smtClean="0"/>
              <a:t>43</a:t>
            </a:fld>
            <a:endParaRPr lang="en-CA"/>
          </a:p>
        </p:txBody>
      </p:sp>
    </p:spTree>
    <p:extLst>
      <p:ext uri="{BB962C8B-B14F-4D97-AF65-F5344CB8AC3E}">
        <p14:creationId xmlns:p14="http://schemas.microsoft.com/office/powerpoint/2010/main" val="4161787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DD1BD-F09C-2796-3362-97374D748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96AD2-2FA0-EBE3-E54E-5677FBCD5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5FF24-5784-C161-5831-E3B3894D77BE}"/>
              </a:ext>
            </a:extLst>
          </p:cNvPr>
          <p:cNvSpPr>
            <a:spLocks noGrp="1"/>
          </p:cNvSpPr>
          <p:nvPr>
            <p:ph type="body" idx="1"/>
          </p:nvPr>
        </p:nvSpPr>
        <p:spPr/>
        <p:txBody>
          <a:bodyPr/>
          <a:lstStyle/>
          <a:p>
            <a:r>
              <a:rPr lang="en-CA" dirty="0"/>
              <a:t>https://aspe.hhs.gov/sites/default/files/documents/ee0475e44e27daef00155e95a24fd023/nhis-q1-2024-datapoint.pdf</a:t>
            </a:r>
          </a:p>
          <a:p>
            <a:r>
              <a:rPr lang="en-US" dirty="0">
                <a:hlinkClick r:id="rId3"/>
              </a:rPr>
              <a:t>Health at a Glance 2023 (EN)</a:t>
            </a:r>
            <a:endParaRPr lang="en-CA" dirty="0"/>
          </a:p>
          <a:p>
            <a:r>
              <a:rPr lang="en-US" dirty="0">
                <a:hlinkClick r:id="rId4"/>
              </a:rPr>
              <a:t>Trends in Use of Medical Imaging in US Health Care Systems and in Ontario, Canada, 2000-2016 | Radiology | JAMA | JAMA Network</a:t>
            </a:r>
            <a:endParaRPr lang="en-US" dirty="0"/>
          </a:p>
          <a:p>
            <a:r>
              <a:rPr lang="en-CA" dirty="0">
                <a:hlinkClick r:id="rId5"/>
              </a:rPr>
              <a:t>Untitled</a:t>
            </a:r>
            <a:endParaRPr lang="en-CA" dirty="0"/>
          </a:p>
          <a:p>
            <a:r>
              <a:rPr lang="en-CA" dirty="0"/>
              <a:t>https://hsrlce.utoronto.ca/wp-content/uploads/2015/03/Prevalence-and-Extent-of-Obstructive-Coronary-Artery-Disease-Among-Patients-Undergoing-Elective-Coronary-Catheterization-in-New-York-State-and-Ontario.pdf </a:t>
            </a:r>
          </a:p>
          <a:p>
            <a:endParaRPr lang="en-CA" dirty="0"/>
          </a:p>
        </p:txBody>
      </p:sp>
      <p:sp>
        <p:nvSpPr>
          <p:cNvPr id="4" name="Slide Number Placeholder 3">
            <a:extLst>
              <a:ext uri="{FF2B5EF4-FFF2-40B4-BE49-F238E27FC236}">
                <a16:creationId xmlns:a16="http://schemas.microsoft.com/office/drawing/2014/main" id="{25D73158-091C-DFE1-3072-4B33DE5EACF2}"/>
              </a:ext>
            </a:extLst>
          </p:cNvPr>
          <p:cNvSpPr>
            <a:spLocks noGrp="1"/>
          </p:cNvSpPr>
          <p:nvPr>
            <p:ph type="sldNum" sz="quarter" idx="5"/>
          </p:nvPr>
        </p:nvSpPr>
        <p:spPr/>
        <p:txBody>
          <a:bodyPr/>
          <a:lstStyle/>
          <a:p>
            <a:fld id="{CF08EDAB-49F7-4C8C-BD98-9CCDE175B7C3}" type="slidenum">
              <a:rPr lang="en-CA" smtClean="0"/>
              <a:t>44</a:t>
            </a:fld>
            <a:endParaRPr lang="en-CA"/>
          </a:p>
        </p:txBody>
      </p:sp>
    </p:spTree>
    <p:extLst>
      <p:ext uri="{BB962C8B-B14F-4D97-AF65-F5344CB8AC3E}">
        <p14:creationId xmlns:p14="http://schemas.microsoft.com/office/powerpoint/2010/main" val="3422471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58779-E6EB-4660-54BA-3E7E20F18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19495-D745-FBF8-AA9B-829C1D4A4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6817B-3301-9310-6D0F-7E429E13E13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387BFBB-3F75-6112-0F7F-260E87A9ED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A5D88-BC26-4EFA-A680-927F6A4ACCF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0449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A1177-89EC-7453-8DA4-92D0E183D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4F9A8-AFAB-BEA3-C107-6B04F60B4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D0E62E-C54A-3468-EFA1-F713500A57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GEMINI is among Canada’s largest hospital data and analytics networks, one of the largest in the world. </a:t>
            </a:r>
            <a:r>
              <a:rPr lang="en-US" dirty="0"/>
              <a:t>We collect electronic clinical data (extracted from hospital information systems) and administrative data from 30 hospitals across all regions </a:t>
            </a:r>
            <a:r>
              <a:rPr lang="en-US"/>
              <a:t>of Ontario,  </a:t>
            </a:r>
            <a:r>
              <a:rPr lang="en-US" dirty="0"/>
              <a:t>who care for about 60% of the province’s patients. The data are collected for all medical (</a:t>
            </a:r>
            <a:r>
              <a:rPr lang="en-US" dirty="0" err="1"/>
              <a:t>ie</a:t>
            </a:r>
            <a:r>
              <a:rPr lang="en-US" dirty="0"/>
              <a:t>. general medicine and medical specialties like cardiology, oncology, etc.) and intensive care admissions. GEMINI data currently contain more than 1.6 million hospitalizations. </a:t>
            </a:r>
          </a:p>
          <a:p>
            <a:endParaRPr lang="en-US" dirty="0"/>
          </a:p>
          <a:p>
            <a:r>
              <a:rPr lang="en-US" dirty="0"/>
              <a:t>The data are collected at St. Michael’s Hospital and made available to a large community of students and scientists in the HPC4Health data platform, a secure high-performance computing cloud based at SickKids. </a:t>
            </a:r>
            <a:endParaRPr lang="en-CA" dirty="0"/>
          </a:p>
        </p:txBody>
      </p:sp>
      <p:sp>
        <p:nvSpPr>
          <p:cNvPr id="4" name="Slide Number Placeholder 3">
            <a:extLst>
              <a:ext uri="{FF2B5EF4-FFF2-40B4-BE49-F238E27FC236}">
                <a16:creationId xmlns:a16="http://schemas.microsoft.com/office/drawing/2014/main" id="{355B0A04-81A9-64B2-2900-3DB6D6D06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856AF-7E09-413D-878D-63960F91FBB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7253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C1945-B100-224F-B75E-10254996E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9F772-C7AD-468D-B4D8-7FAA0DA56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63976-5F49-C1B4-D53D-C860082266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GEMINI is among Canada’s largest hospital data and analytics networks, one of the largest in the world. </a:t>
            </a:r>
            <a:r>
              <a:rPr lang="en-US" dirty="0"/>
              <a:t>We collect electronic clinical data (extracted from hospital information systems) and administrative data from 30 hospitals across all regions </a:t>
            </a:r>
            <a:r>
              <a:rPr lang="en-US"/>
              <a:t>of Ontario,  </a:t>
            </a:r>
            <a:r>
              <a:rPr lang="en-US" dirty="0"/>
              <a:t>who care for about 60% of the province’s patients. The data are collected for all medical (</a:t>
            </a:r>
            <a:r>
              <a:rPr lang="en-US" dirty="0" err="1"/>
              <a:t>ie</a:t>
            </a:r>
            <a:r>
              <a:rPr lang="en-US" dirty="0"/>
              <a:t>. general medicine and medical specialties like cardiology, oncology, etc.) and intensive care admissions. GEMINI data currently contain more than 1.6 million hospitalizations. </a:t>
            </a:r>
          </a:p>
          <a:p>
            <a:endParaRPr lang="en-US" dirty="0"/>
          </a:p>
          <a:p>
            <a:r>
              <a:rPr lang="en-US" dirty="0"/>
              <a:t>The data are collected at St. Michael’s Hospital and made available to a large community of students and scientists in the HPC4Health data platform, a secure high-performance computing cloud based at SickKids. </a:t>
            </a:r>
            <a:endParaRPr lang="en-CA" dirty="0"/>
          </a:p>
        </p:txBody>
      </p:sp>
      <p:sp>
        <p:nvSpPr>
          <p:cNvPr id="4" name="Slide Number Placeholder 3">
            <a:extLst>
              <a:ext uri="{FF2B5EF4-FFF2-40B4-BE49-F238E27FC236}">
                <a16:creationId xmlns:a16="http://schemas.microsoft.com/office/drawing/2014/main" id="{38AC8B7C-FEEB-9BEC-9504-056F0A9DA1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856AF-7E09-413D-878D-63960F91FBB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7397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F6A1-845A-28C7-D4BD-10777AE0B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9BE1-BB92-1F63-CE5A-8C9D1DC6E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BA188-6FC6-FBDF-6FA7-5C497C7213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GEMINI is among Canada’s largest hospital data and analytics networks, one of the largest in the world. </a:t>
            </a:r>
            <a:r>
              <a:rPr lang="en-US" dirty="0"/>
              <a:t>We collect electronic clinical data (extracted from hospital information systems) and administrative data from 30 hospitals across all regions </a:t>
            </a:r>
            <a:r>
              <a:rPr lang="en-US"/>
              <a:t>of Ontario,  </a:t>
            </a:r>
            <a:r>
              <a:rPr lang="en-US" dirty="0"/>
              <a:t>who care for about 60% of the province’s patients. The data are collected for all medical (</a:t>
            </a:r>
            <a:r>
              <a:rPr lang="en-US" dirty="0" err="1"/>
              <a:t>ie</a:t>
            </a:r>
            <a:r>
              <a:rPr lang="en-US" dirty="0"/>
              <a:t>. general medicine and medical specialties like cardiology, oncology, etc.) and intensive care admissions. GEMINI data currently contain more than 1.6 million hospitalizations. </a:t>
            </a:r>
          </a:p>
          <a:p>
            <a:endParaRPr lang="en-US" dirty="0"/>
          </a:p>
          <a:p>
            <a:r>
              <a:rPr lang="en-US" dirty="0"/>
              <a:t>The data are collected at St. Michael’s Hospital and made available to a large community of students and scientists in the HPC4Health data platform, a secure high-performance computing cloud based at SickKids. </a:t>
            </a:r>
            <a:endParaRPr lang="en-CA" dirty="0"/>
          </a:p>
        </p:txBody>
      </p:sp>
      <p:sp>
        <p:nvSpPr>
          <p:cNvPr id="4" name="Slide Number Placeholder 3">
            <a:extLst>
              <a:ext uri="{FF2B5EF4-FFF2-40B4-BE49-F238E27FC236}">
                <a16:creationId xmlns:a16="http://schemas.microsoft.com/office/drawing/2014/main" id="{E7CB9DAA-1F39-FCC5-E3FB-F2C955154E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856AF-7E09-413D-878D-63960F91FBB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9216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C7BE-C0AA-7719-A570-3D0B4F7C4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43D6E-BF59-FCCA-631C-889AD77D4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AFCDA-EA09-9F8F-2602-31995CA5D1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GEMINI is among Canada’s largest hospital data and analytics networks, one of the largest in the world. </a:t>
            </a:r>
            <a:r>
              <a:rPr lang="en-US" dirty="0"/>
              <a:t>We collect electronic clinical data (extracted from hospital information systems) and administrative data from 30 hospitals across all regions </a:t>
            </a:r>
            <a:r>
              <a:rPr lang="en-US"/>
              <a:t>of Ontario,  </a:t>
            </a:r>
            <a:r>
              <a:rPr lang="en-US" dirty="0"/>
              <a:t>who care for about 60% of the province’s patients. The data are collected for all medical (</a:t>
            </a:r>
            <a:r>
              <a:rPr lang="en-US" dirty="0" err="1"/>
              <a:t>ie</a:t>
            </a:r>
            <a:r>
              <a:rPr lang="en-US" dirty="0"/>
              <a:t>. general medicine and medical specialties like cardiology, oncology, etc.) and intensive care admissions. GEMINI data currently contain more than 1.6 million hospitalizations. </a:t>
            </a:r>
          </a:p>
          <a:p>
            <a:endParaRPr lang="en-US" dirty="0"/>
          </a:p>
          <a:p>
            <a:r>
              <a:rPr lang="en-US" dirty="0"/>
              <a:t>The data are collected at St. Michael’s Hospital and made available to a large community of students and scientists in the HPC4Health data platform, a secure high-performance computing cloud based at SickKids. </a:t>
            </a:r>
            <a:endParaRPr lang="en-CA" dirty="0"/>
          </a:p>
        </p:txBody>
      </p:sp>
      <p:sp>
        <p:nvSpPr>
          <p:cNvPr id="4" name="Slide Number Placeholder 3">
            <a:extLst>
              <a:ext uri="{FF2B5EF4-FFF2-40B4-BE49-F238E27FC236}">
                <a16:creationId xmlns:a16="http://schemas.microsoft.com/office/drawing/2014/main" id="{53ED270B-4DE2-25CE-8C80-5E4470525C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856AF-7E09-413D-878D-63960F91FBB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0081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4BFB9-DCA7-58BD-F4C7-A5DA769CA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ACB31-D533-7387-306A-8EB970BF2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D7D48-C35E-C6ED-A1B4-F0AC3451A8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GEMINI is among Canada’s largest hospital data and analytics networks, one of the largest in the world. </a:t>
            </a:r>
            <a:r>
              <a:rPr lang="en-US" dirty="0"/>
              <a:t>We collect electronic clinical data (extracted from hospital information systems) and administrative data from 30 hospitals across all regions </a:t>
            </a:r>
            <a:r>
              <a:rPr lang="en-US"/>
              <a:t>of Ontario,  </a:t>
            </a:r>
            <a:r>
              <a:rPr lang="en-US" dirty="0"/>
              <a:t>who care for about 60% of the province’s patients. The data are collected for all medical (</a:t>
            </a:r>
            <a:r>
              <a:rPr lang="en-US" dirty="0" err="1"/>
              <a:t>ie</a:t>
            </a:r>
            <a:r>
              <a:rPr lang="en-US" dirty="0"/>
              <a:t>. general medicine and medical specialties like cardiology, oncology, etc.) and intensive care admissions. GEMINI data currently contain more than 1.6 million hospitalizations. </a:t>
            </a:r>
          </a:p>
          <a:p>
            <a:endParaRPr lang="en-US" dirty="0"/>
          </a:p>
          <a:p>
            <a:r>
              <a:rPr lang="en-US" dirty="0"/>
              <a:t>The data are collected at St. Michael’s Hospital and made available to a large community of students and scientists in the HPC4Health data platform, a secure high-performance computing cloud based at SickKids. </a:t>
            </a:r>
            <a:endParaRPr lang="en-CA" dirty="0"/>
          </a:p>
        </p:txBody>
      </p:sp>
      <p:sp>
        <p:nvSpPr>
          <p:cNvPr id="4" name="Slide Number Placeholder 3">
            <a:extLst>
              <a:ext uri="{FF2B5EF4-FFF2-40B4-BE49-F238E27FC236}">
                <a16:creationId xmlns:a16="http://schemas.microsoft.com/office/drawing/2014/main" id="{8A9F4C90-935B-73EB-1386-196C3C0CFD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856AF-7E09-413D-878D-63960F91FBB0}"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9580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A5D88-BC26-4EFA-A680-927F6A4ACCF4}"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1021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D4A4-BA0A-4871-5B50-1A1D7DB11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17643-5DE1-8954-E920-3294B103B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B83EC-F6FB-BC56-8272-FE7E8AC748F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E94D26C-8F6B-EAAF-C25E-8A37311B00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A5D88-BC26-4EFA-A680-927F6A4ACCF4}"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8203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43819-CB4D-49ED-840D-036CD04DAC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07C3BF2-D169-4BFF-A666-4406E4922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AC3C82C-A9BC-4320-8064-793D8DAECBCF}"/>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5" name="Footer Placeholder 4">
            <a:extLst>
              <a:ext uri="{FF2B5EF4-FFF2-40B4-BE49-F238E27FC236}">
                <a16:creationId xmlns:a16="http://schemas.microsoft.com/office/drawing/2014/main" id="{10FA8D2A-12EC-4F9A-A027-4803A049B30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3B54A77-79FA-498D-8D3B-AABEBF68EB12}"/>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3666122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3876-7C50-4522-BBA4-10F32566EC9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539282C-69A8-4104-854E-9D448B4A84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2CB624E-2CBB-4468-9AE6-60CFEA24D5AE}"/>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5" name="Footer Placeholder 4">
            <a:extLst>
              <a:ext uri="{FF2B5EF4-FFF2-40B4-BE49-F238E27FC236}">
                <a16:creationId xmlns:a16="http://schemas.microsoft.com/office/drawing/2014/main" id="{139B3E74-630B-4C88-96C2-416A47F81E2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C1CA49D-AC4C-4EC7-8AF7-CD0F162B9B29}"/>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349466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B2FB8-9072-4A10-9D0A-DA9CCD037F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8079A14-979B-402E-AF6F-A0BF17AA61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597F50-CFC6-43F1-98B2-620733D1AFCD}"/>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5" name="Footer Placeholder 4">
            <a:extLst>
              <a:ext uri="{FF2B5EF4-FFF2-40B4-BE49-F238E27FC236}">
                <a16:creationId xmlns:a16="http://schemas.microsoft.com/office/drawing/2014/main" id="{F94F3180-1D63-45D8-BF71-563DEB0C1C2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458706E-0A8B-4663-AC4C-B78DDEB96341}"/>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429466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3D32F-F037-46CD-99BD-441B88569B1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5636767-7DFB-4AE6-A226-D93C8D296B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B232989C-9EB2-445A-85A3-4C718077C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38252F0-0159-4B3B-A8BD-F0BF7F01D3BB}"/>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6" name="Footer Placeholder 5">
            <a:extLst>
              <a:ext uri="{FF2B5EF4-FFF2-40B4-BE49-F238E27FC236}">
                <a16:creationId xmlns:a16="http://schemas.microsoft.com/office/drawing/2014/main" id="{195680F4-AA91-49AF-9BD4-6715485F3AF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E2099ED-2E51-4AF4-8FC7-14424E0C8792}"/>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1437357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0F32-23B3-42A2-993D-ED7E952105B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0582B78-E695-425A-9405-3CBEE44AD6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BE84D0-0A0F-4E4C-8A9C-8B486E87C6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34A8195-D587-46FF-A6C0-FA2880C396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1A0D76-20E3-4151-9BBE-4FFC9759AE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23355A83-9052-4464-A0CA-1BFD16804A85}"/>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8" name="Footer Placeholder 7">
            <a:extLst>
              <a:ext uri="{FF2B5EF4-FFF2-40B4-BE49-F238E27FC236}">
                <a16:creationId xmlns:a16="http://schemas.microsoft.com/office/drawing/2014/main" id="{9730F21B-1798-49B6-80B5-833E2609539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27F6EDD-18CC-47DB-A0A1-15FF98BDBF54}"/>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1223793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273C8-2526-4761-955E-854DA6A3C114}"/>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275B93E-9D53-40ED-9276-7D5A0F896AB0}"/>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4" name="Footer Placeholder 3">
            <a:extLst>
              <a:ext uri="{FF2B5EF4-FFF2-40B4-BE49-F238E27FC236}">
                <a16:creationId xmlns:a16="http://schemas.microsoft.com/office/drawing/2014/main" id="{50EE1F78-3B5C-4E75-92E8-1D037D289B2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7140E953-5939-40F9-9BB5-9D3EEBB92D69}"/>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543815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024F6F-A43F-45BB-AF16-0BEC148E54BE}"/>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3" name="Footer Placeholder 2">
            <a:extLst>
              <a:ext uri="{FF2B5EF4-FFF2-40B4-BE49-F238E27FC236}">
                <a16:creationId xmlns:a16="http://schemas.microsoft.com/office/drawing/2014/main" id="{A92F16B8-A4FB-4602-B6B8-368A3360779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BE248A0-7090-4783-96B0-A57084D56BD6}"/>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1569137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E9BF-EB61-4FED-9650-2778311C8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147F4CD-0523-43EC-AEEA-96A2B3DE98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7468CAC-CE1B-4861-84D6-028CB052F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CEF22C-40A6-4A0A-8301-A791F5A18A41}"/>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6" name="Footer Placeholder 5">
            <a:extLst>
              <a:ext uri="{FF2B5EF4-FFF2-40B4-BE49-F238E27FC236}">
                <a16:creationId xmlns:a16="http://schemas.microsoft.com/office/drawing/2014/main" id="{2EB48A63-493B-40A2-829E-CDD4AAA6A75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59ACF69-DDA2-44FE-A8F7-F063D0C47974}"/>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972279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4D437-5324-4027-AA1B-7D7382E15A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BCCBD86-BD2C-498E-8174-0A6EA66F0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AB920CA6-8FC9-4E65-AFD1-0506A4EB61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7130CA-DDD5-4F58-9FA4-7C4BDB309C80}"/>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6" name="Footer Placeholder 5">
            <a:extLst>
              <a:ext uri="{FF2B5EF4-FFF2-40B4-BE49-F238E27FC236}">
                <a16:creationId xmlns:a16="http://schemas.microsoft.com/office/drawing/2014/main" id="{977341C7-3670-40CC-B116-24DA1550782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1D7E841-15A0-48DF-A8BC-AF321EEC9C3B}"/>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3257990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14F3-DA14-41B6-B752-EB93BAFFF359}"/>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6A50903-E5C3-4F02-99A8-4428CD5B78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B4619BD-94E6-4697-8234-25449DC3FF01}"/>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5" name="Footer Placeholder 4">
            <a:extLst>
              <a:ext uri="{FF2B5EF4-FFF2-40B4-BE49-F238E27FC236}">
                <a16:creationId xmlns:a16="http://schemas.microsoft.com/office/drawing/2014/main" id="{ED32F6A6-72FC-402B-9C28-6D9C2A4AA61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0D68000-6F6F-43DD-8E1C-B192C3C38D37}"/>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275554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005287-6FF0-40C6-8886-036CE17DE4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FFA32D6-AA0A-4FAD-AEA8-E1A61B122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0E07D9B-A9B3-4E43-9724-B1201653C1AE}"/>
              </a:ext>
            </a:extLst>
          </p:cNvPr>
          <p:cNvSpPr>
            <a:spLocks noGrp="1"/>
          </p:cNvSpPr>
          <p:nvPr>
            <p:ph type="dt" sz="half" idx="10"/>
          </p:nvPr>
        </p:nvSpPr>
        <p:spPr/>
        <p:txBody>
          <a:bodyPr/>
          <a:lstStyle/>
          <a:p>
            <a:fld id="{0170905B-DA29-4730-AC86-649455613FE8}" type="datetimeFigureOut">
              <a:rPr lang="en-CA" smtClean="0"/>
              <a:t>2026-02-11</a:t>
            </a:fld>
            <a:endParaRPr lang="en-CA"/>
          </a:p>
        </p:txBody>
      </p:sp>
      <p:sp>
        <p:nvSpPr>
          <p:cNvPr id="5" name="Footer Placeholder 4">
            <a:extLst>
              <a:ext uri="{FF2B5EF4-FFF2-40B4-BE49-F238E27FC236}">
                <a16:creationId xmlns:a16="http://schemas.microsoft.com/office/drawing/2014/main" id="{6286D74F-3AA1-4BE3-9606-1A11E883F2D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9F0CDEF-54D9-4032-86F2-12D1CAF9A89B}"/>
              </a:ext>
            </a:extLst>
          </p:cNvPr>
          <p:cNvSpPr>
            <a:spLocks noGrp="1"/>
          </p:cNvSpPr>
          <p:nvPr>
            <p:ph type="sldNum" sz="quarter" idx="12"/>
          </p:nvPr>
        </p:nvSpPr>
        <p:spPr/>
        <p:txBody>
          <a:bodyPr/>
          <a:lstStyle/>
          <a:p>
            <a:fld id="{F72E2337-FEDC-4FB7-877B-4637CA19A9F0}" type="slidenum">
              <a:rPr lang="en-CA" smtClean="0"/>
              <a:t>‹#›</a:t>
            </a:fld>
            <a:endParaRPr lang="en-CA"/>
          </a:p>
        </p:txBody>
      </p:sp>
    </p:spTree>
    <p:extLst>
      <p:ext uri="{BB962C8B-B14F-4D97-AF65-F5344CB8AC3E}">
        <p14:creationId xmlns:p14="http://schemas.microsoft.com/office/powerpoint/2010/main" val="2274195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lai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39B220-3ACD-417A-A277-ED0BABC3D348}"/>
              </a:ext>
            </a:extLst>
          </p:cNvPr>
          <p:cNvSpPr/>
          <p:nvPr userDrawn="1"/>
        </p:nvSpPr>
        <p:spPr bwMode="auto">
          <a:xfrm>
            <a:off x="5" y="0"/>
            <a:ext cx="565265" cy="1809296"/>
          </a:xfrm>
          <a:prstGeom prst="rect">
            <a:avLst/>
          </a:prstGeom>
          <a:gradFill>
            <a:gsLst>
              <a:gs pos="100000">
                <a:schemeClr val="bg1"/>
              </a:gs>
              <a:gs pos="0">
                <a:srgbClr val="92278F"/>
              </a:gs>
            </a:gsLst>
            <a:lin ang="5400000" scaled="1"/>
          </a:gradFill>
          <a:ln w="9525" cap="flat" cmpd="sng" algn="ctr">
            <a:noFill/>
            <a:prstDash val="solid"/>
            <a:round/>
            <a:headEnd type="none" w="med" len="med"/>
            <a:tailEnd type="none" w="med" len="med"/>
          </a:ln>
          <a:effectLst/>
        </p:spPr>
        <p:txBody>
          <a:bodyPr rot="0" spcFirstLastPara="0" vertOverflow="overflow" horzOverflow="overflow" vert="horz" wrap="square" lIns="121920" tIns="60960" rIns="121920" bIns="60960" numCol="1" spcCol="0" rtlCol="0" fromWordArt="0" anchor="t" anchorCtr="0" forceAA="0" compatLnSpc="1">
            <a:prstTxWarp prst="textNoShape">
              <a:avLst/>
            </a:prstTxWarp>
            <a:noAutofit/>
          </a:bodyPr>
          <a:lstStyle/>
          <a:p>
            <a:pPr marL="0" marR="0" indent="0" algn="l" defTabSz="609585" rtl="0" eaLnBrk="1" fontAlgn="base" latinLnBrk="0" hangingPunct="1">
              <a:lnSpc>
                <a:spcPct val="100000"/>
              </a:lnSpc>
              <a:spcBef>
                <a:spcPct val="50000"/>
              </a:spcBef>
              <a:spcAft>
                <a:spcPct val="0"/>
              </a:spcAft>
              <a:buClrTx/>
              <a:buSzTx/>
              <a:buFontTx/>
              <a:buNone/>
              <a:tabLst/>
            </a:pPr>
            <a:endParaRPr kumimoji="0" lang="en-US" sz="1867" b="0" i="0" u="sng" strike="noStrike" cap="none" normalizeH="0" baseline="0">
              <a:ln>
                <a:noFill/>
              </a:ln>
              <a:solidFill>
                <a:schemeClr val="tx1"/>
              </a:solidFill>
              <a:effectLst/>
              <a:latin typeface="Arial" charset="0"/>
              <a:ea typeface="ＭＳ Ｐゴシック" pitchFamily="68" charset="-128"/>
            </a:endParaRPr>
          </a:p>
        </p:txBody>
      </p:sp>
      <p:pic>
        <p:nvPicPr>
          <p:cNvPr id="4" name="Picture 3" descr="Ontario Health logo">
            <a:extLst>
              <a:ext uri="{FF2B5EF4-FFF2-40B4-BE49-F238E27FC236}">
                <a16:creationId xmlns:a16="http://schemas.microsoft.com/office/drawing/2014/main" id="{F1D1804F-62D7-40D8-A044-1EE428B8A5E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613783" y="5819397"/>
            <a:ext cx="2134111" cy="691560"/>
          </a:xfrm>
          <a:prstGeom prst="rect">
            <a:avLst/>
          </a:prstGeom>
        </p:spPr>
      </p:pic>
      <p:sp>
        <p:nvSpPr>
          <p:cNvPr id="5" name="Rectangle 4">
            <a:extLst>
              <a:ext uri="{FF2B5EF4-FFF2-40B4-BE49-F238E27FC236}">
                <a16:creationId xmlns:a16="http://schemas.microsoft.com/office/drawing/2014/main" id="{B4D06F2E-1418-4481-BA27-7E36F4C8E124}"/>
              </a:ext>
            </a:extLst>
          </p:cNvPr>
          <p:cNvSpPr/>
          <p:nvPr userDrawn="1"/>
        </p:nvSpPr>
        <p:spPr bwMode="auto">
          <a:xfrm>
            <a:off x="5" y="1"/>
            <a:ext cx="565265" cy="3101651"/>
          </a:xfrm>
          <a:prstGeom prst="rect">
            <a:avLst/>
          </a:prstGeom>
          <a:gradFill>
            <a:gsLst>
              <a:gs pos="100000">
                <a:schemeClr val="bg1"/>
              </a:gs>
              <a:gs pos="0">
                <a:srgbClr val="00B2E3"/>
              </a:gs>
            </a:gsLst>
            <a:lin ang="5400000" scaled="1"/>
          </a:gradFill>
          <a:ln w="9525" cap="flat" cmpd="sng" algn="ctr">
            <a:noFill/>
            <a:prstDash val="solid"/>
            <a:round/>
            <a:headEnd type="none" w="med" len="med"/>
            <a:tailEnd type="none" w="med" len="med"/>
          </a:ln>
          <a:effectLst/>
        </p:spPr>
        <p:txBody>
          <a:bodyPr rot="0" spcFirstLastPara="0" vertOverflow="overflow" horzOverflow="overflow" vert="horz" wrap="square" lIns="121920" tIns="60960" rIns="121920" bIns="60960" numCol="1" spcCol="0" rtlCol="0" fromWordArt="0" anchor="t" anchorCtr="0" forceAA="0" compatLnSpc="1">
            <a:prstTxWarp prst="textNoShape">
              <a:avLst/>
            </a:prstTxWarp>
            <a:noAutofit/>
          </a:bodyPr>
          <a:lstStyle/>
          <a:p>
            <a:pPr marL="0" marR="0" indent="0" algn="l" defTabSz="609585" rtl="0" eaLnBrk="1" fontAlgn="base" latinLnBrk="0" hangingPunct="1">
              <a:lnSpc>
                <a:spcPct val="100000"/>
              </a:lnSpc>
              <a:spcBef>
                <a:spcPct val="50000"/>
              </a:spcBef>
              <a:spcAft>
                <a:spcPct val="0"/>
              </a:spcAft>
              <a:buClrTx/>
              <a:buSzTx/>
              <a:buFontTx/>
              <a:buNone/>
              <a:tabLst/>
            </a:pPr>
            <a:endParaRPr kumimoji="0" lang="en-US" sz="1867" b="0" i="0" u="sng" strike="noStrike" cap="none" normalizeH="0" baseline="0">
              <a:ln>
                <a:noFill/>
              </a:ln>
              <a:solidFill>
                <a:schemeClr val="tx1"/>
              </a:solidFill>
              <a:effectLst/>
              <a:latin typeface="Arial" charset="0"/>
              <a:ea typeface="ＭＳ Ｐゴシック" pitchFamily="68" charset="-128"/>
            </a:endParaRPr>
          </a:p>
        </p:txBody>
      </p:sp>
    </p:spTree>
    <p:extLst>
      <p:ext uri="{BB962C8B-B14F-4D97-AF65-F5344CB8AC3E}">
        <p14:creationId xmlns:p14="http://schemas.microsoft.com/office/powerpoint/2010/main" val="34651506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27383" y="320676"/>
            <a:ext cx="10930136" cy="948085"/>
          </a:xfrm>
        </p:spPr>
        <p:txBody>
          <a:bodyPr/>
          <a:lstStyle>
            <a:lvl1pPr>
              <a:defRPr>
                <a:solidFill>
                  <a:srgbClr val="1A2036"/>
                </a:solidFill>
              </a:defRPr>
            </a:lvl1pPr>
          </a:lstStyle>
          <a:p>
            <a:r>
              <a:rPr lang="en-US"/>
              <a:t>Click to edit Master title style</a:t>
            </a:r>
            <a:endParaRPr lang="en-US" dirty="0"/>
          </a:p>
        </p:txBody>
      </p:sp>
      <p:sp>
        <p:nvSpPr>
          <p:cNvPr id="5" name="Slide Number Placeholder 4"/>
          <p:cNvSpPr>
            <a:spLocks noGrp="1"/>
          </p:cNvSpPr>
          <p:nvPr>
            <p:ph type="sldNum" sz="quarter" idx="12"/>
          </p:nvPr>
        </p:nvSpPr>
        <p:spPr>
          <a:xfrm>
            <a:off x="11568609" y="6525344"/>
            <a:ext cx="486833" cy="182562"/>
          </a:xfrm>
        </p:spPr>
        <p:txBody>
          <a:bodyPr/>
          <a:lstStyle/>
          <a:p>
            <a:fld id="{F172C9B4-EF56-423B-9785-B29056342917}" type="slidenum">
              <a:rPr lang="en-US" smtClean="0"/>
              <a:pPr/>
              <a:t>‹#›</a:t>
            </a:fld>
            <a:endParaRPr lang="en-US" dirty="0"/>
          </a:p>
        </p:txBody>
      </p:sp>
      <p:sp>
        <p:nvSpPr>
          <p:cNvPr id="8" name="Text Placeholder 7"/>
          <p:cNvSpPr>
            <a:spLocks noGrp="1"/>
          </p:cNvSpPr>
          <p:nvPr>
            <p:ph type="body" sz="quarter" idx="13"/>
          </p:nvPr>
        </p:nvSpPr>
        <p:spPr>
          <a:xfrm>
            <a:off x="527381" y="1700808"/>
            <a:ext cx="11040203" cy="4104680"/>
          </a:xfrm>
        </p:spPr>
        <p:txBody>
          <a:bodyPr/>
          <a:lstStyle>
            <a:lvl1pPr>
              <a:defRPr>
                <a:solidFill>
                  <a:srgbClr val="1A2036"/>
                </a:solidFill>
                <a:latin typeface="Arial"/>
                <a:cs typeface="Arial"/>
              </a:defRPr>
            </a:lvl1pPr>
            <a:lvl2pPr>
              <a:defRPr>
                <a:solidFill>
                  <a:srgbClr val="1A2036"/>
                </a:solidFill>
                <a:latin typeface="Arial"/>
                <a:cs typeface="Arial"/>
              </a:defRPr>
            </a:lvl2pPr>
            <a:lvl3pPr>
              <a:defRPr>
                <a:solidFill>
                  <a:srgbClr val="1A2036"/>
                </a:solidFill>
                <a:latin typeface="Arial"/>
                <a:cs typeface="Arial"/>
              </a:defRPr>
            </a:lvl3pPr>
            <a:lvl4pPr>
              <a:defRPr>
                <a:solidFill>
                  <a:srgbClr val="1A2036"/>
                </a:solidFill>
                <a:latin typeface="Arial"/>
                <a:cs typeface="Arial"/>
              </a:defRPr>
            </a:lvl4pPr>
            <a:lvl5pPr>
              <a:defRPr>
                <a:solidFill>
                  <a:srgbClr val="1A2036"/>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8281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c_ContentGEMINI">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3"/>
            <a:ext cx="2743200" cy="365125"/>
          </a:xfrm>
        </p:spPr>
        <p:txBody>
          <a:bodyPr/>
          <a:lstStyle/>
          <a:p>
            <a:fld id="{4DB75E45-E9BE-9D4C-BF33-13103520381B}"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606F41-20F3-7F42-8B27-3B37AD6D179A}" type="slidenum">
              <a:rPr lang="en-US" smtClean="0"/>
              <a:t>‹#›</a:t>
            </a:fld>
            <a:endParaRPr lang="en-US"/>
          </a:p>
        </p:txBody>
      </p:sp>
      <p:sp>
        <p:nvSpPr>
          <p:cNvPr id="12" name="Title Placeholder 1"/>
          <p:cNvSpPr>
            <a:spLocks noGrp="1"/>
          </p:cNvSpPr>
          <p:nvPr>
            <p:ph type="title" hasCustomPrompt="1"/>
          </p:nvPr>
        </p:nvSpPr>
        <p:spPr>
          <a:xfrm>
            <a:off x="838199" y="819879"/>
            <a:ext cx="10515600" cy="769069"/>
          </a:xfrm>
          <a:prstGeom prst="rect">
            <a:avLst/>
          </a:prstGeom>
        </p:spPr>
        <p:txBody>
          <a:bodyPr vert="horz" lIns="91440" tIns="45720" rIns="91440" bIns="45720" rtlCol="0" anchor="ctr">
            <a:normAutofit/>
          </a:bodyPr>
          <a:lstStyle>
            <a:lvl1pPr>
              <a:defRPr baseline="0"/>
            </a:lvl1pPr>
          </a:lstStyle>
          <a:p>
            <a:r>
              <a:rPr lang="en-US" dirty="0"/>
              <a:t>Add Content</a:t>
            </a: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15504" y="209370"/>
            <a:ext cx="1938295" cy="552138"/>
          </a:xfrm>
          <a:prstGeom prst="rect">
            <a:avLst/>
          </a:prstGeom>
        </p:spPr>
      </p:pic>
      <p:sp>
        <p:nvSpPr>
          <p:cNvPr id="18" name="Content Placeholder 17"/>
          <p:cNvSpPr>
            <a:spLocks noGrp="1"/>
          </p:cNvSpPr>
          <p:nvPr>
            <p:ph sz="quarter" idx="13"/>
          </p:nvPr>
        </p:nvSpPr>
        <p:spPr>
          <a:xfrm>
            <a:off x="838199" y="1647319"/>
            <a:ext cx="10515601" cy="45169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6614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wo columns, Text + Phot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7CD7201-C13C-62AF-0BC8-490EB7611CC5}"/>
              </a:ext>
              <a:ext uri="{C183D7F6-B498-43B3-948B-1728B52AA6E4}">
                <adec:decorative xmlns:adec="http://schemas.microsoft.com/office/drawing/2017/decorative" val="1"/>
              </a:ext>
            </a:extLst>
          </p:cNvPr>
          <p:cNvSpPr/>
          <p:nvPr/>
        </p:nvSpPr>
        <p:spPr bwMode="auto">
          <a:xfrm>
            <a:off x="559697" y="1181100"/>
            <a:ext cx="914400" cy="118872"/>
          </a:xfrm>
          <a:prstGeom prst="rect">
            <a:avLst/>
          </a:prstGeom>
          <a:solidFill>
            <a:srgbClr val="FCAF17"/>
          </a:solidFill>
          <a:ln w="9525" cap="flat" cmpd="sng" algn="ctr">
            <a:noFill/>
            <a:prstDash val="solid"/>
            <a:round/>
            <a:headEnd type="none" w="med" len="med"/>
            <a:tailEnd type="none" w="med" len="med"/>
          </a:ln>
          <a:effectLst/>
        </p:spPr>
        <p:txBody>
          <a:bodyPr vert="horz" wrap="square" lIns="121888" tIns="60944" rIns="121888" bIns="60944" numCol="1" rtlCol="0" anchor="t" anchorCtr="0" compatLnSpc="1">
            <a:prstTxWarp prst="textNoShape">
              <a:avLst/>
            </a:prstTxWarp>
            <a:spAutoFit/>
          </a:bodyPr>
          <a:lstStyle/>
          <a:p>
            <a:pPr defTabSz="609448">
              <a:spcBef>
                <a:spcPct val="50000"/>
              </a:spcBef>
            </a:pPr>
            <a:endParaRPr lang="en-US">
              <a:latin typeface="Arial" charset="0"/>
              <a:ea typeface="ＭＳ Ｐゴシック" pitchFamily="68" charset="-128"/>
            </a:endParaRPr>
          </a:p>
        </p:txBody>
      </p:sp>
      <p:sp>
        <p:nvSpPr>
          <p:cNvPr id="9" name="Title 8">
            <a:extLst>
              <a:ext uri="{FF2B5EF4-FFF2-40B4-BE49-F238E27FC236}">
                <a16:creationId xmlns:a16="http://schemas.microsoft.com/office/drawing/2014/main" id="{B924A17D-8B44-A781-48AB-10CB28A57037}"/>
              </a:ext>
            </a:extLst>
          </p:cNvPr>
          <p:cNvSpPr>
            <a:spLocks noGrp="1"/>
          </p:cNvSpPr>
          <p:nvPr>
            <p:ph type="title" hasCustomPrompt="1"/>
          </p:nvPr>
        </p:nvSpPr>
        <p:spPr>
          <a:xfrm>
            <a:off x="533400" y="472558"/>
            <a:ext cx="11087100" cy="697541"/>
          </a:xfrm>
        </p:spPr>
        <p:txBody>
          <a:bodyPr/>
          <a:lstStyle/>
          <a:p>
            <a:r>
              <a:rPr lang="en-US" sz="4800" b="1">
                <a:ea typeface="MS PGothic"/>
                <a:cs typeface="Calibri"/>
              </a:rPr>
              <a:t>Slide Heading</a:t>
            </a:r>
            <a:endParaRPr lang="en-US" sz="4800" b="1"/>
          </a:p>
        </p:txBody>
      </p:sp>
      <p:sp>
        <p:nvSpPr>
          <p:cNvPr id="16" name="Text Placeholder 15">
            <a:extLst>
              <a:ext uri="{FF2B5EF4-FFF2-40B4-BE49-F238E27FC236}">
                <a16:creationId xmlns:a16="http://schemas.microsoft.com/office/drawing/2014/main" id="{7C97DA7B-2FE4-56D8-EEF9-944BEDD8FADC}"/>
              </a:ext>
            </a:extLst>
          </p:cNvPr>
          <p:cNvSpPr>
            <a:spLocks noGrp="1"/>
          </p:cNvSpPr>
          <p:nvPr>
            <p:ph type="body" sz="quarter" idx="10" hasCustomPrompt="1"/>
          </p:nvPr>
        </p:nvSpPr>
        <p:spPr>
          <a:xfrm>
            <a:off x="539839" y="231914"/>
            <a:ext cx="11087100" cy="184666"/>
          </a:xfrm>
        </p:spPr>
        <p:txBody>
          <a:bodyPr>
            <a:spAutoFit/>
          </a:bodyPr>
          <a:lstStyle>
            <a:lvl1pPr>
              <a:defRPr sz="1200" b="1">
                <a:latin typeface="+mj-lt"/>
              </a:defRPr>
            </a:lvl1pPr>
            <a:lvl2pPr>
              <a:defRPr sz="1200" b="1">
                <a:latin typeface="+mj-lt"/>
              </a:defRPr>
            </a:lvl2pPr>
            <a:lvl3pPr>
              <a:defRPr sz="1200" b="1">
                <a:latin typeface="+mj-lt"/>
              </a:defRPr>
            </a:lvl3pPr>
            <a:lvl4pPr>
              <a:defRPr sz="1200" b="1">
                <a:latin typeface="+mj-lt"/>
              </a:defRPr>
            </a:lvl4pPr>
            <a:lvl5pPr>
              <a:defRPr sz="1200" b="1">
                <a:latin typeface="+mj-lt"/>
              </a:defRPr>
            </a:lvl5pPr>
          </a:lstStyle>
          <a:p>
            <a:pPr marL="0" marR="0" lvl="0" indent="0"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en-US" sz="1200" b="1" kern="0"/>
              <a:t>PRESENTATION TITLE (optional – remove if not required)</a:t>
            </a:r>
          </a:p>
        </p:txBody>
      </p:sp>
      <p:sp>
        <p:nvSpPr>
          <p:cNvPr id="6" name="Picture Placeholder 5">
            <a:extLst>
              <a:ext uri="{FF2B5EF4-FFF2-40B4-BE49-F238E27FC236}">
                <a16:creationId xmlns:a16="http://schemas.microsoft.com/office/drawing/2014/main" id="{BB665797-5EC9-10BB-2F78-6DCAA4A63B42}"/>
              </a:ext>
            </a:extLst>
          </p:cNvPr>
          <p:cNvSpPr>
            <a:spLocks noGrp="1"/>
          </p:cNvSpPr>
          <p:nvPr>
            <p:ph type="pic" sz="quarter" idx="11" hasCustomPrompt="1"/>
          </p:nvPr>
        </p:nvSpPr>
        <p:spPr>
          <a:xfrm>
            <a:off x="560388" y="3429000"/>
            <a:ext cx="5307012" cy="3048000"/>
          </a:xfrm>
        </p:spPr>
        <p:txBody>
          <a:bodyPr/>
          <a:lstStyle/>
          <a:p>
            <a:r>
              <a:rPr lang="en-US"/>
              <a:t>Click icon to insert picture</a:t>
            </a:r>
          </a:p>
        </p:txBody>
      </p:sp>
      <p:sp>
        <p:nvSpPr>
          <p:cNvPr id="2" name="Text Placeholder 18">
            <a:extLst>
              <a:ext uri="{FF2B5EF4-FFF2-40B4-BE49-F238E27FC236}">
                <a16:creationId xmlns:a16="http://schemas.microsoft.com/office/drawing/2014/main" id="{0FCD1F90-B25A-04B2-72E6-3B0D7A8E7401}"/>
              </a:ext>
            </a:extLst>
          </p:cNvPr>
          <p:cNvSpPr>
            <a:spLocks noGrp="1"/>
          </p:cNvSpPr>
          <p:nvPr>
            <p:ph type="body" sz="quarter" idx="13" hasCustomPrompt="1"/>
          </p:nvPr>
        </p:nvSpPr>
        <p:spPr>
          <a:xfrm>
            <a:off x="533400" y="1943100"/>
            <a:ext cx="5333999" cy="1352551"/>
          </a:xfrm>
        </p:spPr>
        <p:txBody>
          <a:bodyPr/>
          <a:lstStyle>
            <a:lvl1pPr marL="0" indent="0">
              <a:buNone/>
              <a:defRPr/>
            </a:lvl1pPr>
          </a:lstStyle>
          <a:p>
            <a:pPr fontAlgn="t"/>
            <a:r>
              <a:rPr lang="en-US"/>
              <a:t>Click to add your content….. </a:t>
            </a:r>
            <a:r>
              <a:rPr lang="en-US" sz="2200"/>
              <a:t>Column One</a:t>
            </a:r>
            <a:r>
              <a:rPr lang="en-US" sz="2200">
                <a:ea typeface="MS PGothic"/>
                <a:cs typeface="Calibri"/>
              </a:rPr>
              <a:t>… Lorem ipsum dolor sit </a:t>
            </a:r>
            <a:r>
              <a:rPr lang="en-US" sz="2200" err="1">
                <a:ea typeface="MS PGothic"/>
                <a:cs typeface="Calibri"/>
              </a:rPr>
              <a:t>amet</a:t>
            </a:r>
            <a:r>
              <a:rPr lang="en-US" sz="2200">
                <a:ea typeface="MS PGothic"/>
                <a:cs typeface="Calibri"/>
              </a:rPr>
              <a:t>, </a:t>
            </a:r>
            <a:r>
              <a:rPr lang="en-US" sz="2200" err="1">
                <a:ea typeface="MS PGothic"/>
                <a:cs typeface="Calibri"/>
              </a:rPr>
              <a:t>consectetuer</a:t>
            </a:r>
            <a:r>
              <a:rPr lang="en-US" sz="2200">
                <a:ea typeface="MS PGothic"/>
                <a:cs typeface="Calibri"/>
              </a:rPr>
              <a:t> </a:t>
            </a:r>
            <a:r>
              <a:rPr lang="en-US" sz="2200" err="1">
                <a:ea typeface="MS PGothic"/>
                <a:cs typeface="Calibri"/>
              </a:rPr>
              <a:t>adipiscing</a:t>
            </a:r>
            <a:r>
              <a:rPr lang="en-US" sz="2200">
                <a:ea typeface="MS PGothic"/>
                <a:cs typeface="Calibri"/>
              </a:rPr>
              <a:t> </a:t>
            </a:r>
            <a:r>
              <a:rPr lang="en-US" sz="2200" err="1">
                <a:ea typeface="MS PGothic"/>
                <a:cs typeface="Calibri"/>
              </a:rPr>
              <a:t>elit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a:t>
            </a:r>
            <a:endParaRPr lang="en-US" sz="2200"/>
          </a:p>
        </p:txBody>
      </p:sp>
      <p:sp>
        <p:nvSpPr>
          <p:cNvPr id="5" name="Text Placeholder 18">
            <a:extLst>
              <a:ext uri="{FF2B5EF4-FFF2-40B4-BE49-F238E27FC236}">
                <a16:creationId xmlns:a16="http://schemas.microsoft.com/office/drawing/2014/main" id="{D5A3B2D7-20BA-F0CB-7296-7D74B14C91BC}"/>
              </a:ext>
            </a:extLst>
          </p:cNvPr>
          <p:cNvSpPr>
            <a:spLocks noGrp="1"/>
          </p:cNvSpPr>
          <p:nvPr>
            <p:ph type="body" sz="quarter" idx="14" hasCustomPrompt="1"/>
          </p:nvPr>
        </p:nvSpPr>
        <p:spPr>
          <a:xfrm>
            <a:off x="6324603" y="1945433"/>
            <a:ext cx="5333999" cy="4531567"/>
          </a:xfrm>
        </p:spPr>
        <p:txBody>
          <a:bodyPr/>
          <a:lstStyle>
            <a:lvl1pPr marL="0" indent="0">
              <a:buNone/>
              <a:defRPr/>
            </a:lvl1pPr>
          </a:lstStyle>
          <a:p>
            <a:pPr>
              <a:buClr>
                <a:srgbClr val="049FDC"/>
              </a:buClr>
              <a:buSzPct val="105000"/>
            </a:pPr>
            <a:r>
              <a:rPr lang="en-US"/>
              <a:t>Click to add your content….. </a:t>
            </a:r>
            <a:r>
              <a:rPr lang="en-US" sz="2200"/>
              <a:t>Column Two</a:t>
            </a:r>
            <a:r>
              <a:rPr lang="en-US" sz="2200">
                <a:ea typeface="MS PGothic"/>
                <a:cs typeface="Calibri"/>
              </a:rPr>
              <a:t>… Lorem ipsum dolor sit </a:t>
            </a:r>
            <a:r>
              <a:rPr lang="en-US" sz="2200" err="1">
                <a:ea typeface="MS PGothic"/>
                <a:cs typeface="Calibri"/>
              </a:rPr>
              <a:t>amet</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a:t>
            </a:r>
            <a:r>
              <a:rPr lang="en-US" sz="2200">
                <a:ea typeface="MS PGothic"/>
                <a:cs typeface="Calibri"/>
              </a:rPr>
              <a:t>. Ed do </a:t>
            </a:r>
            <a:r>
              <a:rPr lang="en-US" sz="2200" err="1">
                <a:ea typeface="MS PGothic"/>
                <a:cs typeface="Calibri"/>
              </a:rPr>
              <a:t>eiusmod</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Lorem ipsum dolor sit </a:t>
            </a:r>
            <a:r>
              <a:rPr lang="en-US" sz="2200" err="1">
                <a:ea typeface="MS PGothic"/>
                <a:cs typeface="Calibri"/>
              </a:rPr>
              <a:t>amet</a:t>
            </a:r>
            <a:endParaRPr lang="en-US" sz="2200">
              <a:ea typeface="MS PGothic"/>
              <a:cs typeface="Calibri"/>
            </a:endParaRPr>
          </a:p>
          <a:p>
            <a:pPr lvl="0"/>
            <a:r>
              <a:rPr lang="en-US"/>
              <a:t>Click to edit Master text styles</a:t>
            </a:r>
          </a:p>
          <a:p>
            <a:pPr lvl="1"/>
            <a:r>
              <a:rPr lang="en-US"/>
              <a:t>Bullet List</a:t>
            </a:r>
          </a:p>
          <a:p>
            <a:pPr lvl="2"/>
            <a:r>
              <a:rPr lang="en-US"/>
              <a:t>Second level</a:t>
            </a:r>
          </a:p>
          <a:p>
            <a:pPr lvl="3"/>
            <a:r>
              <a:rPr lang="en-US"/>
              <a:t>Third level</a:t>
            </a:r>
          </a:p>
          <a:p>
            <a:pPr lvl="4"/>
            <a:r>
              <a:rPr lang="en-US"/>
              <a:t>Fourth level</a:t>
            </a:r>
          </a:p>
          <a:p>
            <a:pPr lvl="5"/>
            <a:r>
              <a:rPr lang="en-US"/>
              <a:t>Fifth level</a:t>
            </a:r>
          </a:p>
          <a:p>
            <a:pPr lvl="6"/>
            <a:r>
              <a:rPr lang="en-US"/>
              <a:t>Sixth level</a:t>
            </a:r>
          </a:p>
          <a:p>
            <a:pPr lvl="7"/>
            <a:r>
              <a:rPr lang="en-US"/>
              <a:t>Seventh level</a:t>
            </a:r>
          </a:p>
          <a:p>
            <a:pPr>
              <a:buClr>
                <a:srgbClr val="049FDC"/>
              </a:buClr>
              <a:buSzPct val="105000"/>
            </a:pPr>
            <a:endParaRPr lang="en-US" sz="2200">
              <a:ea typeface="MS PGothic"/>
              <a:cs typeface="Calibri"/>
            </a:endParaRPr>
          </a:p>
        </p:txBody>
      </p:sp>
      <p:sp>
        <p:nvSpPr>
          <p:cNvPr id="3" name="Rectangle 2">
            <a:extLst>
              <a:ext uri="{FF2B5EF4-FFF2-40B4-BE49-F238E27FC236}">
                <a16:creationId xmlns:a16="http://schemas.microsoft.com/office/drawing/2014/main" id="{3FE880B5-CB27-80B4-9562-3B5159BEDF3A}"/>
              </a:ext>
              <a:ext uri="{C183D7F6-B498-43B3-948B-1728B52AA6E4}">
                <adec:decorative xmlns:adec="http://schemas.microsoft.com/office/drawing/2017/decorative" val="1"/>
              </a:ext>
            </a:extLst>
          </p:cNvPr>
          <p:cNvSpPr/>
          <p:nvPr userDrawn="1"/>
        </p:nvSpPr>
        <p:spPr bwMode="auto">
          <a:xfrm>
            <a:off x="559697" y="1181100"/>
            <a:ext cx="914400" cy="118872"/>
          </a:xfrm>
          <a:prstGeom prst="rect">
            <a:avLst/>
          </a:prstGeom>
          <a:solidFill>
            <a:srgbClr val="FCAF17"/>
          </a:solidFill>
          <a:ln w="9525" cap="flat" cmpd="sng" algn="ctr">
            <a:noFill/>
            <a:prstDash val="solid"/>
            <a:round/>
            <a:headEnd type="none" w="med" len="med"/>
            <a:tailEnd type="none" w="med" len="med"/>
          </a:ln>
          <a:effectLst/>
        </p:spPr>
        <p:txBody>
          <a:bodyPr vert="horz" wrap="square" lIns="121888" tIns="60944" rIns="121888" bIns="60944" numCol="1" rtlCol="0" anchor="t" anchorCtr="0" compatLnSpc="1">
            <a:prstTxWarp prst="textNoShape">
              <a:avLst/>
            </a:prstTxWarp>
            <a:spAutoFit/>
          </a:bodyPr>
          <a:lstStyle/>
          <a:p>
            <a:pPr defTabSz="609448">
              <a:spcBef>
                <a:spcPct val="50000"/>
              </a:spcBef>
            </a:pPr>
            <a:endParaRPr lang="en-US">
              <a:latin typeface="Arial" charset="0"/>
              <a:ea typeface="ＭＳ Ｐゴシック" pitchFamily="68" charset="-128"/>
            </a:endParaRPr>
          </a:p>
        </p:txBody>
      </p:sp>
      <p:sp>
        <p:nvSpPr>
          <p:cNvPr id="4" name="TextBox 3">
            <a:extLst>
              <a:ext uri="{FF2B5EF4-FFF2-40B4-BE49-F238E27FC236}">
                <a16:creationId xmlns:a16="http://schemas.microsoft.com/office/drawing/2014/main" id="{73FB88F6-459A-5C8D-881C-A16B2951E0E6}"/>
              </a:ext>
            </a:extLst>
          </p:cNvPr>
          <p:cNvSpPr txBox="1"/>
          <p:nvPr userDrawn="1"/>
        </p:nvSpPr>
        <p:spPr>
          <a:xfrm>
            <a:off x="10299012" y="6332834"/>
            <a:ext cx="1422400" cy="318100"/>
          </a:xfrm>
          <a:prstGeom prst="rect">
            <a:avLst/>
          </a:prstGeom>
          <a:noFill/>
        </p:spPr>
        <p:txBody>
          <a:bodyPr>
            <a:spAutoFit/>
          </a:bodyPr>
          <a:lstStyle>
            <a:lvl1pPr eaLnBrk="0" hangingPunct="0">
              <a:defRPr sz="1400" u="sng">
                <a:solidFill>
                  <a:schemeClr val="tx1"/>
                </a:solidFill>
                <a:latin typeface="Arial" panose="020B0604020202020204" pitchFamily="34" charset="0"/>
                <a:ea typeface="MS PGothic" panose="020B0600070205080204" pitchFamily="34" charset="-128"/>
              </a:defRPr>
            </a:lvl1pPr>
            <a:lvl2pPr marL="742950" indent="-285750" eaLnBrk="0" hangingPunct="0">
              <a:defRPr sz="1400" u="sng">
                <a:solidFill>
                  <a:schemeClr val="tx1"/>
                </a:solidFill>
                <a:latin typeface="Arial" panose="020B0604020202020204" pitchFamily="34" charset="0"/>
                <a:ea typeface="MS PGothic" panose="020B0600070205080204" pitchFamily="34" charset="-128"/>
              </a:defRPr>
            </a:lvl2pPr>
            <a:lvl3pPr marL="1143000" indent="-228600" eaLnBrk="0" hangingPunct="0">
              <a:defRPr sz="1400" u="sng">
                <a:solidFill>
                  <a:schemeClr val="tx1"/>
                </a:solidFill>
                <a:latin typeface="Arial" panose="020B0604020202020204" pitchFamily="34" charset="0"/>
                <a:ea typeface="MS PGothic" panose="020B0600070205080204" pitchFamily="34" charset="-128"/>
              </a:defRPr>
            </a:lvl3pPr>
            <a:lvl4pPr marL="1600200" indent="-228600" eaLnBrk="0" hangingPunct="0">
              <a:defRPr sz="1400" u="sng">
                <a:solidFill>
                  <a:schemeClr val="tx1"/>
                </a:solidFill>
                <a:latin typeface="Arial" panose="020B0604020202020204" pitchFamily="34" charset="0"/>
                <a:ea typeface="MS PGothic" panose="020B0600070205080204" pitchFamily="34" charset="-128"/>
              </a:defRPr>
            </a:lvl4pPr>
            <a:lvl5pPr marL="2057400" indent="-228600" eaLnBrk="0" hangingPunct="0">
              <a:defRPr sz="1400" u="sng">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fld id="{150CB991-94F8-4AE6-BDC9-2D81A3868D43}" type="slidenum">
              <a:rPr lang="en-US" altLang="en-US" sz="1467" b="0" u="none">
                <a:solidFill>
                  <a:schemeClr val="tx1"/>
                </a:solidFill>
                <a:latin typeface="Arial"/>
                <a:cs typeface="Arial"/>
              </a:rPr>
              <a:pPr algn="r" eaLnBrk="1" hangingPunct="1">
                <a:spcBef>
                  <a:spcPct val="50000"/>
                </a:spcBef>
              </a:pPr>
              <a:t>‹#›</a:t>
            </a:fld>
            <a:endParaRPr lang="en-US" altLang="en-US" sz="1467" b="0" u="none">
              <a:solidFill>
                <a:schemeClr val="tx1"/>
              </a:solidFill>
              <a:latin typeface="Arial"/>
              <a:cs typeface="Arial"/>
            </a:endParaRPr>
          </a:p>
        </p:txBody>
      </p:sp>
    </p:spTree>
    <p:extLst>
      <p:ext uri="{BB962C8B-B14F-4D97-AF65-F5344CB8AC3E}">
        <p14:creationId xmlns:p14="http://schemas.microsoft.com/office/powerpoint/2010/main" val="1502745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One column,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7CD7201-C13C-62AF-0BC8-490EB7611CC5}"/>
              </a:ext>
              <a:ext uri="{C183D7F6-B498-43B3-948B-1728B52AA6E4}">
                <adec:decorative xmlns:adec="http://schemas.microsoft.com/office/drawing/2017/decorative" val="1"/>
              </a:ext>
            </a:extLst>
          </p:cNvPr>
          <p:cNvSpPr/>
          <p:nvPr/>
        </p:nvSpPr>
        <p:spPr bwMode="auto">
          <a:xfrm>
            <a:off x="559697" y="1181100"/>
            <a:ext cx="914400" cy="118872"/>
          </a:xfrm>
          <a:prstGeom prst="rect">
            <a:avLst/>
          </a:prstGeom>
          <a:solidFill>
            <a:srgbClr val="FCAF17"/>
          </a:solidFill>
          <a:ln w="9525" cap="flat" cmpd="sng" algn="ctr">
            <a:noFill/>
            <a:prstDash val="solid"/>
            <a:round/>
            <a:headEnd type="none" w="med" len="med"/>
            <a:tailEnd type="none" w="med" len="med"/>
          </a:ln>
          <a:effectLst/>
        </p:spPr>
        <p:txBody>
          <a:bodyPr vert="horz" wrap="square" lIns="121888" tIns="60944" rIns="121888" bIns="60944" numCol="1" rtlCol="0" anchor="t" anchorCtr="0" compatLnSpc="1">
            <a:prstTxWarp prst="textNoShape">
              <a:avLst/>
            </a:prstTxWarp>
            <a:spAutoFit/>
          </a:bodyPr>
          <a:lstStyle/>
          <a:p>
            <a:pPr defTabSz="609448">
              <a:spcBef>
                <a:spcPct val="50000"/>
              </a:spcBef>
            </a:pPr>
            <a:endParaRPr lang="en-US">
              <a:latin typeface="Arial" charset="0"/>
              <a:ea typeface="ＭＳ Ｐゴシック" pitchFamily="68" charset="-128"/>
            </a:endParaRPr>
          </a:p>
        </p:txBody>
      </p:sp>
      <p:sp>
        <p:nvSpPr>
          <p:cNvPr id="9" name="Title 8">
            <a:extLst>
              <a:ext uri="{FF2B5EF4-FFF2-40B4-BE49-F238E27FC236}">
                <a16:creationId xmlns:a16="http://schemas.microsoft.com/office/drawing/2014/main" id="{B924A17D-8B44-A781-48AB-10CB28A57037}"/>
              </a:ext>
            </a:extLst>
          </p:cNvPr>
          <p:cNvSpPr>
            <a:spLocks noGrp="1"/>
          </p:cNvSpPr>
          <p:nvPr>
            <p:ph type="title" hasCustomPrompt="1"/>
          </p:nvPr>
        </p:nvSpPr>
        <p:spPr>
          <a:xfrm>
            <a:off x="533400" y="472558"/>
            <a:ext cx="11087100" cy="697541"/>
          </a:xfrm>
        </p:spPr>
        <p:txBody>
          <a:bodyPr/>
          <a:lstStyle/>
          <a:p>
            <a:r>
              <a:rPr lang="en-US" sz="4800" b="1">
                <a:ea typeface="MS PGothic"/>
                <a:cs typeface="Calibri"/>
              </a:rPr>
              <a:t>Slide Heading</a:t>
            </a:r>
            <a:endParaRPr lang="en-US" sz="4800" b="1"/>
          </a:p>
        </p:txBody>
      </p:sp>
      <p:sp>
        <p:nvSpPr>
          <p:cNvPr id="16" name="Text Placeholder 15">
            <a:extLst>
              <a:ext uri="{FF2B5EF4-FFF2-40B4-BE49-F238E27FC236}">
                <a16:creationId xmlns:a16="http://schemas.microsoft.com/office/drawing/2014/main" id="{7C97DA7B-2FE4-56D8-EEF9-944BEDD8FADC}"/>
              </a:ext>
            </a:extLst>
          </p:cNvPr>
          <p:cNvSpPr>
            <a:spLocks noGrp="1"/>
          </p:cNvSpPr>
          <p:nvPr>
            <p:ph type="body" sz="quarter" idx="10" hasCustomPrompt="1"/>
          </p:nvPr>
        </p:nvSpPr>
        <p:spPr>
          <a:xfrm>
            <a:off x="539839" y="231914"/>
            <a:ext cx="11087100" cy="184666"/>
          </a:xfrm>
        </p:spPr>
        <p:txBody>
          <a:bodyPr>
            <a:spAutoFit/>
          </a:bodyPr>
          <a:lstStyle>
            <a:lvl1pPr>
              <a:defRPr sz="1200" b="0">
                <a:latin typeface="+mj-lt"/>
              </a:defRPr>
            </a:lvl1pPr>
            <a:lvl2pPr>
              <a:defRPr sz="1200" b="1">
                <a:latin typeface="+mj-lt"/>
              </a:defRPr>
            </a:lvl2pPr>
            <a:lvl3pPr>
              <a:defRPr sz="1200" b="1">
                <a:latin typeface="+mj-lt"/>
              </a:defRPr>
            </a:lvl3pPr>
            <a:lvl4pPr>
              <a:defRPr sz="1200" b="1">
                <a:latin typeface="+mj-lt"/>
              </a:defRPr>
            </a:lvl4pPr>
            <a:lvl5pPr>
              <a:defRPr sz="1200" b="1">
                <a:latin typeface="+mj-lt"/>
              </a:defRPr>
            </a:lvl5pPr>
          </a:lstStyle>
          <a:p>
            <a:pPr marL="0" marR="0" lvl="0" indent="0"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en-US" sz="1200" b="1" kern="0"/>
              <a:t>PRESENTATION TITLE (optional – remove if not required)</a:t>
            </a:r>
          </a:p>
        </p:txBody>
      </p:sp>
      <p:sp>
        <p:nvSpPr>
          <p:cNvPr id="2" name="Text Placeholder 3">
            <a:extLst>
              <a:ext uri="{FF2B5EF4-FFF2-40B4-BE49-F238E27FC236}">
                <a16:creationId xmlns:a16="http://schemas.microsoft.com/office/drawing/2014/main" id="{127CB8F1-624E-D52E-48C2-CA0AB1531B24}"/>
              </a:ext>
            </a:extLst>
          </p:cNvPr>
          <p:cNvSpPr>
            <a:spLocks noGrp="1"/>
          </p:cNvSpPr>
          <p:nvPr>
            <p:ph type="body" sz="quarter" idx="11" hasCustomPrompt="1"/>
          </p:nvPr>
        </p:nvSpPr>
        <p:spPr>
          <a:xfrm>
            <a:off x="539839" y="1943100"/>
            <a:ext cx="11087100" cy="4533900"/>
          </a:xfrm>
        </p:spPr>
        <p:txBody>
          <a:bodyPr numCol="1" spcCol="457200"/>
          <a:lstStyle>
            <a:lvl1pPr marL="0" indent="0">
              <a:buFont typeface="Arial" panose="020B0604020202020204" pitchFamily="34" charset="0"/>
              <a:buNone/>
              <a:defRPr/>
            </a:lvl1pPr>
            <a:lvl5pPr marL="914400" indent="0">
              <a:buNone/>
              <a:defRPr/>
            </a:lvl5pPr>
          </a:lstStyle>
          <a:p>
            <a:pPr>
              <a:buClr>
                <a:srgbClr val="049FDC"/>
              </a:buClr>
              <a:buSzPct val="105000"/>
            </a:pPr>
            <a:r>
              <a:rPr lang="en-US"/>
              <a:t>Click to add your content….. </a:t>
            </a:r>
            <a:r>
              <a:rPr lang="en-US" sz="2200">
                <a:ea typeface="MS PGothic"/>
                <a:cs typeface="Calibri"/>
              </a:rPr>
              <a:t>Lorem ipsum dolor sit </a:t>
            </a:r>
            <a:r>
              <a:rPr lang="en-US" sz="2200" err="1">
                <a:ea typeface="MS PGothic"/>
                <a:cs typeface="Calibri"/>
              </a:rPr>
              <a:t>amet</a:t>
            </a:r>
            <a:r>
              <a:rPr lang="en-US" sz="2200">
                <a:ea typeface="MS PGothic"/>
                <a:cs typeface="Calibri"/>
              </a:rPr>
              <a:t>, </a:t>
            </a:r>
            <a:r>
              <a:rPr lang="en-US" sz="2200" err="1">
                <a:ea typeface="MS PGothic"/>
                <a:cs typeface="Calibri"/>
              </a:rPr>
              <a:t>consectetuer</a:t>
            </a:r>
            <a:r>
              <a:rPr lang="en-US" sz="2200">
                <a:ea typeface="MS PGothic"/>
                <a:cs typeface="Calibri"/>
              </a:rPr>
              <a:t> </a:t>
            </a:r>
            <a:r>
              <a:rPr lang="en-US" sz="2200" err="1">
                <a:ea typeface="MS PGothic"/>
                <a:cs typeface="Calibri"/>
              </a:rPr>
              <a:t>adipiscing</a:t>
            </a:r>
            <a:r>
              <a:rPr lang="en-US" sz="2200">
                <a:ea typeface="MS PGothic"/>
                <a:cs typeface="Calibri"/>
              </a:rPr>
              <a:t> </a:t>
            </a:r>
            <a:r>
              <a:rPr lang="en-US" sz="2200" err="1">
                <a:ea typeface="MS PGothic"/>
                <a:cs typeface="Calibri"/>
              </a:rPr>
              <a:t>elit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a:t>
            </a:r>
            <a:r>
              <a:rPr lang="en-US" sz="2200">
                <a:ea typeface="MS PGothic"/>
                <a:cs typeface="Calibri"/>
              </a:rPr>
              <a:t>.</a:t>
            </a:r>
          </a:p>
          <a:p>
            <a:pPr lvl="0"/>
            <a:r>
              <a:rPr lang="en-US" sz="2200">
                <a:ea typeface="MS PGothic"/>
                <a:cs typeface="Calibri"/>
              </a:rPr>
              <a:t>Lorem ipsum dolor sit </a:t>
            </a:r>
            <a:r>
              <a:rPr lang="en-US" sz="2200" err="1">
                <a:ea typeface="MS PGothic"/>
                <a:cs typeface="Calibri"/>
              </a:rPr>
              <a:t>amet</a:t>
            </a:r>
            <a:r>
              <a:rPr lang="en-US" sz="2200">
                <a:ea typeface="MS PGothic"/>
                <a:cs typeface="Calibri"/>
              </a:rPr>
              <a:t>, </a:t>
            </a:r>
            <a:r>
              <a:rPr lang="en-US" sz="2200" err="1">
                <a:ea typeface="MS PGothic"/>
                <a:cs typeface="Calibri"/>
              </a:rPr>
              <a:t>consectetuer</a:t>
            </a:r>
            <a:r>
              <a:rPr lang="en-US" sz="2200">
                <a:ea typeface="MS PGothic"/>
                <a:cs typeface="Calibri"/>
              </a:rPr>
              <a:t> </a:t>
            </a:r>
            <a:r>
              <a:rPr lang="en-US" sz="2200" err="1">
                <a:ea typeface="MS PGothic"/>
                <a:cs typeface="Calibri"/>
              </a:rPr>
              <a:t>adipiscing</a:t>
            </a:r>
            <a:r>
              <a:rPr lang="en-US" sz="2200">
                <a:ea typeface="MS PGothic"/>
                <a:cs typeface="Calibri"/>
              </a:rPr>
              <a:t> </a:t>
            </a:r>
            <a:r>
              <a:rPr lang="en-US" sz="2200" err="1">
                <a:ea typeface="MS PGothic"/>
                <a:cs typeface="Calibri"/>
              </a:rPr>
              <a:t>elit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volutpatt</a:t>
            </a:r>
            <a:r>
              <a:rPr lang="en-US" sz="2200">
                <a:ea typeface="MS PGothic"/>
                <a:cs typeface="Calibri"/>
              </a:rPr>
              <a:t>.</a:t>
            </a:r>
            <a:r>
              <a:rPr lang="en-US"/>
              <a:t> </a:t>
            </a:r>
          </a:p>
          <a:p>
            <a:pPr lvl="0"/>
            <a:r>
              <a:rPr lang="en-US"/>
              <a:t>Click to edit Master text styles</a:t>
            </a:r>
          </a:p>
          <a:p>
            <a:pPr lvl="1"/>
            <a:r>
              <a:rPr lang="en-US"/>
              <a:t>Bullet List</a:t>
            </a:r>
          </a:p>
          <a:p>
            <a:pPr lvl="2"/>
            <a:r>
              <a:rPr lang="en-US"/>
              <a:t>Second level</a:t>
            </a:r>
          </a:p>
          <a:p>
            <a:pPr lvl="3"/>
            <a:r>
              <a:rPr lang="en-US"/>
              <a:t>Third level</a:t>
            </a:r>
          </a:p>
          <a:p>
            <a:pPr lvl="4"/>
            <a:r>
              <a:rPr lang="en-US"/>
              <a:t>Fourth level</a:t>
            </a:r>
          </a:p>
          <a:p>
            <a:pPr lvl="5"/>
            <a:r>
              <a:rPr lang="en-US"/>
              <a:t>Fifth level</a:t>
            </a:r>
          </a:p>
          <a:p>
            <a:pPr lvl="6"/>
            <a:r>
              <a:rPr lang="en-US"/>
              <a:t>Sixth level</a:t>
            </a:r>
          </a:p>
          <a:p>
            <a:pPr lvl="7"/>
            <a:r>
              <a:rPr lang="en-US"/>
              <a:t>Seventh level</a:t>
            </a:r>
          </a:p>
          <a:p>
            <a:pPr lvl="0"/>
            <a:endParaRPr lang="en-US"/>
          </a:p>
        </p:txBody>
      </p:sp>
      <p:sp>
        <p:nvSpPr>
          <p:cNvPr id="3" name="Rectangle 2">
            <a:extLst>
              <a:ext uri="{FF2B5EF4-FFF2-40B4-BE49-F238E27FC236}">
                <a16:creationId xmlns:a16="http://schemas.microsoft.com/office/drawing/2014/main" id="{703774A6-2584-077E-5582-7B203D5D8E3A}"/>
              </a:ext>
              <a:ext uri="{C183D7F6-B498-43B3-948B-1728B52AA6E4}">
                <adec:decorative xmlns:adec="http://schemas.microsoft.com/office/drawing/2017/decorative" val="1"/>
              </a:ext>
            </a:extLst>
          </p:cNvPr>
          <p:cNvSpPr/>
          <p:nvPr userDrawn="1"/>
        </p:nvSpPr>
        <p:spPr bwMode="auto">
          <a:xfrm>
            <a:off x="559697" y="1181100"/>
            <a:ext cx="914400" cy="118872"/>
          </a:xfrm>
          <a:prstGeom prst="rect">
            <a:avLst/>
          </a:prstGeom>
          <a:solidFill>
            <a:srgbClr val="FCAF17"/>
          </a:solidFill>
          <a:ln w="9525" cap="flat" cmpd="sng" algn="ctr">
            <a:noFill/>
            <a:prstDash val="solid"/>
            <a:round/>
            <a:headEnd type="none" w="med" len="med"/>
            <a:tailEnd type="none" w="med" len="med"/>
          </a:ln>
          <a:effectLst/>
        </p:spPr>
        <p:txBody>
          <a:bodyPr vert="horz" wrap="square" lIns="121888" tIns="60944" rIns="121888" bIns="60944" numCol="1" rtlCol="0" anchor="t" anchorCtr="0" compatLnSpc="1">
            <a:prstTxWarp prst="textNoShape">
              <a:avLst/>
            </a:prstTxWarp>
            <a:spAutoFit/>
          </a:bodyPr>
          <a:lstStyle/>
          <a:p>
            <a:pPr defTabSz="609448">
              <a:spcBef>
                <a:spcPct val="50000"/>
              </a:spcBef>
            </a:pPr>
            <a:endParaRPr lang="en-US">
              <a:latin typeface="Arial" charset="0"/>
              <a:ea typeface="ＭＳ Ｐゴシック" pitchFamily="68" charset="-128"/>
            </a:endParaRPr>
          </a:p>
        </p:txBody>
      </p:sp>
      <p:sp>
        <p:nvSpPr>
          <p:cNvPr id="4" name="TextBox 3">
            <a:extLst>
              <a:ext uri="{FF2B5EF4-FFF2-40B4-BE49-F238E27FC236}">
                <a16:creationId xmlns:a16="http://schemas.microsoft.com/office/drawing/2014/main" id="{8802F729-82FD-35B0-9367-CF3253CF0B80}"/>
              </a:ext>
            </a:extLst>
          </p:cNvPr>
          <p:cNvSpPr txBox="1"/>
          <p:nvPr userDrawn="1"/>
        </p:nvSpPr>
        <p:spPr>
          <a:xfrm>
            <a:off x="10299012" y="6332834"/>
            <a:ext cx="1422400" cy="318100"/>
          </a:xfrm>
          <a:prstGeom prst="rect">
            <a:avLst/>
          </a:prstGeom>
          <a:noFill/>
        </p:spPr>
        <p:txBody>
          <a:bodyPr>
            <a:spAutoFit/>
          </a:bodyPr>
          <a:lstStyle>
            <a:lvl1pPr eaLnBrk="0" hangingPunct="0">
              <a:defRPr sz="1400" u="sng">
                <a:solidFill>
                  <a:schemeClr val="tx1"/>
                </a:solidFill>
                <a:latin typeface="Arial" panose="020B0604020202020204" pitchFamily="34" charset="0"/>
                <a:ea typeface="MS PGothic" panose="020B0600070205080204" pitchFamily="34" charset="-128"/>
              </a:defRPr>
            </a:lvl1pPr>
            <a:lvl2pPr marL="742950" indent="-285750" eaLnBrk="0" hangingPunct="0">
              <a:defRPr sz="1400" u="sng">
                <a:solidFill>
                  <a:schemeClr val="tx1"/>
                </a:solidFill>
                <a:latin typeface="Arial" panose="020B0604020202020204" pitchFamily="34" charset="0"/>
                <a:ea typeface="MS PGothic" panose="020B0600070205080204" pitchFamily="34" charset="-128"/>
              </a:defRPr>
            </a:lvl2pPr>
            <a:lvl3pPr marL="1143000" indent="-228600" eaLnBrk="0" hangingPunct="0">
              <a:defRPr sz="1400" u="sng">
                <a:solidFill>
                  <a:schemeClr val="tx1"/>
                </a:solidFill>
                <a:latin typeface="Arial" panose="020B0604020202020204" pitchFamily="34" charset="0"/>
                <a:ea typeface="MS PGothic" panose="020B0600070205080204" pitchFamily="34" charset="-128"/>
              </a:defRPr>
            </a:lvl3pPr>
            <a:lvl4pPr marL="1600200" indent="-228600" eaLnBrk="0" hangingPunct="0">
              <a:defRPr sz="1400" u="sng">
                <a:solidFill>
                  <a:schemeClr val="tx1"/>
                </a:solidFill>
                <a:latin typeface="Arial" panose="020B0604020202020204" pitchFamily="34" charset="0"/>
                <a:ea typeface="MS PGothic" panose="020B0600070205080204" pitchFamily="34" charset="-128"/>
              </a:defRPr>
            </a:lvl4pPr>
            <a:lvl5pPr marL="2057400" indent="-228600" eaLnBrk="0" hangingPunct="0">
              <a:defRPr sz="1400" u="sng">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fld id="{150CB991-94F8-4AE6-BDC9-2D81A3868D43}" type="slidenum">
              <a:rPr lang="en-US" altLang="en-US" sz="1467" b="0" u="none">
                <a:solidFill>
                  <a:schemeClr val="tx1"/>
                </a:solidFill>
                <a:latin typeface="Arial"/>
                <a:cs typeface="Arial"/>
              </a:rPr>
              <a:pPr algn="r" eaLnBrk="1" hangingPunct="1">
                <a:spcBef>
                  <a:spcPct val="50000"/>
                </a:spcBef>
              </a:pPr>
              <a:t>‹#›</a:t>
            </a:fld>
            <a:endParaRPr lang="en-US" altLang="en-US" sz="1467" b="0" u="none">
              <a:solidFill>
                <a:schemeClr val="tx1"/>
              </a:solidFill>
              <a:latin typeface="Arial"/>
              <a:cs typeface="Arial"/>
            </a:endParaRPr>
          </a:p>
        </p:txBody>
      </p:sp>
    </p:spTree>
    <p:extLst>
      <p:ext uri="{BB962C8B-B14F-4D97-AF65-F5344CB8AC3E}">
        <p14:creationId xmlns:p14="http://schemas.microsoft.com/office/powerpoint/2010/main" val="2621648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 Text">
    <p:spTree>
      <p:nvGrpSpPr>
        <p:cNvPr id="1" name=""/>
        <p:cNvGrpSpPr/>
        <p:nvPr/>
      </p:nvGrpSpPr>
      <p:grpSpPr>
        <a:xfrm>
          <a:off x="0" y="0"/>
          <a:ext cx="0" cy="0"/>
          <a:chOff x="0" y="0"/>
          <a:chExt cx="0" cy="0"/>
        </a:xfrm>
      </p:grpSpPr>
      <p:sp>
        <p:nvSpPr>
          <p:cNvPr id="2" name="Slide title placeholder"/>
          <p:cNvSpPr>
            <a:spLocks noGrp="1"/>
          </p:cNvSpPr>
          <p:nvPr>
            <p:ph type="title"/>
          </p:nvPr>
        </p:nvSpPr>
        <p:spPr>
          <a:xfrm>
            <a:off x="480000" y="72000"/>
            <a:ext cx="9360000" cy="900000"/>
          </a:xfrm>
          <a:prstGeom prst="rect">
            <a:avLst/>
          </a:prstGeom>
        </p:spPr>
        <p:txBody>
          <a:bodyPr wrap="square" lIns="0" tIns="0" rIns="0" bIns="0" anchor="ctr" anchorCtr="0">
            <a:noAutofit/>
          </a:bodyPr>
          <a:lstStyle>
            <a:lvl1pPr marL="457200" indent="-457200" algn="l">
              <a:buFont typeface="Arial" panose="020B0604020202020204" pitchFamily="34" charset="0"/>
              <a:buNone/>
              <a:defRPr lang="en-CA" sz="2800" b="1" baseline="0">
                <a:solidFill>
                  <a:srgbClr val="004D85"/>
                </a:solidFill>
                <a:latin typeface="Arial" panose="020B0604020202020204" pitchFamily="34" charset="0"/>
                <a:ea typeface="+mn-ea"/>
                <a:cs typeface="Arial" panose="020B0604020202020204" pitchFamily="34" charset="0"/>
              </a:defRPr>
            </a:lvl1pPr>
          </a:lstStyle>
          <a:p>
            <a:pPr marL="0" marR="0" lvl="0" indent="0" algn="l" fontAlgn="auto">
              <a:lnSpc>
                <a:spcPct val="100000"/>
              </a:lnSpc>
              <a:spcBef>
                <a:spcPct val="20000"/>
              </a:spcBef>
              <a:spcAft>
                <a:spcPts val="0"/>
              </a:spcAft>
              <a:buClrTx/>
              <a:buSzTx/>
              <a:buFont typeface="Arial" panose="020B0604020202020204" pitchFamily="34" charset="0"/>
              <a:tabLst/>
            </a:pPr>
            <a:r>
              <a:rPr lang="en-US" noProof="0"/>
              <a:t>Click to edit Master title style</a:t>
            </a:r>
            <a:endParaRPr lang="en-CA" noProof="0"/>
          </a:p>
        </p:txBody>
      </p:sp>
      <p:sp>
        <p:nvSpPr>
          <p:cNvPr id="14" name="Slide text placeholder">
            <a:extLst>
              <a:ext uri="{FF2B5EF4-FFF2-40B4-BE49-F238E27FC236}">
                <a16:creationId xmlns:a16="http://schemas.microsoft.com/office/drawing/2014/main" id="{74A09AE4-4528-4E57-9872-4924558F1062}"/>
              </a:ext>
            </a:extLst>
          </p:cNvPr>
          <p:cNvSpPr>
            <a:spLocks noGrp="1"/>
          </p:cNvSpPr>
          <p:nvPr>
            <p:ph type="body" sz="quarter" idx="12"/>
          </p:nvPr>
        </p:nvSpPr>
        <p:spPr>
          <a:xfrm>
            <a:off x="480000" y="1080000"/>
            <a:ext cx="11280000" cy="5040000"/>
          </a:xfrm>
        </p:spPr>
        <p:txBody>
          <a:bodyPr wrap="square">
            <a:noAutofit/>
          </a:bodyPr>
          <a:lstStyle>
            <a:lvl1pPr>
              <a:defRPr>
                <a:solidFill>
                  <a:srgbClr val="004D85"/>
                </a:solidFill>
              </a:defRPr>
            </a:lvl1pPr>
          </a:lstStyle>
          <a:p>
            <a:pPr lvl="0"/>
            <a:r>
              <a:rPr lang="en-US" noProof="0" dirty="0"/>
              <a:t>Edit Master text styles</a:t>
            </a:r>
          </a:p>
        </p:txBody>
      </p:sp>
      <p:sp>
        <p:nvSpPr>
          <p:cNvPr id="3" name="Slide number placeholder">
            <a:extLst>
              <a:ext uri="{FF2B5EF4-FFF2-40B4-BE49-F238E27FC236}">
                <a16:creationId xmlns:a16="http://schemas.microsoft.com/office/drawing/2014/main" id="{B1746E9B-7D57-4E19-B6A6-41F09EB1A5DE}"/>
              </a:ext>
              <a:ext uri="{C183D7F6-B498-43B3-948B-1728B52AA6E4}">
                <adec:decorative xmlns:adec="http://schemas.microsoft.com/office/drawing/2017/decorative" val="1"/>
              </a:ext>
            </a:extLst>
          </p:cNvPr>
          <p:cNvSpPr>
            <a:spLocks noGrp="1"/>
          </p:cNvSpPr>
          <p:nvPr>
            <p:ph type="sldNum" sz="quarter" idx="11"/>
          </p:nvPr>
        </p:nvSpPr>
        <p:spPr/>
        <p:txBody>
          <a:bodyPr wrap="square">
            <a:noAutofit/>
          </a:bodyPr>
          <a:lstStyle>
            <a:lvl1pPr>
              <a:defRPr>
                <a:solidFill>
                  <a:srgbClr val="004D85"/>
                </a:solidFill>
              </a:defRPr>
            </a:lvl1pPr>
          </a:lstStyle>
          <a:p>
            <a:fld id="{C42F5A24-FAD5-448B-90C7-C38AA06B112A}" type="slidenum">
              <a:rPr lang="en-CA" smtClean="0"/>
              <a:pPr/>
              <a:t>‹#›</a:t>
            </a:fld>
            <a:endParaRPr lang="en-CA"/>
          </a:p>
        </p:txBody>
      </p:sp>
      <p:sp>
        <p:nvSpPr>
          <p:cNvPr id="8" name="Grey line">
            <a:extLst>
              <a:ext uri="{FF2B5EF4-FFF2-40B4-BE49-F238E27FC236}">
                <a16:creationId xmlns:a16="http://schemas.microsoft.com/office/drawing/2014/main" id="{BD4A3E16-F7D0-4719-9A23-60FC2CD342CC}"/>
              </a:ext>
            </a:extLst>
          </p:cNvPr>
          <p:cNvSpPr>
            <a:spLocks/>
          </p:cNvSpPr>
          <p:nvPr userDrawn="1"/>
        </p:nvSpPr>
        <p:spPr bwMode="auto">
          <a:xfrm>
            <a:off x="9266818" y="786312"/>
            <a:ext cx="2908300" cy="50400"/>
          </a:xfrm>
          <a:custGeom>
            <a:avLst/>
            <a:gdLst>
              <a:gd name="T0" fmla="*/ 96 w 1374"/>
              <a:gd name="T1" fmla="*/ 0 h 95"/>
              <a:gd name="T2" fmla="*/ 90 w 1374"/>
              <a:gd name="T3" fmla="*/ 0 h 95"/>
              <a:gd name="T4" fmla="*/ 0 w 1374"/>
              <a:gd name="T5" fmla="*/ 95 h 95"/>
              <a:gd name="T6" fmla="*/ 6 w 1374"/>
              <a:gd name="T7" fmla="*/ 95 h 95"/>
              <a:gd name="T8" fmla="*/ 1374 w 1374"/>
              <a:gd name="T9" fmla="*/ 95 h 95"/>
              <a:gd name="T10" fmla="*/ 1374 w 1374"/>
              <a:gd name="T11" fmla="*/ 0 h 95"/>
              <a:gd name="T12" fmla="*/ 96 w 13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374" h="95">
                <a:moveTo>
                  <a:pt x="96" y="0"/>
                </a:moveTo>
                <a:lnTo>
                  <a:pt x="90" y="0"/>
                </a:lnTo>
                <a:lnTo>
                  <a:pt x="0" y="95"/>
                </a:lnTo>
                <a:lnTo>
                  <a:pt x="6" y="95"/>
                </a:lnTo>
                <a:lnTo>
                  <a:pt x="1374" y="95"/>
                </a:lnTo>
                <a:lnTo>
                  <a:pt x="1374" y="0"/>
                </a:lnTo>
                <a:lnTo>
                  <a:pt x="96"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CA" sz="1800" noProof="0"/>
          </a:p>
        </p:txBody>
      </p:sp>
      <p:sp>
        <p:nvSpPr>
          <p:cNvPr id="9" name="Blue line">
            <a:extLst>
              <a:ext uri="{FF2B5EF4-FFF2-40B4-BE49-F238E27FC236}">
                <a16:creationId xmlns:a16="http://schemas.microsoft.com/office/drawing/2014/main" id="{C3FD8348-C76A-4BA2-896A-4DC789645AA6}"/>
              </a:ext>
            </a:extLst>
          </p:cNvPr>
          <p:cNvSpPr>
            <a:spLocks/>
          </p:cNvSpPr>
          <p:nvPr userDrawn="1"/>
        </p:nvSpPr>
        <p:spPr bwMode="auto">
          <a:xfrm>
            <a:off x="-16884" y="786312"/>
            <a:ext cx="9504000" cy="50400"/>
          </a:xfrm>
          <a:custGeom>
            <a:avLst/>
            <a:gdLst>
              <a:gd name="T0" fmla="*/ 4398 w 4398"/>
              <a:gd name="T1" fmla="*/ 0 h 95"/>
              <a:gd name="T2" fmla="*/ 0 w 4398"/>
              <a:gd name="T3" fmla="*/ 0 h 95"/>
              <a:gd name="T4" fmla="*/ 0 w 4398"/>
              <a:gd name="T5" fmla="*/ 95 h 95"/>
              <a:gd name="T6" fmla="*/ 4302 w 4398"/>
              <a:gd name="T7" fmla="*/ 95 h 95"/>
              <a:gd name="T8" fmla="*/ 4398 w 4398"/>
              <a:gd name="T9" fmla="*/ 0 h 95"/>
            </a:gdLst>
            <a:ahLst/>
            <a:cxnLst>
              <a:cxn ang="0">
                <a:pos x="T0" y="T1"/>
              </a:cxn>
              <a:cxn ang="0">
                <a:pos x="T2" y="T3"/>
              </a:cxn>
              <a:cxn ang="0">
                <a:pos x="T4" y="T5"/>
              </a:cxn>
              <a:cxn ang="0">
                <a:pos x="T6" y="T7"/>
              </a:cxn>
              <a:cxn ang="0">
                <a:pos x="T8" y="T9"/>
              </a:cxn>
            </a:cxnLst>
            <a:rect l="0" t="0" r="r" b="b"/>
            <a:pathLst>
              <a:path w="4398" h="95">
                <a:moveTo>
                  <a:pt x="4398" y="0"/>
                </a:moveTo>
                <a:lnTo>
                  <a:pt x="0" y="0"/>
                </a:lnTo>
                <a:lnTo>
                  <a:pt x="0" y="95"/>
                </a:lnTo>
                <a:lnTo>
                  <a:pt x="4302" y="95"/>
                </a:lnTo>
                <a:lnTo>
                  <a:pt x="4398" y="0"/>
                </a:lnTo>
                <a:close/>
              </a:path>
            </a:pathLst>
          </a:custGeom>
          <a:solidFill>
            <a:srgbClr val="004D85"/>
          </a:solidFill>
          <a:ln>
            <a:noFill/>
          </a:ln>
        </p:spPr>
        <p:txBody>
          <a:bodyPr vert="horz" wrap="square" lIns="91440" tIns="45720" rIns="91440" bIns="45720" numCol="1" anchor="t" anchorCtr="0" compatLnSpc="1">
            <a:prstTxWarp prst="textNoShape">
              <a:avLst/>
            </a:prstTxWarp>
            <a:noAutofit/>
          </a:bodyPr>
          <a:lstStyle/>
          <a:p>
            <a:endParaRPr lang="en-CA" sz="1800" noProof="0"/>
          </a:p>
        </p:txBody>
      </p:sp>
    </p:spTree>
    <p:extLst>
      <p:ext uri="{BB962C8B-B14F-4D97-AF65-F5344CB8AC3E}">
        <p14:creationId xmlns:p14="http://schemas.microsoft.com/office/powerpoint/2010/main" val="940406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79FFF-230C-E6BA-B473-A3DFFA9C43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E83C103-598E-1103-E2D8-148AF00984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01CF5BC-A4DA-899B-9612-1ADEB4D7E5F6}"/>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5" name="Footer Placeholder 4">
            <a:extLst>
              <a:ext uri="{FF2B5EF4-FFF2-40B4-BE49-F238E27FC236}">
                <a16:creationId xmlns:a16="http://schemas.microsoft.com/office/drawing/2014/main" id="{E1F6D69D-899E-4C87-3615-06D6A965019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DD8F45E-F8EA-9844-CC0B-6A6B5B9E1571}"/>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3706384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BE864-371E-F048-8749-0B05A0911F3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3F4DF00-1005-2C7B-623B-A152414728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675F91D-18B3-9B54-B528-48F736097106}"/>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5" name="Footer Placeholder 4">
            <a:extLst>
              <a:ext uri="{FF2B5EF4-FFF2-40B4-BE49-F238E27FC236}">
                <a16:creationId xmlns:a16="http://schemas.microsoft.com/office/drawing/2014/main" id="{3A7523CD-1E8E-E8FC-6B9C-B26D2740276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FC366A1-AEC3-AC10-B666-0C7ECD8FE2BF}"/>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2674749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B1C4-2C7B-3090-4121-15D4A2BD0B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B7DE160-9A27-14DB-F4E9-47EFEEFFFB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BF6172-1736-3DC5-4E6F-431295598D7F}"/>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5" name="Footer Placeholder 4">
            <a:extLst>
              <a:ext uri="{FF2B5EF4-FFF2-40B4-BE49-F238E27FC236}">
                <a16:creationId xmlns:a16="http://schemas.microsoft.com/office/drawing/2014/main" id="{3D8A62DF-7698-97A8-B7A5-39EED27DB74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8DA6B07-0329-5D82-B615-D61832E017BC}"/>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30372664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F835C-B68C-90EE-BD37-A367D802CF2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9083F93-0A73-66DC-D17C-23AE4081AC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BA98085C-144B-48C4-022F-65F059A927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A039C85-C252-EBF7-C6F4-5FD40FED99EC}"/>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6" name="Footer Placeholder 5">
            <a:extLst>
              <a:ext uri="{FF2B5EF4-FFF2-40B4-BE49-F238E27FC236}">
                <a16:creationId xmlns:a16="http://schemas.microsoft.com/office/drawing/2014/main" id="{747BD7B5-C367-C8F9-6AD4-BBDB3C1DCBC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2DB218B-7686-5B75-95CD-3A1DFF472599}"/>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77137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442FB-6CFE-06A6-A171-02991EC8FB6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66706B6-7E17-FCC4-B0B6-DE72A5340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CA59FE-CF0B-4427-F112-7885292EF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1EB2452-2DF3-5AC4-F772-E1B410AED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2E89D8-4B6B-AA81-81E5-4D1FB5BC5A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A320B95-139F-0C47-3400-02DEF6E1D956}"/>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8" name="Footer Placeholder 7">
            <a:extLst>
              <a:ext uri="{FF2B5EF4-FFF2-40B4-BE49-F238E27FC236}">
                <a16:creationId xmlns:a16="http://schemas.microsoft.com/office/drawing/2014/main" id="{D7685FE5-A7DB-8866-6739-907802C594F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FFF4E67-01F8-2E79-B6B2-79C29132508C}"/>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18400823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255C6-D756-419A-ACD3-7265AF23B5D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BB5CFAAF-25C8-250C-A788-04D6B435B0F3}"/>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4" name="Footer Placeholder 3">
            <a:extLst>
              <a:ext uri="{FF2B5EF4-FFF2-40B4-BE49-F238E27FC236}">
                <a16:creationId xmlns:a16="http://schemas.microsoft.com/office/drawing/2014/main" id="{A3B1EEB4-A7AD-57C2-98B1-6096DB7E1CA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97FF702C-097A-CCA5-4600-CAC4E3E23BAB}"/>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17523286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519A5-79BE-733E-C540-CD140AE21103}"/>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3" name="Footer Placeholder 2">
            <a:extLst>
              <a:ext uri="{FF2B5EF4-FFF2-40B4-BE49-F238E27FC236}">
                <a16:creationId xmlns:a16="http://schemas.microsoft.com/office/drawing/2014/main" id="{962815CF-D4BC-AEC8-31C2-EBC29AB6DEA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E2529BE-50A3-C493-8FBC-559CDB090596}"/>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24062797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29D4A-D5C4-EFC6-978D-B0B6FE412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B447865-FB2C-70C4-C24E-13D3F3910D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0F4A7E8-CF28-0D40-A197-26E0693EB9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D1495-D77F-21FC-78D3-A44A0EF10B40}"/>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6" name="Footer Placeholder 5">
            <a:extLst>
              <a:ext uri="{FF2B5EF4-FFF2-40B4-BE49-F238E27FC236}">
                <a16:creationId xmlns:a16="http://schemas.microsoft.com/office/drawing/2014/main" id="{535B689C-D9AD-4AAC-E32C-1DE2F31F490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0C6A5AA-68DD-8FDF-39E1-532160475D46}"/>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2873789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E327-431C-A36D-EAB5-7EAAC45CE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DA8B3C8-0A72-8977-AB3F-8581C0DEB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5AC631D-FB50-2C22-367E-B3E42D5C7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BCBE8-B072-0643-E464-B4A2E747C349}"/>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6" name="Footer Placeholder 5">
            <a:extLst>
              <a:ext uri="{FF2B5EF4-FFF2-40B4-BE49-F238E27FC236}">
                <a16:creationId xmlns:a16="http://schemas.microsoft.com/office/drawing/2014/main" id="{432EA6A5-1A00-06C5-091A-3A52D26B92C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A14B9A4-3B68-666F-9758-777D7E62EEB1}"/>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19555222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EE6A1-C4BF-FA40-953F-CBF83A2C1E53}"/>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A6E9449-4AC7-7931-FDDB-7A15161844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6E65A2E-C32E-717D-9B9A-FBADAD8E713C}"/>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5" name="Footer Placeholder 4">
            <a:extLst>
              <a:ext uri="{FF2B5EF4-FFF2-40B4-BE49-F238E27FC236}">
                <a16:creationId xmlns:a16="http://schemas.microsoft.com/office/drawing/2014/main" id="{0A24D516-436E-B57F-DA53-E0C0FAC85F4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FF10033-CEE9-B4DD-D5FB-1C59A4C95FEF}"/>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41203693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DC1A29-A921-0037-6592-1EC50076BB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5CBB504-6F4C-D334-27AC-B949FFF81C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66D212D-0965-F322-0036-A6AFB27C49E4}"/>
              </a:ext>
            </a:extLst>
          </p:cNvPr>
          <p:cNvSpPr>
            <a:spLocks noGrp="1"/>
          </p:cNvSpPr>
          <p:nvPr>
            <p:ph type="dt" sz="half" idx="10"/>
          </p:nvPr>
        </p:nvSpPr>
        <p:spPr/>
        <p:txBody>
          <a:bodyPr/>
          <a:lstStyle/>
          <a:p>
            <a:fld id="{CF79B9D5-A958-44E1-9567-E9D44D3E1CE9}" type="datetimeFigureOut">
              <a:rPr lang="en-CA" smtClean="0"/>
              <a:t>2026-02-11</a:t>
            </a:fld>
            <a:endParaRPr lang="en-CA"/>
          </a:p>
        </p:txBody>
      </p:sp>
      <p:sp>
        <p:nvSpPr>
          <p:cNvPr id="5" name="Footer Placeholder 4">
            <a:extLst>
              <a:ext uri="{FF2B5EF4-FFF2-40B4-BE49-F238E27FC236}">
                <a16:creationId xmlns:a16="http://schemas.microsoft.com/office/drawing/2014/main" id="{AB549C28-0DB9-315D-9BFC-AD47D93B421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C38A776-3ECE-F255-245A-8A79770B770F}"/>
              </a:ext>
            </a:extLst>
          </p:cNvPr>
          <p:cNvSpPr>
            <a:spLocks noGrp="1"/>
          </p:cNvSpPr>
          <p:nvPr>
            <p:ph type="sldNum" sz="quarter" idx="12"/>
          </p:nvPr>
        </p:nvSpPr>
        <p:spPr/>
        <p:txBody>
          <a:bodyPr/>
          <a:lstStyle/>
          <a:p>
            <a:fld id="{B6E4B63B-C74A-42DD-8D4A-389DD1C848DC}" type="slidenum">
              <a:rPr lang="en-CA" smtClean="0"/>
              <a:t>‹#›</a:t>
            </a:fld>
            <a:endParaRPr lang="en-CA"/>
          </a:p>
        </p:txBody>
      </p:sp>
    </p:spTree>
    <p:extLst>
      <p:ext uri="{BB962C8B-B14F-4D97-AF65-F5344CB8AC3E}">
        <p14:creationId xmlns:p14="http://schemas.microsoft.com/office/powerpoint/2010/main" val="2463265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Plain">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0071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 Text">
    <p:spTree>
      <p:nvGrpSpPr>
        <p:cNvPr id="1" name=""/>
        <p:cNvGrpSpPr/>
        <p:nvPr/>
      </p:nvGrpSpPr>
      <p:grpSpPr>
        <a:xfrm>
          <a:off x="0" y="0"/>
          <a:ext cx="0" cy="0"/>
          <a:chOff x="0" y="0"/>
          <a:chExt cx="0" cy="0"/>
        </a:xfrm>
      </p:grpSpPr>
      <p:sp>
        <p:nvSpPr>
          <p:cNvPr id="2" name="Slide title placeholder"/>
          <p:cNvSpPr>
            <a:spLocks noGrp="1"/>
          </p:cNvSpPr>
          <p:nvPr>
            <p:ph type="title"/>
          </p:nvPr>
        </p:nvSpPr>
        <p:spPr>
          <a:xfrm>
            <a:off x="480000" y="72000"/>
            <a:ext cx="9360000" cy="900000"/>
          </a:xfrm>
          <a:prstGeom prst="rect">
            <a:avLst/>
          </a:prstGeom>
        </p:spPr>
        <p:txBody>
          <a:bodyPr wrap="square" lIns="0" tIns="0" rIns="0" bIns="0" anchor="ctr" anchorCtr="0">
            <a:noAutofit/>
          </a:bodyPr>
          <a:lstStyle>
            <a:lvl1pPr marL="457200" indent="-457200" algn="l">
              <a:buFont typeface="Arial" panose="020B0604020202020204" pitchFamily="34" charset="0"/>
              <a:buNone/>
              <a:defRPr lang="en-CA" sz="2800" b="1" baseline="0">
                <a:solidFill>
                  <a:srgbClr val="004D85"/>
                </a:solidFill>
                <a:latin typeface="Arial" panose="020B0604020202020204" pitchFamily="34" charset="0"/>
                <a:ea typeface="+mn-ea"/>
                <a:cs typeface="Arial" panose="020B0604020202020204" pitchFamily="34" charset="0"/>
              </a:defRPr>
            </a:lvl1pPr>
          </a:lstStyle>
          <a:p>
            <a:pPr marL="0" marR="0" lvl="0" indent="0" algn="l" fontAlgn="auto">
              <a:lnSpc>
                <a:spcPct val="100000"/>
              </a:lnSpc>
              <a:spcBef>
                <a:spcPct val="20000"/>
              </a:spcBef>
              <a:spcAft>
                <a:spcPts val="0"/>
              </a:spcAft>
              <a:buClrTx/>
              <a:buSzTx/>
              <a:buFont typeface="Arial" panose="020B0604020202020204" pitchFamily="34" charset="0"/>
              <a:tabLst/>
            </a:pPr>
            <a:r>
              <a:rPr lang="en-US" noProof="0"/>
              <a:t>Click to edit Master title style</a:t>
            </a:r>
            <a:endParaRPr lang="en-CA" noProof="0"/>
          </a:p>
        </p:txBody>
      </p:sp>
      <p:sp>
        <p:nvSpPr>
          <p:cNvPr id="14" name="Slide text placeholder">
            <a:extLst>
              <a:ext uri="{FF2B5EF4-FFF2-40B4-BE49-F238E27FC236}">
                <a16:creationId xmlns:a16="http://schemas.microsoft.com/office/drawing/2014/main" id="{74A09AE4-4528-4E57-9872-4924558F1062}"/>
              </a:ext>
            </a:extLst>
          </p:cNvPr>
          <p:cNvSpPr>
            <a:spLocks noGrp="1"/>
          </p:cNvSpPr>
          <p:nvPr>
            <p:ph type="body" sz="quarter" idx="12"/>
          </p:nvPr>
        </p:nvSpPr>
        <p:spPr>
          <a:xfrm>
            <a:off x="480000" y="1080000"/>
            <a:ext cx="11280000" cy="5040000"/>
          </a:xfrm>
        </p:spPr>
        <p:txBody>
          <a:bodyPr wrap="square">
            <a:noAutofit/>
          </a:bodyPr>
          <a:lstStyle>
            <a:lvl1pPr>
              <a:defRPr>
                <a:solidFill>
                  <a:srgbClr val="004D85"/>
                </a:solidFill>
              </a:defRPr>
            </a:lvl1pPr>
          </a:lstStyle>
          <a:p>
            <a:pPr lvl="0"/>
            <a:r>
              <a:rPr lang="en-US" noProof="0" dirty="0"/>
              <a:t>Edit Master text styles</a:t>
            </a:r>
          </a:p>
        </p:txBody>
      </p:sp>
      <p:sp>
        <p:nvSpPr>
          <p:cNvPr id="3" name="Slide number placeholder">
            <a:extLst>
              <a:ext uri="{FF2B5EF4-FFF2-40B4-BE49-F238E27FC236}">
                <a16:creationId xmlns:a16="http://schemas.microsoft.com/office/drawing/2014/main" id="{B1746E9B-7D57-4E19-B6A6-41F09EB1A5DE}"/>
              </a:ext>
              <a:ext uri="{C183D7F6-B498-43B3-948B-1728B52AA6E4}">
                <adec:decorative xmlns:adec="http://schemas.microsoft.com/office/drawing/2017/decorative" val="1"/>
              </a:ext>
            </a:extLst>
          </p:cNvPr>
          <p:cNvSpPr>
            <a:spLocks noGrp="1"/>
          </p:cNvSpPr>
          <p:nvPr>
            <p:ph type="sldNum" sz="quarter" idx="11"/>
          </p:nvPr>
        </p:nvSpPr>
        <p:spPr/>
        <p:txBody>
          <a:bodyPr wrap="square">
            <a:noAutofit/>
          </a:bodyPr>
          <a:lstStyle>
            <a:lvl1pPr>
              <a:defRPr>
                <a:solidFill>
                  <a:srgbClr val="004D85"/>
                </a:solidFill>
              </a:defRPr>
            </a:lvl1pPr>
          </a:lstStyle>
          <a:p>
            <a:fld id="{C42F5A24-FAD5-448B-90C7-C38AA06B112A}" type="slidenum">
              <a:rPr lang="en-CA" smtClean="0"/>
              <a:pPr/>
              <a:t>‹#›</a:t>
            </a:fld>
            <a:endParaRPr lang="en-CA"/>
          </a:p>
        </p:txBody>
      </p:sp>
      <p:sp>
        <p:nvSpPr>
          <p:cNvPr id="8" name="Grey line">
            <a:extLst>
              <a:ext uri="{FF2B5EF4-FFF2-40B4-BE49-F238E27FC236}">
                <a16:creationId xmlns:a16="http://schemas.microsoft.com/office/drawing/2014/main" id="{BD4A3E16-F7D0-4719-9A23-60FC2CD342CC}"/>
              </a:ext>
            </a:extLst>
          </p:cNvPr>
          <p:cNvSpPr>
            <a:spLocks/>
          </p:cNvSpPr>
          <p:nvPr userDrawn="1"/>
        </p:nvSpPr>
        <p:spPr bwMode="auto">
          <a:xfrm>
            <a:off x="9266818" y="786312"/>
            <a:ext cx="2908300" cy="50400"/>
          </a:xfrm>
          <a:custGeom>
            <a:avLst/>
            <a:gdLst>
              <a:gd name="T0" fmla="*/ 96 w 1374"/>
              <a:gd name="T1" fmla="*/ 0 h 95"/>
              <a:gd name="T2" fmla="*/ 90 w 1374"/>
              <a:gd name="T3" fmla="*/ 0 h 95"/>
              <a:gd name="T4" fmla="*/ 0 w 1374"/>
              <a:gd name="T5" fmla="*/ 95 h 95"/>
              <a:gd name="T6" fmla="*/ 6 w 1374"/>
              <a:gd name="T7" fmla="*/ 95 h 95"/>
              <a:gd name="T8" fmla="*/ 1374 w 1374"/>
              <a:gd name="T9" fmla="*/ 95 h 95"/>
              <a:gd name="T10" fmla="*/ 1374 w 1374"/>
              <a:gd name="T11" fmla="*/ 0 h 95"/>
              <a:gd name="T12" fmla="*/ 96 w 13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374" h="95">
                <a:moveTo>
                  <a:pt x="96" y="0"/>
                </a:moveTo>
                <a:lnTo>
                  <a:pt x="90" y="0"/>
                </a:lnTo>
                <a:lnTo>
                  <a:pt x="0" y="95"/>
                </a:lnTo>
                <a:lnTo>
                  <a:pt x="6" y="95"/>
                </a:lnTo>
                <a:lnTo>
                  <a:pt x="1374" y="95"/>
                </a:lnTo>
                <a:lnTo>
                  <a:pt x="1374" y="0"/>
                </a:lnTo>
                <a:lnTo>
                  <a:pt x="96"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CA" sz="1800" noProof="0"/>
          </a:p>
        </p:txBody>
      </p:sp>
      <p:sp>
        <p:nvSpPr>
          <p:cNvPr id="9" name="Blue line">
            <a:extLst>
              <a:ext uri="{FF2B5EF4-FFF2-40B4-BE49-F238E27FC236}">
                <a16:creationId xmlns:a16="http://schemas.microsoft.com/office/drawing/2014/main" id="{C3FD8348-C76A-4BA2-896A-4DC789645AA6}"/>
              </a:ext>
            </a:extLst>
          </p:cNvPr>
          <p:cNvSpPr>
            <a:spLocks/>
          </p:cNvSpPr>
          <p:nvPr userDrawn="1"/>
        </p:nvSpPr>
        <p:spPr bwMode="auto">
          <a:xfrm>
            <a:off x="-16884" y="786312"/>
            <a:ext cx="9504000" cy="50400"/>
          </a:xfrm>
          <a:custGeom>
            <a:avLst/>
            <a:gdLst>
              <a:gd name="T0" fmla="*/ 4398 w 4398"/>
              <a:gd name="T1" fmla="*/ 0 h 95"/>
              <a:gd name="T2" fmla="*/ 0 w 4398"/>
              <a:gd name="T3" fmla="*/ 0 h 95"/>
              <a:gd name="T4" fmla="*/ 0 w 4398"/>
              <a:gd name="T5" fmla="*/ 95 h 95"/>
              <a:gd name="T6" fmla="*/ 4302 w 4398"/>
              <a:gd name="T7" fmla="*/ 95 h 95"/>
              <a:gd name="T8" fmla="*/ 4398 w 4398"/>
              <a:gd name="T9" fmla="*/ 0 h 95"/>
            </a:gdLst>
            <a:ahLst/>
            <a:cxnLst>
              <a:cxn ang="0">
                <a:pos x="T0" y="T1"/>
              </a:cxn>
              <a:cxn ang="0">
                <a:pos x="T2" y="T3"/>
              </a:cxn>
              <a:cxn ang="0">
                <a:pos x="T4" y="T5"/>
              </a:cxn>
              <a:cxn ang="0">
                <a:pos x="T6" y="T7"/>
              </a:cxn>
              <a:cxn ang="0">
                <a:pos x="T8" y="T9"/>
              </a:cxn>
            </a:cxnLst>
            <a:rect l="0" t="0" r="r" b="b"/>
            <a:pathLst>
              <a:path w="4398" h="95">
                <a:moveTo>
                  <a:pt x="4398" y="0"/>
                </a:moveTo>
                <a:lnTo>
                  <a:pt x="0" y="0"/>
                </a:lnTo>
                <a:lnTo>
                  <a:pt x="0" y="95"/>
                </a:lnTo>
                <a:lnTo>
                  <a:pt x="4302" y="95"/>
                </a:lnTo>
                <a:lnTo>
                  <a:pt x="4398" y="0"/>
                </a:lnTo>
                <a:close/>
              </a:path>
            </a:pathLst>
          </a:custGeom>
          <a:solidFill>
            <a:srgbClr val="004D85"/>
          </a:solidFill>
          <a:ln>
            <a:noFill/>
          </a:ln>
        </p:spPr>
        <p:txBody>
          <a:bodyPr vert="horz" wrap="square" lIns="91440" tIns="45720" rIns="91440" bIns="45720" numCol="1" anchor="t" anchorCtr="0" compatLnSpc="1">
            <a:prstTxWarp prst="textNoShape">
              <a:avLst/>
            </a:prstTxWarp>
            <a:noAutofit/>
          </a:bodyPr>
          <a:lstStyle/>
          <a:p>
            <a:endParaRPr lang="en-CA" sz="1800" noProof="0"/>
          </a:p>
        </p:txBody>
      </p:sp>
    </p:spTree>
    <p:extLst>
      <p:ext uri="{BB962C8B-B14F-4D97-AF65-F5344CB8AC3E}">
        <p14:creationId xmlns:p14="http://schemas.microsoft.com/office/powerpoint/2010/main" val="30308963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One column, Tex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924A17D-8B44-A781-48AB-10CB28A57037}"/>
              </a:ext>
            </a:extLst>
          </p:cNvPr>
          <p:cNvSpPr>
            <a:spLocks noGrp="1"/>
          </p:cNvSpPr>
          <p:nvPr>
            <p:ph type="title" hasCustomPrompt="1"/>
          </p:nvPr>
        </p:nvSpPr>
        <p:spPr>
          <a:xfrm>
            <a:off x="533400" y="472558"/>
            <a:ext cx="11087100" cy="697541"/>
          </a:xfrm>
        </p:spPr>
        <p:txBody>
          <a:bodyPr/>
          <a:lstStyle/>
          <a:p>
            <a:r>
              <a:rPr lang="en-US" sz="4800" b="1">
                <a:ea typeface="MS PGothic"/>
                <a:cs typeface="Calibri"/>
              </a:rPr>
              <a:t>Slide Heading</a:t>
            </a:r>
            <a:endParaRPr lang="en-US" sz="4800" b="1"/>
          </a:p>
        </p:txBody>
      </p:sp>
      <p:sp>
        <p:nvSpPr>
          <p:cNvPr id="16" name="Text Placeholder 15">
            <a:extLst>
              <a:ext uri="{FF2B5EF4-FFF2-40B4-BE49-F238E27FC236}">
                <a16:creationId xmlns:a16="http://schemas.microsoft.com/office/drawing/2014/main" id="{7C97DA7B-2FE4-56D8-EEF9-944BEDD8FADC}"/>
              </a:ext>
            </a:extLst>
          </p:cNvPr>
          <p:cNvSpPr>
            <a:spLocks noGrp="1"/>
          </p:cNvSpPr>
          <p:nvPr>
            <p:ph type="body" sz="quarter" idx="10" hasCustomPrompt="1"/>
          </p:nvPr>
        </p:nvSpPr>
        <p:spPr>
          <a:xfrm>
            <a:off x="539839" y="231914"/>
            <a:ext cx="11087100" cy="184666"/>
          </a:xfrm>
        </p:spPr>
        <p:txBody>
          <a:bodyPr>
            <a:spAutoFit/>
          </a:bodyPr>
          <a:lstStyle>
            <a:lvl1pPr>
              <a:defRPr sz="1200" b="0">
                <a:latin typeface="+mj-lt"/>
              </a:defRPr>
            </a:lvl1pPr>
            <a:lvl2pPr>
              <a:defRPr sz="1200" b="1">
                <a:latin typeface="+mj-lt"/>
              </a:defRPr>
            </a:lvl2pPr>
            <a:lvl3pPr>
              <a:defRPr sz="1200" b="1">
                <a:latin typeface="+mj-lt"/>
              </a:defRPr>
            </a:lvl3pPr>
            <a:lvl4pPr>
              <a:defRPr sz="1200" b="1">
                <a:latin typeface="+mj-lt"/>
              </a:defRPr>
            </a:lvl4pPr>
            <a:lvl5pPr>
              <a:defRPr sz="1200" b="1">
                <a:latin typeface="+mj-lt"/>
              </a:defRPr>
            </a:lvl5pPr>
          </a:lstStyle>
          <a:p>
            <a:pPr marL="0" marR="0" lvl="0" indent="0"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None/>
              <a:tabLst/>
              <a:defRPr/>
            </a:pPr>
            <a:r>
              <a:rPr lang="en-US" sz="1200" b="1" kern="0"/>
              <a:t>PRESENTATION TITLE (optional – remove if not required)</a:t>
            </a:r>
          </a:p>
        </p:txBody>
      </p:sp>
      <p:sp>
        <p:nvSpPr>
          <p:cNvPr id="2" name="Text Placeholder 3">
            <a:extLst>
              <a:ext uri="{FF2B5EF4-FFF2-40B4-BE49-F238E27FC236}">
                <a16:creationId xmlns:a16="http://schemas.microsoft.com/office/drawing/2014/main" id="{127CB8F1-624E-D52E-48C2-CA0AB1531B24}"/>
              </a:ext>
            </a:extLst>
          </p:cNvPr>
          <p:cNvSpPr>
            <a:spLocks noGrp="1"/>
          </p:cNvSpPr>
          <p:nvPr>
            <p:ph type="body" sz="quarter" idx="11" hasCustomPrompt="1"/>
          </p:nvPr>
        </p:nvSpPr>
        <p:spPr>
          <a:xfrm>
            <a:off x="539839" y="1943100"/>
            <a:ext cx="11087100" cy="4533900"/>
          </a:xfrm>
        </p:spPr>
        <p:txBody>
          <a:bodyPr numCol="1" spcCol="457200"/>
          <a:lstStyle>
            <a:lvl1pPr marL="0" indent="0">
              <a:buFont typeface="Arial" panose="020B0604020202020204" pitchFamily="34" charset="0"/>
              <a:buNone/>
              <a:defRPr/>
            </a:lvl1pPr>
            <a:lvl5pPr marL="914400" indent="0">
              <a:buNone/>
              <a:defRPr/>
            </a:lvl5pPr>
          </a:lstStyle>
          <a:p>
            <a:pPr>
              <a:buClr>
                <a:srgbClr val="049FDC"/>
              </a:buClr>
              <a:buSzPct val="105000"/>
            </a:pPr>
            <a:r>
              <a:rPr lang="en-US"/>
              <a:t>Click to add your content….. </a:t>
            </a:r>
            <a:r>
              <a:rPr lang="en-US" sz="2200">
                <a:ea typeface="MS PGothic"/>
                <a:cs typeface="Calibri"/>
              </a:rPr>
              <a:t>Lorem ipsum dolor sit </a:t>
            </a:r>
            <a:r>
              <a:rPr lang="en-US" sz="2200" err="1">
                <a:ea typeface="MS PGothic"/>
                <a:cs typeface="Calibri"/>
              </a:rPr>
              <a:t>amet</a:t>
            </a:r>
            <a:r>
              <a:rPr lang="en-US" sz="2200">
                <a:ea typeface="MS PGothic"/>
                <a:cs typeface="Calibri"/>
              </a:rPr>
              <a:t>, </a:t>
            </a:r>
            <a:r>
              <a:rPr lang="en-US" sz="2200" err="1">
                <a:ea typeface="MS PGothic"/>
                <a:cs typeface="Calibri"/>
              </a:rPr>
              <a:t>consectetuer</a:t>
            </a:r>
            <a:r>
              <a:rPr lang="en-US" sz="2200">
                <a:ea typeface="MS PGothic"/>
                <a:cs typeface="Calibri"/>
              </a:rPr>
              <a:t> </a:t>
            </a:r>
            <a:r>
              <a:rPr lang="en-US" sz="2200" err="1">
                <a:ea typeface="MS PGothic"/>
                <a:cs typeface="Calibri"/>
              </a:rPr>
              <a:t>adipiscing</a:t>
            </a:r>
            <a:r>
              <a:rPr lang="en-US" sz="2200">
                <a:ea typeface="MS PGothic"/>
                <a:cs typeface="Calibri"/>
              </a:rPr>
              <a:t> </a:t>
            </a:r>
            <a:r>
              <a:rPr lang="en-US" sz="2200" err="1">
                <a:ea typeface="MS PGothic"/>
                <a:cs typeface="Calibri"/>
              </a:rPr>
              <a:t>elit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a:t>
            </a:r>
            <a:r>
              <a:rPr lang="en-US" sz="2200">
                <a:ea typeface="MS PGothic"/>
                <a:cs typeface="Calibri"/>
              </a:rPr>
              <a:t>.</a:t>
            </a:r>
          </a:p>
          <a:p>
            <a:pPr lvl="0"/>
            <a:r>
              <a:rPr lang="en-US" sz="2200">
                <a:ea typeface="MS PGothic"/>
                <a:cs typeface="Calibri"/>
              </a:rPr>
              <a:t>Lorem ipsum dolor sit </a:t>
            </a:r>
            <a:r>
              <a:rPr lang="en-US" sz="2200" err="1">
                <a:ea typeface="MS PGothic"/>
                <a:cs typeface="Calibri"/>
              </a:rPr>
              <a:t>amet</a:t>
            </a:r>
            <a:r>
              <a:rPr lang="en-US" sz="2200">
                <a:ea typeface="MS PGothic"/>
                <a:cs typeface="Calibri"/>
              </a:rPr>
              <a:t>, </a:t>
            </a:r>
            <a:r>
              <a:rPr lang="en-US" sz="2200" err="1">
                <a:ea typeface="MS PGothic"/>
                <a:cs typeface="Calibri"/>
              </a:rPr>
              <a:t>consectetuer</a:t>
            </a:r>
            <a:r>
              <a:rPr lang="en-US" sz="2200">
                <a:ea typeface="MS PGothic"/>
                <a:cs typeface="Calibri"/>
              </a:rPr>
              <a:t> </a:t>
            </a:r>
            <a:r>
              <a:rPr lang="en-US" sz="2200" err="1">
                <a:ea typeface="MS PGothic"/>
                <a:cs typeface="Calibri"/>
              </a:rPr>
              <a:t>adipiscing</a:t>
            </a:r>
            <a:r>
              <a:rPr lang="en-US" sz="2200">
                <a:ea typeface="MS PGothic"/>
                <a:cs typeface="Calibri"/>
              </a:rPr>
              <a:t> </a:t>
            </a:r>
            <a:r>
              <a:rPr lang="en-US" sz="2200" err="1">
                <a:ea typeface="MS PGothic"/>
                <a:cs typeface="Calibri"/>
              </a:rPr>
              <a:t>elit</a:t>
            </a:r>
            <a:r>
              <a:rPr lang="en-US" sz="2200">
                <a:ea typeface="MS PGothic"/>
                <a:cs typeface="Calibri"/>
              </a:rPr>
              <a:t>, sed diam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a:t>
            </a:r>
            <a:r>
              <a:rPr lang="en-US" sz="2200">
                <a:ea typeface="MS PGothic"/>
                <a:cs typeface="Calibri"/>
              </a:rPr>
              <a:t>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mod </a:t>
            </a:r>
            <a:r>
              <a:rPr lang="en-US" sz="2200" err="1">
                <a:ea typeface="MS PGothic"/>
                <a:cs typeface="Calibri"/>
              </a:rPr>
              <a:t>nonummy</a:t>
            </a:r>
            <a:r>
              <a:rPr lang="en-US" sz="2200">
                <a:ea typeface="MS PGothic"/>
                <a:cs typeface="Calibri"/>
              </a:rPr>
              <a:t> </a:t>
            </a:r>
            <a:r>
              <a:rPr lang="en-US" sz="2200" err="1">
                <a:ea typeface="MS PGothic"/>
                <a:cs typeface="Calibri"/>
              </a:rPr>
              <a:t>nibh</a:t>
            </a:r>
            <a:r>
              <a:rPr lang="en-US" sz="2200">
                <a:ea typeface="MS PGothic"/>
                <a:cs typeface="Calibri"/>
              </a:rPr>
              <a:t> </a:t>
            </a:r>
            <a:r>
              <a:rPr lang="en-US" sz="2200" err="1">
                <a:ea typeface="MS PGothic"/>
                <a:cs typeface="Calibri"/>
              </a:rPr>
              <a:t>euismod</a:t>
            </a:r>
            <a:r>
              <a:rPr lang="en-US" sz="2200">
                <a:ea typeface="MS PGothic"/>
                <a:cs typeface="Calibri"/>
              </a:rPr>
              <a:t> </a:t>
            </a:r>
            <a:r>
              <a:rPr lang="en-US" sz="2200" err="1">
                <a:ea typeface="MS PGothic"/>
                <a:cs typeface="Calibri"/>
              </a:rPr>
              <a:t>tincidunt</a:t>
            </a:r>
            <a:r>
              <a:rPr lang="en-US" sz="2200">
                <a:ea typeface="MS PGothic"/>
                <a:cs typeface="Calibri"/>
              </a:rPr>
              <a:t> </a:t>
            </a:r>
            <a:r>
              <a:rPr lang="en-US" sz="2200" err="1">
                <a:ea typeface="MS PGothic"/>
                <a:cs typeface="Calibri"/>
              </a:rPr>
              <a:t>ut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a:t>
            </a:r>
            <a:r>
              <a:rPr lang="en-US" sz="2200">
                <a:ea typeface="MS PGothic"/>
                <a:cs typeface="Calibri"/>
              </a:rPr>
              <a:t>. </a:t>
            </a:r>
            <a:r>
              <a:rPr lang="en-US" sz="2200" err="1">
                <a:ea typeface="MS PGothic"/>
                <a:cs typeface="Calibri"/>
              </a:rPr>
              <a:t>laoreet</a:t>
            </a:r>
            <a:r>
              <a:rPr lang="en-US" sz="2200">
                <a:ea typeface="MS PGothic"/>
                <a:cs typeface="Calibri"/>
              </a:rPr>
              <a:t> dolore magna </a:t>
            </a:r>
            <a:r>
              <a:rPr lang="en-US" sz="2200" err="1">
                <a:ea typeface="MS PGothic"/>
                <a:cs typeface="Calibri"/>
              </a:rPr>
              <a:t>aliquam</a:t>
            </a:r>
            <a:r>
              <a:rPr lang="en-US" sz="2200">
                <a:ea typeface="MS PGothic"/>
                <a:cs typeface="Calibri"/>
              </a:rPr>
              <a:t> </a:t>
            </a:r>
            <a:r>
              <a:rPr lang="en-US" sz="2200" err="1">
                <a:ea typeface="MS PGothic"/>
                <a:cs typeface="Calibri"/>
              </a:rPr>
              <a:t>erat</a:t>
            </a:r>
            <a:r>
              <a:rPr lang="en-US" sz="2200">
                <a:ea typeface="MS PGothic"/>
                <a:cs typeface="Calibri"/>
              </a:rPr>
              <a:t> </a:t>
            </a:r>
            <a:r>
              <a:rPr lang="en-US" sz="2200" err="1">
                <a:ea typeface="MS PGothic"/>
                <a:cs typeface="Calibri"/>
              </a:rPr>
              <a:t>volutpatt</a:t>
            </a:r>
            <a:r>
              <a:rPr lang="en-US" sz="2200">
                <a:ea typeface="MS PGothic"/>
                <a:cs typeface="Calibri"/>
              </a:rPr>
              <a:t>.</a:t>
            </a:r>
            <a:r>
              <a:rPr lang="en-US"/>
              <a:t> </a:t>
            </a:r>
          </a:p>
          <a:p>
            <a:pPr lvl="0"/>
            <a:r>
              <a:rPr lang="en-US"/>
              <a:t>Click to edit Master text styles</a:t>
            </a:r>
          </a:p>
          <a:p>
            <a:pPr lvl="1"/>
            <a:r>
              <a:rPr lang="en-US"/>
              <a:t>Bullet List</a:t>
            </a:r>
          </a:p>
          <a:p>
            <a:pPr lvl="2"/>
            <a:r>
              <a:rPr lang="en-US"/>
              <a:t>Second level</a:t>
            </a:r>
          </a:p>
          <a:p>
            <a:pPr lvl="3"/>
            <a:r>
              <a:rPr lang="en-US"/>
              <a:t>Third level</a:t>
            </a:r>
          </a:p>
          <a:p>
            <a:pPr lvl="4"/>
            <a:r>
              <a:rPr lang="en-US"/>
              <a:t>Fourth level</a:t>
            </a:r>
          </a:p>
          <a:p>
            <a:pPr lvl="5"/>
            <a:r>
              <a:rPr lang="en-US"/>
              <a:t>Fifth level</a:t>
            </a:r>
          </a:p>
          <a:p>
            <a:pPr lvl="6"/>
            <a:r>
              <a:rPr lang="en-US"/>
              <a:t>Sixth level</a:t>
            </a:r>
          </a:p>
          <a:p>
            <a:pPr lvl="7"/>
            <a:r>
              <a:rPr lang="en-US"/>
              <a:t>Seventh level</a:t>
            </a:r>
          </a:p>
          <a:p>
            <a:pPr lvl="0"/>
            <a:endParaRPr lang="en-US"/>
          </a:p>
        </p:txBody>
      </p:sp>
    </p:spTree>
    <p:extLst>
      <p:ext uri="{BB962C8B-B14F-4D97-AF65-F5344CB8AC3E}">
        <p14:creationId xmlns:p14="http://schemas.microsoft.com/office/powerpoint/2010/main" val="7009526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c_ContentGEMINI">
  <p:cSld name="1c_ContentGEMINI">
    <p:spTree>
      <p:nvGrpSpPr>
        <p:cNvPr id="1" name="Shape 63"/>
        <p:cNvGrpSpPr/>
        <p:nvPr/>
      </p:nvGrpSpPr>
      <p:grpSpPr>
        <a:xfrm>
          <a:off x="0" y="0"/>
          <a:ext cx="0" cy="0"/>
          <a:chOff x="0" y="0"/>
          <a:chExt cx="0" cy="0"/>
        </a:xfrm>
      </p:grpSpPr>
      <p:sp>
        <p:nvSpPr>
          <p:cNvPr id="64" name="Google Shape;64;p15"/>
          <p:cNvSpPr txBox="1">
            <a:spLocks noGrp="1"/>
          </p:cNvSpPr>
          <p:nvPr>
            <p:ph type="dt" idx="10"/>
          </p:nvPr>
        </p:nvSpPr>
        <p:spPr>
          <a:xfrm>
            <a:off x="838200" y="6356353"/>
            <a:ext cx="2743200" cy="3652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5" name="Google Shape;65;p15"/>
          <p:cNvSpPr txBox="1">
            <a:spLocks noGrp="1"/>
          </p:cNvSpPr>
          <p:nvPr>
            <p:ph type="ftr" idx="11"/>
          </p:nvPr>
        </p:nvSpPr>
        <p:spPr>
          <a:xfrm>
            <a:off x="4038600" y="6356355"/>
            <a:ext cx="4114800" cy="3652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6" name="Google Shape;66;p15"/>
          <p:cNvSpPr txBox="1">
            <a:spLocks noGrp="1"/>
          </p:cNvSpPr>
          <p:nvPr>
            <p:ph type="sldNum" idx="12"/>
          </p:nvPr>
        </p:nvSpPr>
        <p:spPr>
          <a:xfrm>
            <a:off x="8610600" y="6356355"/>
            <a:ext cx="2743200" cy="3652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67" name="Google Shape;67;p15"/>
          <p:cNvSpPr txBox="1">
            <a:spLocks noGrp="1"/>
          </p:cNvSpPr>
          <p:nvPr>
            <p:ph type="title"/>
          </p:nvPr>
        </p:nvSpPr>
        <p:spPr>
          <a:xfrm>
            <a:off x="838199" y="286479"/>
            <a:ext cx="10515600" cy="769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rgbClr val="022061"/>
              </a:buClr>
              <a:buSzPts val="2300"/>
              <a:buNone/>
              <a:defRPr b="1"/>
            </a:lvl1pPr>
            <a:lvl2pPr lvl="1" algn="l" rtl="0">
              <a:lnSpc>
                <a:spcPct val="100000"/>
              </a:lnSpc>
              <a:spcBef>
                <a:spcPts val="0"/>
              </a:spcBef>
              <a:spcAft>
                <a:spcPts val="0"/>
              </a:spcAft>
              <a:buSzPts val="1100"/>
              <a:buNone/>
              <a:defRPr b="1"/>
            </a:lvl2pPr>
            <a:lvl3pPr lvl="2" algn="l" rtl="0">
              <a:lnSpc>
                <a:spcPct val="100000"/>
              </a:lnSpc>
              <a:spcBef>
                <a:spcPts val="0"/>
              </a:spcBef>
              <a:spcAft>
                <a:spcPts val="0"/>
              </a:spcAft>
              <a:buSzPts val="1100"/>
              <a:buNone/>
              <a:defRPr b="1"/>
            </a:lvl3pPr>
            <a:lvl4pPr lvl="3" algn="l" rtl="0">
              <a:lnSpc>
                <a:spcPct val="100000"/>
              </a:lnSpc>
              <a:spcBef>
                <a:spcPts val="0"/>
              </a:spcBef>
              <a:spcAft>
                <a:spcPts val="0"/>
              </a:spcAft>
              <a:buSzPts val="1100"/>
              <a:buNone/>
              <a:defRPr b="1"/>
            </a:lvl4pPr>
            <a:lvl5pPr lvl="4" algn="l" rtl="0">
              <a:lnSpc>
                <a:spcPct val="100000"/>
              </a:lnSpc>
              <a:spcBef>
                <a:spcPts val="0"/>
              </a:spcBef>
              <a:spcAft>
                <a:spcPts val="0"/>
              </a:spcAft>
              <a:buSzPts val="1100"/>
              <a:buNone/>
              <a:defRPr b="1"/>
            </a:lvl5pPr>
            <a:lvl6pPr lvl="5" algn="l" rtl="0">
              <a:lnSpc>
                <a:spcPct val="100000"/>
              </a:lnSpc>
              <a:spcBef>
                <a:spcPts val="0"/>
              </a:spcBef>
              <a:spcAft>
                <a:spcPts val="0"/>
              </a:spcAft>
              <a:buSzPts val="1100"/>
              <a:buNone/>
              <a:defRPr b="1"/>
            </a:lvl6pPr>
            <a:lvl7pPr lvl="6" algn="l" rtl="0">
              <a:lnSpc>
                <a:spcPct val="100000"/>
              </a:lnSpc>
              <a:spcBef>
                <a:spcPts val="0"/>
              </a:spcBef>
              <a:spcAft>
                <a:spcPts val="0"/>
              </a:spcAft>
              <a:buSzPts val="1100"/>
              <a:buNone/>
              <a:defRPr b="1"/>
            </a:lvl7pPr>
            <a:lvl8pPr lvl="7" algn="l" rtl="0">
              <a:lnSpc>
                <a:spcPct val="100000"/>
              </a:lnSpc>
              <a:spcBef>
                <a:spcPts val="0"/>
              </a:spcBef>
              <a:spcAft>
                <a:spcPts val="0"/>
              </a:spcAft>
              <a:buSzPts val="1100"/>
              <a:buNone/>
              <a:defRPr b="1"/>
            </a:lvl8pPr>
            <a:lvl9pPr lvl="8" algn="l" rtl="0">
              <a:lnSpc>
                <a:spcPct val="100000"/>
              </a:lnSpc>
              <a:spcBef>
                <a:spcPts val="0"/>
              </a:spcBef>
              <a:spcAft>
                <a:spcPts val="0"/>
              </a:spcAft>
              <a:buSzPts val="1100"/>
              <a:buNone/>
              <a:defRPr b="1"/>
            </a:lvl9pPr>
          </a:lstStyle>
          <a:p>
            <a:endParaRPr/>
          </a:p>
        </p:txBody>
      </p:sp>
      <p:pic>
        <p:nvPicPr>
          <p:cNvPr id="68" name="Google Shape;68;p15"/>
          <p:cNvPicPr preferRelativeResize="0"/>
          <p:nvPr/>
        </p:nvPicPr>
        <p:blipFill rotWithShape="1">
          <a:blip r:embed="rId2">
            <a:alphaModFix/>
          </a:blip>
          <a:srcRect/>
          <a:stretch/>
        </p:blipFill>
        <p:spPr>
          <a:xfrm>
            <a:off x="10025105" y="133171"/>
            <a:ext cx="1938295" cy="552139"/>
          </a:xfrm>
          <a:prstGeom prst="rect">
            <a:avLst/>
          </a:prstGeom>
          <a:noFill/>
          <a:ln>
            <a:noFill/>
          </a:ln>
        </p:spPr>
      </p:pic>
      <p:sp>
        <p:nvSpPr>
          <p:cNvPr id="69" name="Google Shape;69;p15"/>
          <p:cNvSpPr txBox="1">
            <a:spLocks noGrp="1"/>
          </p:cNvSpPr>
          <p:nvPr>
            <p:ph type="body" idx="1"/>
          </p:nvPr>
        </p:nvSpPr>
        <p:spPr>
          <a:xfrm>
            <a:off x="838200" y="1192925"/>
            <a:ext cx="10515600" cy="5240000"/>
          </a:xfrm>
          <a:prstGeom prst="rect">
            <a:avLst/>
          </a:prstGeom>
          <a:noFill/>
          <a:ln>
            <a:noFill/>
          </a:ln>
        </p:spPr>
        <p:txBody>
          <a:bodyPr spcFirstLastPara="1" wrap="square" lIns="68575" tIns="34275" rIns="68575" bIns="34275" anchor="t" anchorCtr="0">
            <a:normAutofit/>
          </a:bodyPr>
          <a:lstStyle>
            <a:lvl1pPr marL="609585" lvl="0" indent="-457189" algn="l" rtl="0">
              <a:lnSpc>
                <a:spcPct val="150000"/>
              </a:lnSpc>
              <a:spcBef>
                <a:spcPts val="0"/>
              </a:spcBef>
              <a:spcAft>
                <a:spcPts val="0"/>
              </a:spcAft>
              <a:buClr>
                <a:schemeClr val="dk1"/>
              </a:buClr>
              <a:buSzPts val="1800"/>
              <a:buChar char="•"/>
              <a:defRPr sz="2400"/>
            </a:lvl1pPr>
            <a:lvl2pPr marL="1219170" lvl="1" indent="-448722" algn="l" rtl="0">
              <a:lnSpc>
                <a:spcPct val="150000"/>
              </a:lnSpc>
              <a:spcBef>
                <a:spcPts val="0"/>
              </a:spcBef>
              <a:spcAft>
                <a:spcPts val="0"/>
              </a:spcAft>
              <a:buClr>
                <a:schemeClr val="dk1"/>
              </a:buClr>
              <a:buSzPts val="1700"/>
              <a:buChar char="•"/>
              <a:defRPr sz="2267"/>
            </a:lvl2pPr>
            <a:lvl3pPr marL="1828754" lvl="2" indent="-423323" algn="l" rtl="0">
              <a:lnSpc>
                <a:spcPct val="150000"/>
              </a:lnSpc>
              <a:spcBef>
                <a:spcPts val="0"/>
              </a:spcBef>
              <a:spcAft>
                <a:spcPts val="0"/>
              </a:spcAft>
              <a:buClr>
                <a:schemeClr val="dk1"/>
              </a:buClr>
              <a:buSzPts val="1400"/>
              <a:buChar char="•"/>
              <a:defRPr sz="1867"/>
            </a:lvl3pPr>
            <a:lvl4pPr marL="2438339" lvl="3" indent="-423323" algn="l" rtl="0">
              <a:lnSpc>
                <a:spcPct val="150000"/>
              </a:lnSpc>
              <a:spcBef>
                <a:spcPts val="0"/>
              </a:spcBef>
              <a:spcAft>
                <a:spcPts val="0"/>
              </a:spcAft>
              <a:buClr>
                <a:schemeClr val="dk1"/>
              </a:buClr>
              <a:buSzPts val="1400"/>
              <a:buChar char="•"/>
              <a:defRPr/>
            </a:lvl4pPr>
            <a:lvl5pPr marL="3047924" lvl="4" indent="-423323" algn="l" rtl="0">
              <a:lnSpc>
                <a:spcPct val="150000"/>
              </a:lnSpc>
              <a:spcBef>
                <a:spcPts val="0"/>
              </a:spcBef>
              <a:spcAft>
                <a:spcPts val="0"/>
              </a:spcAft>
              <a:buClr>
                <a:schemeClr val="dk1"/>
              </a:buClr>
              <a:buSzPts val="1400"/>
              <a:buChar char="•"/>
              <a:defRPr/>
            </a:lvl5pPr>
            <a:lvl6pPr marL="3657509" lvl="5" indent="-423323" algn="l" rtl="0">
              <a:lnSpc>
                <a:spcPct val="150000"/>
              </a:lnSpc>
              <a:spcBef>
                <a:spcPts val="0"/>
              </a:spcBef>
              <a:spcAft>
                <a:spcPts val="0"/>
              </a:spcAft>
              <a:buClr>
                <a:schemeClr val="dk1"/>
              </a:buClr>
              <a:buSzPts val="1400"/>
              <a:buChar char="•"/>
              <a:defRPr>
                <a:latin typeface="Arial"/>
                <a:ea typeface="Arial"/>
                <a:cs typeface="Arial"/>
                <a:sym typeface="Arial"/>
              </a:defRPr>
            </a:lvl6pPr>
            <a:lvl7pPr marL="4267093" lvl="6" indent="-423323" algn="l" rtl="0">
              <a:lnSpc>
                <a:spcPct val="150000"/>
              </a:lnSpc>
              <a:spcBef>
                <a:spcPts val="0"/>
              </a:spcBef>
              <a:spcAft>
                <a:spcPts val="0"/>
              </a:spcAft>
              <a:buClr>
                <a:schemeClr val="dk1"/>
              </a:buClr>
              <a:buSzPts val="1400"/>
              <a:buChar char="•"/>
              <a:defRPr>
                <a:latin typeface="Arial"/>
                <a:ea typeface="Arial"/>
                <a:cs typeface="Arial"/>
                <a:sym typeface="Arial"/>
              </a:defRPr>
            </a:lvl7pPr>
            <a:lvl8pPr marL="4876678" lvl="7" indent="-423323" algn="l" rtl="0">
              <a:lnSpc>
                <a:spcPct val="150000"/>
              </a:lnSpc>
              <a:spcBef>
                <a:spcPts val="0"/>
              </a:spcBef>
              <a:spcAft>
                <a:spcPts val="0"/>
              </a:spcAft>
              <a:buClr>
                <a:schemeClr val="dk1"/>
              </a:buClr>
              <a:buSzPts val="1400"/>
              <a:buChar char="•"/>
              <a:defRPr>
                <a:latin typeface="Arial"/>
                <a:ea typeface="Arial"/>
                <a:cs typeface="Arial"/>
                <a:sym typeface="Arial"/>
              </a:defRPr>
            </a:lvl8pPr>
            <a:lvl9pPr marL="5486263" lvl="8" indent="-423323" algn="l" rtl="0">
              <a:lnSpc>
                <a:spcPct val="150000"/>
              </a:lnSpc>
              <a:spcBef>
                <a:spcPts val="0"/>
              </a:spcBef>
              <a:spcAft>
                <a:spcPts val="0"/>
              </a:spcAft>
              <a:buClr>
                <a:schemeClr val="dk1"/>
              </a:buClr>
              <a:buSzPts val="1400"/>
              <a:buChar char="•"/>
              <a:defRPr>
                <a:latin typeface="Arial"/>
                <a:ea typeface="Arial"/>
                <a:cs typeface="Arial"/>
                <a:sym typeface="Arial"/>
              </a:defRPr>
            </a:lvl9pPr>
          </a:lstStyle>
          <a:p>
            <a:endParaRPr/>
          </a:p>
        </p:txBody>
      </p:sp>
    </p:spTree>
    <p:extLst>
      <p:ext uri="{BB962C8B-B14F-4D97-AF65-F5344CB8AC3E}">
        <p14:creationId xmlns:p14="http://schemas.microsoft.com/office/powerpoint/2010/main" val="425148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6" Type="http://schemas.openxmlformats.org/officeDocument/2006/relationships/theme" Target="../theme/theme2.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9FAF4C-51DE-4492-827E-2850B7B10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C6B359D-DF7F-4AFF-8525-242822ABFD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44D6327-0598-4C20-9B7C-424C6CB8C7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70905B-DA29-4730-AC86-649455613FE8}" type="datetimeFigureOut">
              <a:rPr lang="en-CA" smtClean="0"/>
              <a:t>2026-02-11</a:t>
            </a:fld>
            <a:endParaRPr lang="en-CA"/>
          </a:p>
        </p:txBody>
      </p:sp>
      <p:sp>
        <p:nvSpPr>
          <p:cNvPr id="5" name="Footer Placeholder 4">
            <a:extLst>
              <a:ext uri="{FF2B5EF4-FFF2-40B4-BE49-F238E27FC236}">
                <a16:creationId xmlns:a16="http://schemas.microsoft.com/office/drawing/2014/main" id="{D6FDD868-3312-4E1C-B8E8-D91F54178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64D61E4F-B14C-4644-94BC-8A97F47AD3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E2337-FEDC-4FB7-877B-4637CA19A9F0}" type="slidenum">
              <a:rPr lang="en-CA" smtClean="0"/>
              <a:t>‹#›</a:t>
            </a:fld>
            <a:endParaRPr lang="en-CA"/>
          </a:p>
        </p:txBody>
      </p:sp>
    </p:spTree>
    <p:extLst>
      <p:ext uri="{BB962C8B-B14F-4D97-AF65-F5344CB8AC3E}">
        <p14:creationId xmlns:p14="http://schemas.microsoft.com/office/powerpoint/2010/main" val="324134762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9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AAC25E-B808-0BD3-B98F-744DAA7217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94B2DA8-BD62-9F87-6B4F-1BA63E948E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532C16E-CA56-D84E-4A80-6B385FC354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79B9D5-A958-44E1-9567-E9D44D3E1CE9}" type="datetimeFigureOut">
              <a:rPr lang="en-CA" smtClean="0"/>
              <a:t>2026-02-11</a:t>
            </a:fld>
            <a:endParaRPr lang="en-CA"/>
          </a:p>
        </p:txBody>
      </p:sp>
      <p:sp>
        <p:nvSpPr>
          <p:cNvPr id="5" name="Footer Placeholder 4">
            <a:extLst>
              <a:ext uri="{FF2B5EF4-FFF2-40B4-BE49-F238E27FC236}">
                <a16:creationId xmlns:a16="http://schemas.microsoft.com/office/drawing/2014/main" id="{06AFF800-3879-919E-345A-A70A046001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27DE067-093B-184D-E7EC-BEE09BB0D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E4B63B-C74A-42DD-8D4A-389DD1C848DC}" type="slidenum">
              <a:rPr lang="en-CA" smtClean="0"/>
              <a:t>‹#›</a:t>
            </a:fld>
            <a:endParaRPr lang="en-CA"/>
          </a:p>
        </p:txBody>
      </p:sp>
    </p:spTree>
    <p:extLst>
      <p:ext uri="{BB962C8B-B14F-4D97-AF65-F5344CB8AC3E}">
        <p14:creationId xmlns:p14="http://schemas.microsoft.com/office/powerpoint/2010/main" val="181859900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9.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3.jpeg"/></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jpeg"/></Relationships>
</file>

<file path=ppt/slides/_rels/slide3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1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_rels/slide3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38.sv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7.xml"/><Relationship Id="rId5" Type="http://schemas.openxmlformats.org/officeDocument/2006/relationships/image" Target="../media/image45.sv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30.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30.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30.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0.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30.xml"/><Relationship Id="rId5" Type="http://schemas.openxmlformats.org/officeDocument/2006/relationships/image" Target="../media/image57.pn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2.svg"/><Relationship Id="rId11" Type="http://schemas.openxmlformats.org/officeDocument/2006/relationships/image" Target="../media/image67.jpe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s>
</file>

<file path=ppt/slides/_rels/slide49.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58.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2.svg"/><Relationship Id="rId11" Type="http://schemas.openxmlformats.org/officeDocument/2006/relationships/image" Target="../media/image67.jpe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s>
</file>

<file path=ppt/slides/_rels/slide50.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17" Type="http://schemas.openxmlformats.org/officeDocument/2006/relationships/image" Target="../media/image58.png"/><Relationship Id="rId2" Type="http://schemas.openxmlformats.org/officeDocument/2006/relationships/notesSlide" Target="../notesSlides/notesSlide22.xml"/><Relationship Id="rId16" Type="http://schemas.openxmlformats.org/officeDocument/2006/relationships/image" Target="../media/image72.svg"/><Relationship Id="rId1" Type="http://schemas.openxmlformats.org/officeDocument/2006/relationships/slideLayout" Target="../slideLayouts/slideLayout2.xml"/><Relationship Id="rId6" Type="http://schemas.openxmlformats.org/officeDocument/2006/relationships/image" Target="../media/image62.svg"/><Relationship Id="rId11" Type="http://schemas.openxmlformats.org/officeDocument/2006/relationships/image" Target="../media/image67.jpe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 Id="rId14" Type="http://schemas.openxmlformats.org/officeDocument/2006/relationships/image" Target="../media/image70.svg"/></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extBox 1"/>
          <p:cNvSpPr txBox="1">
            <a:spLocks noChangeArrowheads="1"/>
          </p:cNvSpPr>
          <p:nvPr/>
        </p:nvSpPr>
        <p:spPr bwMode="auto">
          <a:xfrm>
            <a:off x="2298701" y="6485471"/>
            <a:ext cx="184731" cy="379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1400" u="sng">
                <a:solidFill>
                  <a:schemeClr val="tx1"/>
                </a:solidFill>
                <a:latin typeface="Arial" panose="020B0604020202020204" pitchFamily="34" charset="0"/>
                <a:ea typeface="MS PGothic" panose="020B0600070205080204" pitchFamily="34" charset="-128"/>
              </a:defRPr>
            </a:lvl1pPr>
            <a:lvl2pPr marL="742950" indent="-285750" eaLnBrk="0" hangingPunct="0">
              <a:defRPr sz="1400" u="sng">
                <a:solidFill>
                  <a:schemeClr val="tx1"/>
                </a:solidFill>
                <a:latin typeface="Arial" panose="020B0604020202020204" pitchFamily="34" charset="0"/>
                <a:ea typeface="MS PGothic" panose="020B0600070205080204" pitchFamily="34" charset="-128"/>
              </a:defRPr>
            </a:lvl2pPr>
            <a:lvl3pPr marL="1143000" indent="-228600" eaLnBrk="0" hangingPunct="0">
              <a:defRPr sz="1400" u="sng">
                <a:solidFill>
                  <a:schemeClr val="tx1"/>
                </a:solidFill>
                <a:latin typeface="Arial" panose="020B0604020202020204" pitchFamily="34" charset="0"/>
                <a:ea typeface="MS PGothic" panose="020B0600070205080204" pitchFamily="34" charset="-128"/>
              </a:defRPr>
            </a:lvl3pPr>
            <a:lvl4pPr marL="1600200" indent="-228600" eaLnBrk="0" hangingPunct="0">
              <a:defRPr sz="1400" u="sng">
                <a:solidFill>
                  <a:schemeClr val="tx1"/>
                </a:solidFill>
                <a:latin typeface="Arial" panose="020B0604020202020204" pitchFamily="34" charset="0"/>
                <a:ea typeface="MS PGothic" panose="020B0600070205080204" pitchFamily="34" charset="-128"/>
              </a:defRPr>
            </a:lvl4pPr>
            <a:lvl5pPr marL="2057400" indent="-228600" eaLnBrk="0" hangingPunct="0">
              <a:defRPr sz="1400" u="sng">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9pPr>
          </a:lstStyle>
          <a:p>
            <a:pPr marL="0" marR="0" lvl="0" indent="0" algn="l" defTabSz="609585" rtl="0" eaLnBrk="1" fontAlgn="base" latinLnBrk="0" hangingPunct="1">
              <a:lnSpc>
                <a:spcPct val="100000"/>
              </a:lnSpc>
              <a:spcBef>
                <a:spcPct val="0"/>
              </a:spcBef>
              <a:spcAft>
                <a:spcPct val="0"/>
              </a:spcAft>
              <a:buClrTx/>
              <a:buSzTx/>
              <a:buFontTx/>
              <a:buNone/>
              <a:tabLst/>
              <a:defRPr/>
            </a:pPr>
            <a:endParaRPr kumimoji="0" lang="en-US" altLang="en-US" sz="1867" b="0" i="0" u="sng"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
        <p:nvSpPr>
          <p:cNvPr id="33796" name="Rectangle 2"/>
          <p:cNvSpPr txBox="1">
            <a:spLocks noChangeArrowheads="1"/>
          </p:cNvSpPr>
          <p:nvPr/>
        </p:nvSpPr>
        <p:spPr bwMode="auto">
          <a:xfrm>
            <a:off x="741515" y="870856"/>
            <a:ext cx="11193185" cy="15365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t"/>
          <a:lstStyle>
            <a:lvl1pPr eaLnBrk="0" hangingPunct="0">
              <a:defRPr sz="1400" u="sng">
                <a:solidFill>
                  <a:schemeClr val="tx1"/>
                </a:solidFill>
                <a:latin typeface="Arial" panose="020B0604020202020204" pitchFamily="34" charset="0"/>
                <a:ea typeface="MS PGothic" panose="020B0600070205080204" pitchFamily="34" charset="-128"/>
              </a:defRPr>
            </a:lvl1pPr>
            <a:lvl2pPr marL="742950" indent="-285750" eaLnBrk="0" hangingPunct="0">
              <a:defRPr sz="1400" u="sng">
                <a:solidFill>
                  <a:schemeClr val="tx1"/>
                </a:solidFill>
                <a:latin typeface="Arial" panose="020B0604020202020204" pitchFamily="34" charset="0"/>
                <a:ea typeface="MS PGothic" panose="020B0600070205080204" pitchFamily="34" charset="-128"/>
              </a:defRPr>
            </a:lvl2pPr>
            <a:lvl3pPr marL="1143000" indent="-228600" eaLnBrk="0" hangingPunct="0">
              <a:defRPr sz="1400" u="sng">
                <a:solidFill>
                  <a:schemeClr val="tx1"/>
                </a:solidFill>
                <a:latin typeface="Arial" panose="020B0604020202020204" pitchFamily="34" charset="0"/>
                <a:ea typeface="MS PGothic" panose="020B0600070205080204" pitchFamily="34" charset="-128"/>
              </a:defRPr>
            </a:lvl3pPr>
            <a:lvl4pPr marL="1600200" indent="-228600" eaLnBrk="0" hangingPunct="0">
              <a:defRPr sz="1400" u="sng">
                <a:solidFill>
                  <a:schemeClr val="tx1"/>
                </a:solidFill>
                <a:latin typeface="Arial" panose="020B0604020202020204" pitchFamily="34" charset="0"/>
                <a:ea typeface="MS PGothic" panose="020B0600070205080204" pitchFamily="34" charset="-128"/>
              </a:defRPr>
            </a:lvl4pPr>
            <a:lvl5pPr marL="2057400" indent="-228600" eaLnBrk="0" hangingPunct="0">
              <a:defRPr sz="1400" u="sng">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1400" u="sng">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11F61"/>
                </a:solidFill>
                <a:effectLst/>
                <a:uLnTx/>
                <a:uFillTx/>
                <a:latin typeface="Arial" panose="020B0604020202020204" pitchFamily="34" charset="0"/>
                <a:ea typeface="MS PGothic" panose="020B0600070205080204" pitchFamily="34" charset="-128"/>
                <a:cs typeface="+mn-cs"/>
              </a:rPr>
              <a:t> Applications of AI in Internal Medicine</a:t>
            </a:r>
            <a:endParaRPr kumimoji="0" lang="en-CA" sz="3600" b="1" i="0" u="none" strike="noStrike" kern="1200" cap="none" spc="0" normalizeH="0" baseline="0" noProof="0" dirty="0">
              <a:ln>
                <a:noFill/>
              </a:ln>
              <a:solidFill>
                <a:srgbClr val="011F61"/>
              </a:solidFill>
              <a:effectLst/>
              <a:uLnTx/>
              <a:uFillTx/>
              <a:latin typeface="Arial" panose="020B0604020202020204" pitchFamily="34" charset="0"/>
              <a:ea typeface="MS PGothic" panose="020B0600070205080204" pitchFamily="34" charset="-128"/>
              <a:cs typeface="+mn-cs"/>
            </a:endParaRPr>
          </a:p>
        </p:txBody>
      </p:sp>
      <p:pic>
        <p:nvPicPr>
          <p:cNvPr id="7" name="Picture 6">
            <a:extLst>
              <a:ext uri="{FF2B5EF4-FFF2-40B4-BE49-F238E27FC236}">
                <a16:creationId xmlns:a16="http://schemas.microsoft.com/office/drawing/2014/main" id="{E9F8B613-7CDC-480B-A861-EC9D216708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2251" y="5900057"/>
            <a:ext cx="2696814" cy="776239"/>
          </a:xfrm>
          <a:prstGeom prst="rect">
            <a:avLst/>
          </a:prstGeom>
          <a:noFill/>
          <a:ln>
            <a:noFill/>
          </a:ln>
        </p:spPr>
      </p:pic>
      <p:pic>
        <p:nvPicPr>
          <p:cNvPr id="1026" name="Picture 2" descr="Image result for university of toronto logo">
            <a:extLst>
              <a:ext uri="{FF2B5EF4-FFF2-40B4-BE49-F238E27FC236}">
                <a16:creationId xmlns:a16="http://schemas.microsoft.com/office/drawing/2014/main" id="{4A4CF504-C67D-4F03-8C83-0DB0597096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2276" y="5414519"/>
            <a:ext cx="2272424" cy="12607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74A3B94-4211-A220-16E4-8D9667E85B96}"/>
              </a:ext>
            </a:extLst>
          </p:cNvPr>
          <p:cNvSpPr txBox="1"/>
          <p:nvPr/>
        </p:nvSpPr>
        <p:spPr>
          <a:xfrm>
            <a:off x="998815" y="2634684"/>
            <a:ext cx="11193185" cy="298543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1" i="0" u="none" strike="noStrike" kern="1200" cap="none" spc="0" normalizeH="0" baseline="0" noProof="0" dirty="0">
                <a:ln>
                  <a:noFill/>
                </a:ln>
                <a:solidFill>
                  <a:srgbClr val="011F61"/>
                </a:solidFill>
                <a:effectLst/>
                <a:uLnTx/>
                <a:uFillTx/>
                <a:latin typeface="Aptos" panose="02110004020202020204"/>
                <a:ea typeface="+mn-ea"/>
                <a:cs typeface="+mn-cs"/>
              </a:rPr>
              <a:t>Amol Verma| MD MPhil FRCPC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1200" cap="none" spc="0" normalizeH="0" baseline="0" noProof="0" dirty="0">
              <a:ln>
                <a:noFill/>
              </a:ln>
              <a:solidFill>
                <a:srgbClr val="011F61"/>
              </a:solidFill>
              <a:effectLst/>
              <a:uLnTx/>
              <a:uFillTx/>
              <a:latin typeface="Aptos" panose="02110004020202020204"/>
              <a:ea typeface="+mn-ea"/>
              <a:cs typeface="+mn-cs"/>
            </a:endParaRPr>
          </a:p>
          <a:p>
            <a:pPr marL="342900" indent="-342900">
              <a:buFont typeface="Arial" panose="020B0604020202020204" pitchFamily="34" charset="0"/>
              <a:buChar char="•"/>
            </a:pPr>
            <a:r>
              <a:rPr kumimoji="0" lang="en-CA" sz="2000" b="0" i="0" u="none" strike="noStrike" kern="1200" cap="none" spc="0" normalizeH="0" baseline="0" noProof="0" dirty="0">
                <a:ln>
                  <a:noFill/>
                </a:ln>
                <a:solidFill>
                  <a:srgbClr val="011F61"/>
                </a:solidFill>
                <a:effectLst/>
                <a:uLnTx/>
                <a:uFillTx/>
                <a:latin typeface="Aptos" panose="02110004020202020204"/>
                <a:ea typeface="+mn-ea"/>
                <a:cs typeface="+mn-cs"/>
              </a:rPr>
              <a:t>Clinician-Scientist, St Michael's Hospital, Unity Health Toronto </a:t>
            </a:r>
          </a:p>
          <a:p>
            <a:pPr marL="342900" lvl="0" indent="-342900">
              <a:buFont typeface="Arial" panose="020B0604020202020204" pitchFamily="34" charset="0"/>
              <a:buChar char="•"/>
            </a:pPr>
            <a:r>
              <a:rPr lang="en-CA" sz="2000" dirty="0" err="1">
                <a:solidFill>
                  <a:srgbClr val="011F61"/>
                </a:solidFill>
              </a:rPr>
              <a:t>Temerty</a:t>
            </a:r>
            <a:r>
              <a:rPr lang="en-CA" sz="2000" dirty="0">
                <a:solidFill>
                  <a:srgbClr val="011F61"/>
                </a:solidFill>
              </a:rPr>
              <a:t> Professor of AI Research and Education in Medicine, University of Toronto</a:t>
            </a:r>
          </a:p>
          <a:p>
            <a:pPr marL="342900" lvl="0" indent="-342900">
              <a:buFont typeface="Arial" panose="020B0604020202020204" pitchFamily="34" charset="0"/>
              <a:buChar char="•"/>
            </a:pPr>
            <a:r>
              <a:rPr kumimoji="0" lang="en-CA" sz="2000" b="0" i="0" u="none" strike="noStrike" kern="1200" cap="none" spc="0" normalizeH="0" baseline="0" noProof="0" dirty="0">
                <a:ln>
                  <a:noFill/>
                </a:ln>
                <a:solidFill>
                  <a:srgbClr val="011F61"/>
                </a:solidFill>
                <a:effectLst/>
                <a:uLnTx/>
                <a:uFillTx/>
                <a:latin typeface="Aptos" panose="02110004020202020204"/>
                <a:ea typeface="+mn-ea"/>
                <a:cs typeface="+mn-cs"/>
              </a:rPr>
              <a:t>Associate Professor, Department of Medicine, Department of Laboratory Medicine and Pathobiology, and Institute of Health Policy, Management and Evaluation, University of Toronto</a:t>
            </a:r>
          </a:p>
          <a:p>
            <a:pPr marL="342900" lvl="0" indent="-342900">
              <a:buFont typeface="Arial" panose="020B0604020202020204" pitchFamily="34" charset="0"/>
              <a:buChar char="•"/>
            </a:pPr>
            <a:r>
              <a:rPr kumimoji="0" lang="en-CA" sz="2000" b="0" i="0" u="none" strike="noStrike" kern="1200" cap="none" spc="0" normalizeH="0" baseline="0" noProof="0" dirty="0">
                <a:ln>
                  <a:noFill/>
                </a:ln>
                <a:solidFill>
                  <a:srgbClr val="011F61"/>
                </a:solidFill>
                <a:effectLst/>
                <a:uLnTx/>
                <a:uFillTx/>
                <a:latin typeface="Aptos" panose="02110004020202020204"/>
                <a:ea typeface="+mn-ea"/>
                <a:cs typeface="+mn-cs"/>
              </a:rPr>
              <a:t>Co-Lead GEMINI</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srgbClr val="011F61"/>
                </a:solidFill>
                <a:effectLst/>
                <a:uLnTx/>
                <a:uFillTx/>
                <a:latin typeface="Aptos" panose="02110004020202020204"/>
                <a:ea typeface="+mn-ea"/>
                <a:cs typeface="+mn-cs"/>
              </a:rPr>
              <a:t>Provincial Clinical Lead, Ontario Health</a:t>
            </a:r>
          </a:p>
          <a:p>
            <a:pPr marR="0" lvl="0" algn="l" defTabSz="914400" rtl="0" eaLnBrk="1" fontAlgn="auto" latinLnBrk="0" hangingPunct="1">
              <a:lnSpc>
                <a:spcPct val="100000"/>
              </a:lnSpc>
              <a:spcBef>
                <a:spcPts val="0"/>
              </a:spcBef>
              <a:spcAft>
                <a:spcPts val="0"/>
              </a:spcAft>
              <a:buClrTx/>
              <a:buSzTx/>
              <a:tabLst/>
              <a:defRPr/>
            </a:pPr>
            <a:endParaRPr kumimoji="0" lang="en-CA" sz="2000" b="0" i="0" u="none" strike="noStrike" kern="1200" cap="none" spc="0" normalizeH="0" baseline="0" noProof="0" dirty="0">
              <a:ln>
                <a:noFill/>
              </a:ln>
              <a:solidFill>
                <a:srgbClr val="011F61"/>
              </a:solidFill>
              <a:effectLst/>
              <a:uLnTx/>
              <a:uFillTx/>
              <a:latin typeface="Aptos" panose="02110004020202020204"/>
              <a:ea typeface="+mn-ea"/>
              <a:cs typeface="+mn-cs"/>
            </a:endParaRPr>
          </a:p>
        </p:txBody>
      </p:sp>
      <p:pic>
        <p:nvPicPr>
          <p:cNvPr id="6" name="Picture 5" descr="Text&#10;&#10;Description automatically generated with medium confidence">
            <a:extLst>
              <a:ext uri="{FF2B5EF4-FFF2-40B4-BE49-F238E27FC236}">
                <a16:creationId xmlns:a16="http://schemas.microsoft.com/office/drawing/2014/main" id="{65323FEF-FC47-F492-0ED2-327A9B06E0C7}"/>
              </a:ext>
            </a:extLst>
          </p:cNvPr>
          <p:cNvPicPr>
            <a:picLocks noChangeAspect="1"/>
          </p:cNvPicPr>
          <p:nvPr/>
        </p:nvPicPr>
        <p:blipFill>
          <a:blip r:embed="rId5">
            <a:extLst>
              <a:ext uri="{28A0092B-C50C-407E-A947-70E740481C1C}">
                <a14:useLocalDpi xmlns:a14="http://schemas.microsoft.com/office/drawing/2010/main" val="0"/>
              </a:ext>
            </a:extLst>
          </a:blip>
          <a:srcRect b="11424"/>
          <a:stretch/>
        </p:blipFill>
        <p:spPr>
          <a:xfrm>
            <a:off x="4730256" y="5745396"/>
            <a:ext cx="2972696" cy="1009291"/>
          </a:xfrm>
          <a:prstGeom prst="rect">
            <a:avLst/>
          </a:prstGeom>
        </p:spPr>
      </p:pic>
    </p:spTree>
    <p:extLst>
      <p:ext uri="{BB962C8B-B14F-4D97-AF65-F5344CB8AC3E}">
        <p14:creationId xmlns:p14="http://schemas.microsoft.com/office/powerpoint/2010/main" val="2940051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22361-8DBA-D387-9E6B-9CC8459DCAFB}"/>
              </a:ext>
            </a:extLst>
          </p:cNvPr>
          <p:cNvSpPr>
            <a:spLocks noGrp="1"/>
          </p:cNvSpPr>
          <p:nvPr>
            <p:ph type="title"/>
          </p:nvPr>
        </p:nvSpPr>
        <p:spPr/>
        <p:txBody>
          <a:bodyPr/>
          <a:lstStyle/>
          <a:p>
            <a:r>
              <a:rPr lang="en-CA" dirty="0"/>
              <a:t>Disclosures</a:t>
            </a:r>
          </a:p>
        </p:txBody>
      </p:sp>
      <p:sp>
        <p:nvSpPr>
          <p:cNvPr id="3" name="Content Placeholder 2">
            <a:extLst>
              <a:ext uri="{FF2B5EF4-FFF2-40B4-BE49-F238E27FC236}">
                <a16:creationId xmlns:a16="http://schemas.microsoft.com/office/drawing/2014/main" id="{EA176D47-4A92-6961-A86A-990581BF7BDE}"/>
              </a:ext>
            </a:extLst>
          </p:cNvPr>
          <p:cNvSpPr>
            <a:spLocks noGrp="1"/>
          </p:cNvSpPr>
          <p:nvPr>
            <p:ph type="body" sz="quarter" idx="12"/>
          </p:nvPr>
        </p:nvSpPr>
        <p:spPr/>
        <p:txBody>
          <a:bodyPr/>
          <a:lstStyle/>
          <a:p>
            <a:r>
              <a:rPr lang="en-CA" dirty="0"/>
              <a:t>Minority interests in Signal1</a:t>
            </a:r>
          </a:p>
        </p:txBody>
      </p:sp>
    </p:spTree>
    <p:extLst>
      <p:ext uri="{BB962C8B-B14F-4D97-AF65-F5344CB8AC3E}">
        <p14:creationId xmlns:p14="http://schemas.microsoft.com/office/powerpoint/2010/main" val="180410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70B43-1F5D-A846-F5B8-2EFD4924B5F5}"/>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93AF5A3-4B4D-E77D-C053-EC88578BB5FB}"/>
              </a:ext>
            </a:extLst>
          </p:cNvPr>
          <p:cNvSpPr>
            <a:spLocks noGrp="1"/>
          </p:cNvSpPr>
          <p:nvPr>
            <p:ph type="title"/>
          </p:nvPr>
        </p:nvSpPr>
        <p:spPr>
          <a:xfrm>
            <a:off x="831850" y="1709738"/>
            <a:ext cx="10515600" cy="2852737"/>
          </a:xfrm>
        </p:spPr>
        <p:txBody>
          <a:bodyPr>
            <a:normAutofit/>
          </a:bodyPr>
          <a:lstStyle/>
          <a:p>
            <a:pPr marL="0" indent="0" algn="ctr">
              <a:buNone/>
            </a:pPr>
            <a:r>
              <a:rPr lang="en-CA" sz="4000" dirty="0">
                <a:solidFill>
                  <a:srgbClr val="004D85"/>
                </a:solidFill>
              </a:rPr>
              <a:t>What clinical capabilities of AI are relevant for Internal Medicine?</a:t>
            </a:r>
          </a:p>
        </p:txBody>
      </p:sp>
    </p:spTree>
    <p:extLst>
      <p:ext uri="{BB962C8B-B14F-4D97-AF65-F5344CB8AC3E}">
        <p14:creationId xmlns:p14="http://schemas.microsoft.com/office/powerpoint/2010/main" val="1757382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775E0-0C65-17F8-8A60-C1D5303963B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65810A0-C3B3-0BC6-E9DC-F06351C17923}"/>
              </a:ext>
            </a:extLst>
          </p:cNvPr>
          <p:cNvSpPr>
            <a:spLocks noGrp="1"/>
          </p:cNvSpPr>
          <p:nvPr>
            <p:ph type="title"/>
          </p:nvPr>
        </p:nvSpPr>
        <p:spPr/>
        <p:txBody>
          <a:bodyPr/>
          <a:lstStyle/>
          <a:p>
            <a:r>
              <a:rPr lang="en-CA" b="1" dirty="0"/>
              <a:t>Ground Rules</a:t>
            </a:r>
          </a:p>
        </p:txBody>
      </p:sp>
      <p:sp>
        <p:nvSpPr>
          <p:cNvPr id="8" name="Content Placeholder 7">
            <a:extLst>
              <a:ext uri="{FF2B5EF4-FFF2-40B4-BE49-F238E27FC236}">
                <a16:creationId xmlns:a16="http://schemas.microsoft.com/office/drawing/2014/main" id="{94BB12BA-3631-0998-158B-92D0EF6EF03D}"/>
              </a:ext>
            </a:extLst>
          </p:cNvPr>
          <p:cNvSpPr>
            <a:spLocks noGrp="1"/>
          </p:cNvSpPr>
          <p:nvPr>
            <p:ph type="body" sz="quarter" idx="12"/>
          </p:nvPr>
        </p:nvSpPr>
        <p:spPr/>
        <p:txBody>
          <a:bodyPr/>
          <a:lstStyle/>
          <a:p>
            <a:pPr marL="285750" indent="-285750">
              <a:buFont typeface="Arial" panose="020B0604020202020204" pitchFamily="34" charset="0"/>
              <a:buChar char="•"/>
            </a:pPr>
            <a:r>
              <a:rPr lang="en-CA" sz="2800" dirty="0"/>
              <a:t>Assess trajectory of improvement</a:t>
            </a:r>
          </a:p>
          <a:p>
            <a:pPr marL="285750" indent="-285750">
              <a:buFont typeface="Arial" panose="020B0604020202020204" pitchFamily="34" charset="0"/>
              <a:buChar char="•"/>
            </a:pPr>
            <a:r>
              <a:rPr lang="en-CA" sz="2800" dirty="0"/>
              <a:t>No hype, only evidence</a:t>
            </a:r>
          </a:p>
          <a:p>
            <a:pPr marL="285750" indent="-285750">
              <a:buFont typeface="Arial" panose="020B0604020202020204" pitchFamily="34" charset="0"/>
              <a:buChar char="•"/>
            </a:pPr>
            <a:r>
              <a:rPr lang="en-CA" dirty="0"/>
              <a:t>“Canadian” perspective</a:t>
            </a:r>
            <a:endParaRPr lang="en-CA" sz="2800" dirty="0"/>
          </a:p>
          <a:p>
            <a:pPr marL="285750" indent="-285750">
              <a:buFont typeface="Arial" panose="020B0604020202020204" pitchFamily="34" charset="0"/>
              <a:buChar char="•"/>
            </a:pPr>
            <a:r>
              <a:rPr lang="en-CA" sz="2800" dirty="0"/>
              <a:t>Capabilities based on widely-available technology and data (no robots)</a:t>
            </a:r>
          </a:p>
          <a:p>
            <a:pPr marL="0" indent="0">
              <a:buNone/>
            </a:pPr>
            <a:endParaRPr lang="en-CA" dirty="0"/>
          </a:p>
        </p:txBody>
      </p:sp>
    </p:spTree>
    <p:extLst>
      <p:ext uri="{BB962C8B-B14F-4D97-AF65-F5344CB8AC3E}">
        <p14:creationId xmlns:p14="http://schemas.microsoft.com/office/powerpoint/2010/main" val="1760503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B3D36-1887-0EF4-DBD4-E3540BD5FFA9}"/>
              </a:ext>
            </a:extLst>
          </p:cNvPr>
          <p:cNvSpPr>
            <a:spLocks noGrp="1"/>
          </p:cNvSpPr>
          <p:nvPr>
            <p:ph type="title"/>
          </p:nvPr>
        </p:nvSpPr>
        <p:spPr/>
        <p:txBody>
          <a:bodyPr/>
          <a:lstStyle/>
          <a:p>
            <a:r>
              <a:rPr lang="en-CA" dirty="0"/>
              <a:t>Evaluation – Dr. Excellent Resident, PGY2</a:t>
            </a:r>
          </a:p>
        </p:txBody>
      </p:sp>
      <p:sp>
        <p:nvSpPr>
          <p:cNvPr id="3" name="Content Placeholder 2">
            <a:extLst>
              <a:ext uri="{FF2B5EF4-FFF2-40B4-BE49-F238E27FC236}">
                <a16:creationId xmlns:a16="http://schemas.microsoft.com/office/drawing/2014/main" id="{6C4DC2EB-62A0-D780-8C1D-4531512B7DAE}"/>
              </a:ext>
            </a:extLst>
          </p:cNvPr>
          <p:cNvSpPr>
            <a:spLocks noGrp="1"/>
          </p:cNvSpPr>
          <p:nvPr>
            <p:ph type="body" sz="quarter" idx="12"/>
          </p:nvPr>
        </p:nvSpPr>
        <p:spPr>
          <a:xfrm>
            <a:off x="480000" y="2190306"/>
            <a:ext cx="11280000" cy="3929693"/>
          </a:xfrm>
        </p:spPr>
        <p:txBody>
          <a:bodyPr/>
          <a:lstStyle/>
          <a:p>
            <a:pPr marL="0" indent="0">
              <a:buNone/>
            </a:pPr>
            <a:r>
              <a:rPr lang="en-CA" i="1" dirty="0"/>
              <a:t>“It was a pleasure to work with Dr. Resident on this block. She has an outstanding knowledge base, demonstrated excellent communication skills with concise and accurate clinical documentation, had sound decision-making.”</a:t>
            </a:r>
          </a:p>
        </p:txBody>
      </p:sp>
    </p:spTree>
    <p:extLst>
      <p:ext uri="{BB962C8B-B14F-4D97-AF65-F5344CB8AC3E}">
        <p14:creationId xmlns:p14="http://schemas.microsoft.com/office/powerpoint/2010/main" val="1509227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9A98-2797-70CC-B65C-9A51BAD58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9DF53-BABF-2D43-FB19-58370B14E0BB}"/>
              </a:ext>
            </a:extLst>
          </p:cNvPr>
          <p:cNvSpPr>
            <a:spLocks noGrp="1"/>
          </p:cNvSpPr>
          <p:nvPr>
            <p:ph type="title"/>
          </p:nvPr>
        </p:nvSpPr>
        <p:spPr/>
        <p:txBody>
          <a:bodyPr/>
          <a:lstStyle/>
          <a:p>
            <a:r>
              <a:rPr lang="en-CA" dirty="0"/>
              <a:t>Evaluation – Dr. Excellent Resident, PGY2</a:t>
            </a:r>
          </a:p>
        </p:txBody>
      </p:sp>
      <p:sp>
        <p:nvSpPr>
          <p:cNvPr id="3" name="Content Placeholder 2">
            <a:extLst>
              <a:ext uri="{FF2B5EF4-FFF2-40B4-BE49-F238E27FC236}">
                <a16:creationId xmlns:a16="http://schemas.microsoft.com/office/drawing/2014/main" id="{9450D8F9-D7DA-7475-7C8A-446213FE6295}"/>
              </a:ext>
            </a:extLst>
          </p:cNvPr>
          <p:cNvSpPr>
            <a:spLocks noGrp="1"/>
          </p:cNvSpPr>
          <p:nvPr>
            <p:ph type="body" sz="quarter" idx="12"/>
          </p:nvPr>
        </p:nvSpPr>
        <p:spPr>
          <a:xfrm>
            <a:off x="480000" y="2190307"/>
            <a:ext cx="11280000" cy="3929693"/>
          </a:xfrm>
        </p:spPr>
        <p:txBody>
          <a:bodyPr/>
          <a:lstStyle/>
          <a:p>
            <a:pPr marL="0" indent="0">
              <a:buNone/>
            </a:pPr>
            <a:r>
              <a:rPr lang="en-CA" i="1" dirty="0"/>
              <a:t>“It was a pleasure to work with Dr. Resident on this block. She has an </a:t>
            </a:r>
            <a:r>
              <a:rPr lang="en-CA" i="1" u="sng" dirty="0">
                <a:solidFill>
                  <a:srgbClr val="FF0000"/>
                </a:solidFill>
              </a:rPr>
              <a:t>outstanding knowledge base</a:t>
            </a:r>
            <a:r>
              <a:rPr lang="en-CA" i="1" dirty="0"/>
              <a:t>, demonstrated </a:t>
            </a:r>
            <a:r>
              <a:rPr lang="en-CA" i="1" u="sng" dirty="0">
                <a:solidFill>
                  <a:srgbClr val="FF0000"/>
                </a:solidFill>
              </a:rPr>
              <a:t>excellent communication skills</a:t>
            </a:r>
            <a:r>
              <a:rPr lang="en-CA" i="1" dirty="0">
                <a:solidFill>
                  <a:schemeClr val="accent1"/>
                </a:solidFill>
              </a:rPr>
              <a:t> </a:t>
            </a:r>
            <a:r>
              <a:rPr lang="en-CA" i="1" dirty="0"/>
              <a:t>with concise and accurate clinical documentation, had sound </a:t>
            </a:r>
            <a:r>
              <a:rPr lang="en-CA" i="1" u="sng" dirty="0">
                <a:solidFill>
                  <a:srgbClr val="FF0000"/>
                </a:solidFill>
              </a:rPr>
              <a:t>decision-making.</a:t>
            </a:r>
            <a:r>
              <a:rPr lang="en-CA" i="1" dirty="0"/>
              <a:t>”</a:t>
            </a:r>
          </a:p>
        </p:txBody>
      </p:sp>
      <p:sp>
        <p:nvSpPr>
          <p:cNvPr id="4" name="TextBox 3">
            <a:extLst>
              <a:ext uri="{FF2B5EF4-FFF2-40B4-BE49-F238E27FC236}">
                <a16:creationId xmlns:a16="http://schemas.microsoft.com/office/drawing/2014/main" id="{3FA5F45F-1ABB-3F12-09A3-BBF73A6AE584}"/>
              </a:ext>
            </a:extLst>
          </p:cNvPr>
          <p:cNvSpPr txBox="1"/>
          <p:nvPr/>
        </p:nvSpPr>
        <p:spPr>
          <a:xfrm>
            <a:off x="914400" y="4171167"/>
            <a:ext cx="10171134" cy="1815882"/>
          </a:xfrm>
          <a:prstGeom prst="rect">
            <a:avLst/>
          </a:prstGeom>
          <a:noFill/>
        </p:spPr>
        <p:txBody>
          <a:bodyPr wrap="square" rtlCol="0">
            <a:spAutoFit/>
          </a:bodyPr>
          <a:lstStyle/>
          <a:p>
            <a:pPr marL="285750" indent="-285750">
              <a:buFont typeface="Arial" panose="020B0604020202020204" pitchFamily="34" charset="0"/>
              <a:buChar char="•"/>
            </a:pPr>
            <a:r>
              <a:rPr lang="en-CA" sz="2800" dirty="0"/>
              <a:t>Diagnose undifferentiated disease</a:t>
            </a:r>
          </a:p>
          <a:p>
            <a:pPr marL="285750" indent="-285750">
              <a:buFont typeface="Arial" panose="020B0604020202020204" pitchFamily="34" charset="0"/>
              <a:buChar char="•"/>
            </a:pPr>
            <a:r>
              <a:rPr lang="en-CA" sz="2800" dirty="0"/>
              <a:t>Manage exacerbations of chronic illness</a:t>
            </a:r>
          </a:p>
          <a:p>
            <a:pPr marL="285750" indent="-285750">
              <a:buFont typeface="Arial" panose="020B0604020202020204" pitchFamily="34" charset="0"/>
              <a:buChar char="•"/>
            </a:pPr>
            <a:r>
              <a:rPr lang="en-CA" sz="2800" dirty="0"/>
              <a:t>Treat acute, episodic illnesses </a:t>
            </a:r>
          </a:p>
          <a:p>
            <a:pPr marL="285750" indent="-285750">
              <a:buFont typeface="Arial" panose="020B0604020202020204" pitchFamily="34" charset="0"/>
              <a:buChar char="•"/>
            </a:pPr>
            <a:r>
              <a:rPr lang="en-CA" sz="2800" dirty="0"/>
              <a:t>Coordinate care in the hospital</a:t>
            </a:r>
          </a:p>
        </p:txBody>
      </p:sp>
    </p:spTree>
    <p:extLst>
      <p:ext uri="{BB962C8B-B14F-4D97-AF65-F5344CB8AC3E}">
        <p14:creationId xmlns:p14="http://schemas.microsoft.com/office/powerpoint/2010/main" val="1064072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32D0C-C0A7-1B1C-0E9E-A56789EBDD34}"/>
              </a:ext>
            </a:extLst>
          </p:cNvPr>
          <p:cNvSpPr>
            <a:spLocks noGrp="1"/>
          </p:cNvSpPr>
          <p:nvPr>
            <p:ph type="title"/>
          </p:nvPr>
        </p:nvSpPr>
        <p:spPr/>
        <p:txBody>
          <a:bodyPr/>
          <a:lstStyle/>
          <a:p>
            <a:r>
              <a:rPr lang="en-CA" sz="6000" dirty="0">
                <a:solidFill>
                  <a:srgbClr val="004D85"/>
                </a:solidFill>
                <a:cs typeface="Arial" panose="020B0604020202020204" pitchFamily="34" charset="0"/>
              </a:rPr>
              <a:t>1. Knowledge Base</a:t>
            </a:r>
            <a:br>
              <a:rPr lang="en-CA" sz="6000" dirty="0">
                <a:solidFill>
                  <a:srgbClr val="004D85"/>
                </a:solidFill>
                <a:cs typeface="Arial" panose="020B0604020202020204" pitchFamily="34" charset="0"/>
              </a:rPr>
            </a:br>
            <a:endParaRPr lang="en-CA" dirty="0">
              <a:solidFill>
                <a:srgbClr val="004D85"/>
              </a:solidFill>
            </a:endParaRPr>
          </a:p>
        </p:txBody>
      </p:sp>
    </p:spTree>
    <p:extLst>
      <p:ext uri="{BB962C8B-B14F-4D97-AF65-F5344CB8AC3E}">
        <p14:creationId xmlns:p14="http://schemas.microsoft.com/office/powerpoint/2010/main" val="3347043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737BD07A-8EE7-0295-83EA-01113B59B94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9782" b="43830"/>
          <a:stretch/>
        </p:blipFill>
        <p:spPr bwMode="auto">
          <a:xfrm>
            <a:off x="2933700" y="968991"/>
            <a:ext cx="9156700" cy="49914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C47805E-A23C-748B-45F4-26E867BA4117}"/>
              </a:ext>
            </a:extLst>
          </p:cNvPr>
          <p:cNvSpPr/>
          <p:nvPr/>
        </p:nvSpPr>
        <p:spPr>
          <a:xfrm>
            <a:off x="5529942" y="1035900"/>
            <a:ext cx="4385129" cy="533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FDE07317-1A76-7363-D428-81A987F40DD6}"/>
              </a:ext>
            </a:extLst>
          </p:cNvPr>
          <p:cNvSpPr txBox="1"/>
          <p:nvPr/>
        </p:nvSpPr>
        <p:spPr>
          <a:xfrm>
            <a:off x="174405" y="2961770"/>
            <a:ext cx="2759295" cy="1384995"/>
          </a:xfrm>
          <a:prstGeom prst="rect">
            <a:avLst/>
          </a:prstGeom>
          <a:noFill/>
        </p:spPr>
        <p:txBody>
          <a:bodyPr wrap="square">
            <a:spAutoFit/>
          </a:bodyPr>
          <a:lstStyle/>
          <a:p>
            <a:r>
              <a:rPr lang="en-CA" sz="2800" dirty="0">
                <a:latin typeface="Aptos" panose="020B0004020202020204" pitchFamily="34" charset="0"/>
              </a:rPr>
              <a:t>AI performance improving over time</a:t>
            </a:r>
          </a:p>
        </p:txBody>
      </p:sp>
      <p:pic>
        <p:nvPicPr>
          <p:cNvPr id="7" name="Picture 6">
            <a:extLst>
              <a:ext uri="{FF2B5EF4-FFF2-40B4-BE49-F238E27FC236}">
                <a16:creationId xmlns:a16="http://schemas.microsoft.com/office/drawing/2014/main" id="{C44068A3-F6FF-54DD-D960-E453B299D5A2}"/>
              </a:ext>
            </a:extLst>
          </p:cNvPr>
          <p:cNvPicPr>
            <a:picLocks noChangeAspect="1"/>
          </p:cNvPicPr>
          <p:nvPr/>
        </p:nvPicPr>
        <p:blipFill>
          <a:blip r:embed="rId3"/>
          <a:stretch>
            <a:fillRect/>
          </a:stretch>
        </p:blipFill>
        <p:spPr>
          <a:xfrm>
            <a:off x="3828883" y="370183"/>
            <a:ext cx="2400635" cy="685896"/>
          </a:xfrm>
          <a:prstGeom prst="rect">
            <a:avLst/>
          </a:prstGeom>
        </p:spPr>
      </p:pic>
      <p:pic>
        <p:nvPicPr>
          <p:cNvPr id="9" name="Picture 8">
            <a:extLst>
              <a:ext uri="{FF2B5EF4-FFF2-40B4-BE49-F238E27FC236}">
                <a16:creationId xmlns:a16="http://schemas.microsoft.com/office/drawing/2014/main" id="{5825D8F5-34D1-67D9-F909-E7937E1382F3}"/>
              </a:ext>
            </a:extLst>
          </p:cNvPr>
          <p:cNvPicPr>
            <a:picLocks noChangeAspect="1"/>
          </p:cNvPicPr>
          <p:nvPr/>
        </p:nvPicPr>
        <p:blipFill>
          <a:blip r:embed="rId4"/>
          <a:stretch>
            <a:fillRect/>
          </a:stretch>
        </p:blipFill>
        <p:spPr>
          <a:xfrm>
            <a:off x="9099133" y="6281993"/>
            <a:ext cx="2991267" cy="466790"/>
          </a:xfrm>
          <a:prstGeom prst="rect">
            <a:avLst/>
          </a:prstGeom>
        </p:spPr>
      </p:pic>
    </p:spTree>
    <p:extLst>
      <p:ext uri="{BB962C8B-B14F-4D97-AF65-F5344CB8AC3E}">
        <p14:creationId xmlns:p14="http://schemas.microsoft.com/office/powerpoint/2010/main" val="3508844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7091-A275-2D0F-D4B3-17C8D9B76CB6}"/>
            </a:ext>
          </a:extLst>
        </p:cNvPr>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73A15188-4DF4-4444-E816-650381B15B7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9782" b="43830"/>
          <a:stretch/>
        </p:blipFill>
        <p:spPr bwMode="auto">
          <a:xfrm>
            <a:off x="2933700" y="968991"/>
            <a:ext cx="9156700" cy="49914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F409278-029D-54D7-774D-D4D7A30A3BBE}"/>
              </a:ext>
            </a:extLst>
          </p:cNvPr>
          <p:cNvSpPr/>
          <p:nvPr/>
        </p:nvSpPr>
        <p:spPr>
          <a:xfrm>
            <a:off x="5529942" y="1035900"/>
            <a:ext cx="4385129" cy="533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A994FEF5-873A-5C61-9963-8F3F711D5F13}"/>
              </a:ext>
            </a:extLst>
          </p:cNvPr>
          <p:cNvSpPr txBox="1"/>
          <p:nvPr/>
        </p:nvSpPr>
        <p:spPr>
          <a:xfrm>
            <a:off x="174405" y="2961770"/>
            <a:ext cx="2759295" cy="1384995"/>
          </a:xfrm>
          <a:prstGeom prst="rect">
            <a:avLst/>
          </a:prstGeom>
          <a:noFill/>
        </p:spPr>
        <p:txBody>
          <a:bodyPr wrap="square">
            <a:spAutoFit/>
          </a:bodyPr>
          <a:lstStyle/>
          <a:p>
            <a:r>
              <a:rPr lang="en-CA" sz="2800" dirty="0">
                <a:latin typeface="Aptos" panose="020B0004020202020204" pitchFamily="34" charset="0"/>
              </a:rPr>
              <a:t>AI performance improving over time</a:t>
            </a:r>
          </a:p>
        </p:txBody>
      </p:sp>
      <p:pic>
        <p:nvPicPr>
          <p:cNvPr id="7" name="Picture 6">
            <a:extLst>
              <a:ext uri="{FF2B5EF4-FFF2-40B4-BE49-F238E27FC236}">
                <a16:creationId xmlns:a16="http://schemas.microsoft.com/office/drawing/2014/main" id="{4CD4033A-53E3-C1E0-880D-2C4E80C25DAB}"/>
              </a:ext>
            </a:extLst>
          </p:cNvPr>
          <p:cNvPicPr>
            <a:picLocks noChangeAspect="1"/>
          </p:cNvPicPr>
          <p:nvPr/>
        </p:nvPicPr>
        <p:blipFill>
          <a:blip r:embed="rId3"/>
          <a:stretch>
            <a:fillRect/>
          </a:stretch>
        </p:blipFill>
        <p:spPr>
          <a:xfrm>
            <a:off x="3828883" y="370183"/>
            <a:ext cx="2400635" cy="685896"/>
          </a:xfrm>
          <a:prstGeom prst="rect">
            <a:avLst/>
          </a:prstGeom>
        </p:spPr>
      </p:pic>
      <p:pic>
        <p:nvPicPr>
          <p:cNvPr id="9" name="Picture 8">
            <a:extLst>
              <a:ext uri="{FF2B5EF4-FFF2-40B4-BE49-F238E27FC236}">
                <a16:creationId xmlns:a16="http://schemas.microsoft.com/office/drawing/2014/main" id="{E8062191-374A-CCD6-2B84-FC9EC0446523}"/>
              </a:ext>
            </a:extLst>
          </p:cNvPr>
          <p:cNvPicPr>
            <a:picLocks noChangeAspect="1"/>
          </p:cNvPicPr>
          <p:nvPr/>
        </p:nvPicPr>
        <p:blipFill>
          <a:blip r:embed="rId4"/>
          <a:stretch>
            <a:fillRect/>
          </a:stretch>
        </p:blipFill>
        <p:spPr>
          <a:xfrm>
            <a:off x="9099133" y="6281993"/>
            <a:ext cx="2991267" cy="466790"/>
          </a:xfrm>
          <a:prstGeom prst="rect">
            <a:avLst/>
          </a:prstGeom>
        </p:spPr>
      </p:pic>
      <p:sp>
        <p:nvSpPr>
          <p:cNvPr id="2" name="Rectangle 1">
            <a:extLst>
              <a:ext uri="{FF2B5EF4-FFF2-40B4-BE49-F238E27FC236}">
                <a16:creationId xmlns:a16="http://schemas.microsoft.com/office/drawing/2014/main" id="{82AD182D-61DD-BE94-2D13-547B40AFA308}"/>
              </a:ext>
            </a:extLst>
          </p:cNvPr>
          <p:cNvSpPr/>
          <p:nvPr/>
        </p:nvSpPr>
        <p:spPr>
          <a:xfrm>
            <a:off x="79298" y="5945355"/>
            <a:ext cx="8997533" cy="7883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400" dirty="0">
                <a:latin typeface="Aptos" panose="020B0004020202020204" pitchFamily="34" charset="0"/>
              </a:rPr>
              <a:t>Is this “knowledge” or just questions seen in training?</a:t>
            </a:r>
          </a:p>
        </p:txBody>
      </p:sp>
    </p:spTree>
    <p:extLst>
      <p:ext uri="{BB962C8B-B14F-4D97-AF65-F5344CB8AC3E}">
        <p14:creationId xmlns:p14="http://schemas.microsoft.com/office/powerpoint/2010/main" val="2994293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7730FB-4272-7DBB-D6AD-025E6EC806F1}"/>
              </a:ext>
            </a:extLst>
          </p:cNvPr>
          <p:cNvPicPr>
            <a:picLocks noChangeAspect="1"/>
          </p:cNvPicPr>
          <p:nvPr/>
        </p:nvPicPr>
        <p:blipFill>
          <a:blip r:embed="rId3"/>
          <a:stretch>
            <a:fillRect/>
          </a:stretch>
        </p:blipFill>
        <p:spPr>
          <a:xfrm>
            <a:off x="3512964" y="326356"/>
            <a:ext cx="6218862" cy="2424303"/>
          </a:xfrm>
          <a:prstGeom prst="rect">
            <a:avLst/>
          </a:prstGeom>
        </p:spPr>
      </p:pic>
      <p:pic>
        <p:nvPicPr>
          <p:cNvPr id="5" name="Picture 4">
            <a:extLst>
              <a:ext uri="{FF2B5EF4-FFF2-40B4-BE49-F238E27FC236}">
                <a16:creationId xmlns:a16="http://schemas.microsoft.com/office/drawing/2014/main" id="{56DA4748-071D-8A8B-4B4A-3504D425FEAE}"/>
              </a:ext>
            </a:extLst>
          </p:cNvPr>
          <p:cNvPicPr>
            <a:picLocks noChangeAspect="1"/>
          </p:cNvPicPr>
          <p:nvPr/>
        </p:nvPicPr>
        <p:blipFill>
          <a:blip r:embed="rId4"/>
          <a:stretch>
            <a:fillRect/>
          </a:stretch>
        </p:blipFill>
        <p:spPr>
          <a:xfrm>
            <a:off x="3458538" y="1095523"/>
            <a:ext cx="7880423" cy="5432277"/>
          </a:xfrm>
          <a:prstGeom prst="rect">
            <a:avLst/>
          </a:prstGeom>
        </p:spPr>
      </p:pic>
      <p:sp>
        <p:nvSpPr>
          <p:cNvPr id="9" name="TextBox 8">
            <a:extLst>
              <a:ext uri="{FF2B5EF4-FFF2-40B4-BE49-F238E27FC236}">
                <a16:creationId xmlns:a16="http://schemas.microsoft.com/office/drawing/2014/main" id="{21FA5F50-6218-ED8B-85A5-DDDB6ED5D1D3}"/>
              </a:ext>
            </a:extLst>
          </p:cNvPr>
          <p:cNvSpPr txBox="1"/>
          <p:nvPr/>
        </p:nvSpPr>
        <p:spPr>
          <a:xfrm>
            <a:off x="263305" y="2857554"/>
            <a:ext cx="3195233" cy="954107"/>
          </a:xfrm>
          <a:prstGeom prst="rect">
            <a:avLst/>
          </a:prstGeom>
          <a:noFill/>
        </p:spPr>
        <p:txBody>
          <a:bodyPr wrap="square">
            <a:spAutoFit/>
          </a:bodyPr>
          <a:lstStyle/>
          <a:p>
            <a:r>
              <a:rPr lang="en-CA" sz="2800" dirty="0">
                <a:latin typeface="Aptos" panose="020B0004020202020204" pitchFamily="34" charset="0"/>
              </a:rPr>
              <a:t>Israeli licencing exams</a:t>
            </a:r>
          </a:p>
        </p:txBody>
      </p:sp>
    </p:spTree>
    <p:extLst>
      <p:ext uri="{BB962C8B-B14F-4D97-AF65-F5344CB8AC3E}">
        <p14:creationId xmlns:p14="http://schemas.microsoft.com/office/powerpoint/2010/main" val="763077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C1BC2-541B-BB17-B06E-F451D93056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D060B48-5D70-9E90-0A77-32AB4A07D417}"/>
              </a:ext>
            </a:extLst>
          </p:cNvPr>
          <p:cNvPicPr>
            <a:picLocks noChangeAspect="1"/>
          </p:cNvPicPr>
          <p:nvPr/>
        </p:nvPicPr>
        <p:blipFill>
          <a:blip r:embed="rId3"/>
          <a:stretch>
            <a:fillRect/>
          </a:stretch>
        </p:blipFill>
        <p:spPr>
          <a:xfrm>
            <a:off x="3512964" y="326356"/>
            <a:ext cx="6218862" cy="2424303"/>
          </a:xfrm>
          <a:prstGeom prst="rect">
            <a:avLst/>
          </a:prstGeom>
        </p:spPr>
      </p:pic>
      <p:pic>
        <p:nvPicPr>
          <p:cNvPr id="5" name="Picture 4">
            <a:extLst>
              <a:ext uri="{FF2B5EF4-FFF2-40B4-BE49-F238E27FC236}">
                <a16:creationId xmlns:a16="http://schemas.microsoft.com/office/drawing/2014/main" id="{C07B3468-9BFB-6B31-825B-7D3CBE2A43DA}"/>
              </a:ext>
            </a:extLst>
          </p:cNvPr>
          <p:cNvPicPr>
            <a:picLocks noChangeAspect="1"/>
          </p:cNvPicPr>
          <p:nvPr/>
        </p:nvPicPr>
        <p:blipFill>
          <a:blip r:embed="rId4"/>
          <a:stretch>
            <a:fillRect/>
          </a:stretch>
        </p:blipFill>
        <p:spPr>
          <a:xfrm>
            <a:off x="3458538" y="1095523"/>
            <a:ext cx="7880423" cy="5432277"/>
          </a:xfrm>
          <a:prstGeom prst="rect">
            <a:avLst/>
          </a:prstGeom>
        </p:spPr>
      </p:pic>
      <p:sp>
        <p:nvSpPr>
          <p:cNvPr id="9" name="TextBox 8">
            <a:extLst>
              <a:ext uri="{FF2B5EF4-FFF2-40B4-BE49-F238E27FC236}">
                <a16:creationId xmlns:a16="http://schemas.microsoft.com/office/drawing/2014/main" id="{175DBE45-A8E7-9079-E542-F51F4D4CEDB8}"/>
              </a:ext>
            </a:extLst>
          </p:cNvPr>
          <p:cNvSpPr txBox="1"/>
          <p:nvPr/>
        </p:nvSpPr>
        <p:spPr>
          <a:xfrm>
            <a:off x="263305" y="2857554"/>
            <a:ext cx="3195233" cy="954107"/>
          </a:xfrm>
          <a:prstGeom prst="rect">
            <a:avLst/>
          </a:prstGeom>
          <a:noFill/>
        </p:spPr>
        <p:txBody>
          <a:bodyPr wrap="square">
            <a:spAutoFit/>
          </a:bodyPr>
          <a:lstStyle/>
          <a:p>
            <a:r>
              <a:rPr lang="en-CA" sz="2800" dirty="0">
                <a:latin typeface="Aptos" panose="020B0004020202020204" pitchFamily="34" charset="0"/>
              </a:rPr>
              <a:t>AI passes Israeli licencing exams</a:t>
            </a:r>
          </a:p>
        </p:txBody>
      </p:sp>
      <p:cxnSp>
        <p:nvCxnSpPr>
          <p:cNvPr id="3" name="Straight Arrow Connector 2">
            <a:extLst>
              <a:ext uri="{FF2B5EF4-FFF2-40B4-BE49-F238E27FC236}">
                <a16:creationId xmlns:a16="http://schemas.microsoft.com/office/drawing/2014/main" id="{1C95D14B-D69D-B8CD-7C76-24B3A49BB91A}"/>
              </a:ext>
            </a:extLst>
          </p:cNvPr>
          <p:cNvCxnSpPr>
            <a:cxnSpLocks/>
          </p:cNvCxnSpPr>
          <p:nvPr/>
        </p:nvCxnSpPr>
        <p:spPr>
          <a:xfrm>
            <a:off x="4728117" y="2141033"/>
            <a:ext cx="1460810"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C76CFC46-B4F1-7857-7A8E-CAFC6DB0D209}"/>
              </a:ext>
            </a:extLst>
          </p:cNvPr>
          <p:cNvSpPr txBox="1"/>
          <p:nvPr/>
        </p:nvSpPr>
        <p:spPr>
          <a:xfrm>
            <a:off x="5018049" y="1817649"/>
            <a:ext cx="936702" cy="369332"/>
          </a:xfrm>
          <a:prstGeom prst="rect">
            <a:avLst/>
          </a:prstGeom>
          <a:noFill/>
        </p:spPr>
        <p:txBody>
          <a:bodyPr wrap="square" rtlCol="0">
            <a:spAutoFit/>
          </a:bodyPr>
          <a:lstStyle/>
          <a:p>
            <a:r>
              <a:rPr lang="en-CA" b="1" dirty="0">
                <a:solidFill>
                  <a:srgbClr val="FF0000"/>
                </a:solidFill>
              </a:rPr>
              <a:t>Passing</a:t>
            </a:r>
          </a:p>
        </p:txBody>
      </p:sp>
      <p:sp>
        <p:nvSpPr>
          <p:cNvPr id="8" name="Rectangle 7">
            <a:extLst>
              <a:ext uri="{FF2B5EF4-FFF2-40B4-BE49-F238E27FC236}">
                <a16:creationId xmlns:a16="http://schemas.microsoft.com/office/drawing/2014/main" id="{D571C39A-056E-DE33-77D4-6FB4EC998D1D}"/>
              </a:ext>
            </a:extLst>
          </p:cNvPr>
          <p:cNvSpPr/>
          <p:nvPr/>
        </p:nvSpPr>
        <p:spPr>
          <a:xfrm>
            <a:off x="8910084" y="4282068"/>
            <a:ext cx="2252287" cy="20295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Aptos" panose="020B0004020202020204" pitchFamily="34" charset="0"/>
              </a:rPr>
              <a:t>AI models pass Gen Surg, Int Med, Psych exams consistently. Perform less well on </a:t>
            </a:r>
            <a:r>
              <a:rPr lang="en-CA" dirty="0" err="1">
                <a:latin typeface="Aptos" panose="020B0004020202020204" pitchFamily="34" charset="0"/>
              </a:rPr>
              <a:t>Paeds</a:t>
            </a:r>
            <a:r>
              <a:rPr lang="en-CA" dirty="0">
                <a:latin typeface="Aptos" panose="020B0004020202020204" pitchFamily="34" charset="0"/>
              </a:rPr>
              <a:t> and OB-GYN</a:t>
            </a:r>
          </a:p>
        </p:txBody>
      </p:sp>
    </p:spTree>
    <p:extLst>
      <p:ext uri="{BB962C8B-B14F-4D97-AF65-F5344CB8AC3E}">
        <p14:creationId xmlns:p14="http://schemas.microsoft.com/office/powerpoint/2010/main" val="4757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1E370E-22FB-61CE-07F5-9DB38555B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1DA92-27AA-619D-AC8C-41A9F2E24C27}"/>
              </a:ext>
            </a:extLst>
          </p:cNvPr>
          <p:cNvSpPr>
            <a:spLocks noGrp="1"/>
          </p:cNvSpPr>
          <p:nvPr>
            <p:ph type="title"/>
          </p:nvPr>
        </p:nvSpPr>
        <p:spPr/>
        <p:txBody>
          <a:bodyPr/>
          <a:lstStyle/>
          <a:p>
            <a:r>
              <a:rPr lang="en-CA" sz="6000" dirty="0">
                <a:solidFill>
                  <a:srgbClr val="004D85"/>
                </a:solidFill>
                <a:cs typeface="Arial" panose="020B0604020202020204" pitchFamily="34" charset="0"/>
              </a:rPr>
              <a:t>2. Clinical Documentation</a:t>
            </a:r>
            <a:br>
              <a:rPr lang="en-CA" sz="6000" dirty="0">
                <a:solidFill>
                  <a:srgbClr val="004D85"/>
                </a:solidFill>
                <a:cs typeface="Arial" panose="020B0604020202020204" pitchFamily="34" charset="0"/>
              </a:rPr>
            </a:br>
            <a:endParaRPr lang="en-CA" dirty="0">
              <a:solidFill>
                <a:srgbClr val="004D85"/>
              </a:solidFill>
            </a:endParaRPr>
          </a:p>
        </p:txBody>
      </p:sp>
      <p:sp>
        <p:nvSpPr>
          <p:cNvPr id="3" name="Content Placeholder 2">
            <a:extLst>
              <a:ext uri="{FF2B5EF4-FFF2-40B4-BE49-F238E27FC236}">
                <a16:creationId xmlns:a16="http://schemas.microsoft.com/office/drawing/2014/main" id="{7BEB26DF-F17F-2E3F-5419-FEC35D93A962}"/>
              </a:ext>
            </a:extLst>
          </p:cNvPr>
          <p:cNvSpPr>
            <a:spLocks noGrp="1"/>
          </p:cNvSpPr>
          <p:nvPr>
            <p:ph type="body" idx="1"/>
          </p:nvPr>
        </p:nvSpPr>
        <p:spPr/>
        <p:txBody>
          <a:bodyPr>
            <a:normAutofit/>
          </a:bodyPr>
          <a:lstStyle/>
          <a:p>
            <a:pPr marL="0" indent="0" algn="ctr">
              <a:buNone/>
            </a:pPr>
            <a:endParaRPr lang="en-CA"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06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ACF6-271F-2668-2CD4-D42843A1FCF6}"/>
              </a:ext>
            </a:extLst>
          </p:cNvPr>
          <p:cNvSpPr>
            <a:spLocks noGrp="1"/>
          </p:cNvSpPr>
          <p:nvPr>
            <p:ph type="title"/>
          </p:nvPr>
        </p:nvSpPr>
        <p:spPr/>
        <p:txBody>
          <a:bodyPr/>
          <a:lstStyle/>
          <a:p>
            <a:r>
              <a:rPr lang="en-CA" dirty="0">
                <a:latin typeface="Arial" panose="020B0604020202020204" pitchFamily="34" charset="0"/>
                <a:cs typeface="Arial" panose="020B0604020202020204" pitchFamily="34" charset="0"/>
              </a:rPr>
              <a:t>AI Scribes</a:t>
            </a:r>
          </a:p>
        </p:txBody>
      </p:sp>
      <p:sp>
        <p:nvSpPr>
          <p:cNvPr id="3" name="Content Placeholder 2">
            <a:extLst>
              <a:ext uri="{FF2B5EF4-FFF2-40B4-BE49-F238E27FC236}">
                <a16:creationId xmlns:a16="http://schemas.microsoft.com/office/drawing/2014/main" id="{9ACB9A96-959A-C7C3-C78F-3EBF1D4D9D01}"/>
              </a:ext>
            </a:extLst>
          </p:cNvPr>
          <p:cNvSpPr>
            <a:spLocks noGrp="1"/>
          </p:cNvSpPr>
          <p:nvPr>
            <p:ph idx="1"/>
          </p:nvPr>
        </p:nvSpPr>
        <p:spPr>
          <a:xfrm>
            <a:off x="609600" y="2680569"/>
            <a:ext cx="4791740" cy="3521793"/>
          </a:xfrm>
        </p:spPr>
        <p:txBody>
          <a:bodyPr/>
          <a:lstStyle/>
          <a:p>
            <a:pPr marL="0" indent="0">
              <a:buNone/>
            </a:pPr>
            <a:r>
              <a:rPr lang="en-CA" dirty="0">
                <a:latin typeface="Aptos" panose="020B0004020202020204" pitchFamily="34" charset="0"/>
              </a:rPr>
              <a:t>~150 PCPs over 3 months, found reported 3 hrs saved per week on after-hours admin</a:t>
            </a:r>
          </a:p>
          <a:p>
            <a:endParaRPr lang="en-CA" dirty="0">
              <a:latin typeface="Aptos" panose="020B0004020202020204" pitchFamily="34" charset="0"/>
            </a:endParaRPr>
          </a:p>
          <a:p>
            <a:pPr marL="0" indent="0">
              <a:buNone/>
            </a:pPr>
            <a:endParaRPr lang="en-CA" dirty="0">
              <a:latin typeface="Aptos" panose="020B0004020202020204" pitchFamily="34" charset="0"/>
            </a:endParaRPr>
          </a:p>
        </p:txBody>
      </p:sp>
      <p:pic>
        <p:nvPicPr>
          <p:cNvPr id="5" name="Picture 4">
            <a:extLst>
              <a:ext uri="{FF2B5EF4-FFF2-40B4-BE49-F238E27FC236}">
                <a16:creationId xmlns:a16="http://schemas.microsoft.com/office/drawing/2014/main" id="{FD858886-98F9-8FC7-AA22-1E1E66DCCFB2}"/>
              </a:ext>
            </a:extLst>
          </p:cNvPr>
          <p:cNvPicPr>
            <a:picLocks noChangeAspect="1"/>
          </p:cNvPicPr>
          <p:nvPr/>
        </p:nvPicPr>
        <p:blipFill>
          <a:blip r:embed="rId2"/>
          <a:stretch>
            <a:fillRect/>
          </a:stretch>
        </p:blipFill>
        <p:spPr>
          <a:xfrm>
            <a:off x="6254683" y="629007"/>
            <a:ext cx="5099117" cy="5599986"/>
          </a:xfrm>
          <a:prstGeom prst="rect">
            <a:avLst/>
          </a:prstGeom>
          <a:ln>
            <a:solidFill>
              <a:schemeClr val="tx1"/>
            </a:solidFill>
          </a:ln>
        </p:spPr>
      </p:pic>
    </p:spTree>
    <p:extLst>
      <p:ext uri="{BB962C8B-B14F-4D97-AF65-F5344CB8AC3E}">
        <p14:creationId xmlns:p14="http://schemas.microsoft.com/office/powerpoint/2010/main" val="758151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0E79-74AA-4AA8-24FE-24175ACF5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4423E-FF06-ACAF-6E50-6BB77979BAFF}"/>
              </a:ext>
            </a:extLst>
          </p:cNvPr>
          <p:cNvSpPr>
            <a:spLocks noGrp="1"/>
          </p:cNvSpPr>
          <p:nvPr>
            <p:ph type="title"/>
          </p:nvPr>
        </p:nvSpPr>
        <p:spPr/>
        <p:txBody>
          <a:bodyPr/>
          <a:lstStyle/>
          <a:p>
            <a:r>
              <a:rPr lang="en-CA" dirty="0">
                <a:latin typeface="Arial" panose="020B0604020202020204" pitchFamily="34" charset="0"/>
                <a:cs typeface="Arial" panose="020B0604020202020204" pitchFamily="34" charset="0"/>
              </a:rPr>
              <a:t>AI Scribes</a:t>
            </a:r>
          </a:p>
        </p:txBody>
      </p:sp>
      <p:sp>
        <p:nvSpPr>
          <p:cNvPr id="3" name="Content Placeholder 2">
            <a:extLst>
              <a:ext uri="{FF2B5EF4-FFF2-40B4-BE49-F238E27FC236}">
                <a16:creationId xmlns:a16="http://schemas.microsoft.com/office/drawing/2014/main" id="{64670F29-5FF5-BAE2-4E37-CE1A580C6638}"/>
              </a:ext>
            </a:extLst>
          </p:cNvPr>
          <p:cNvSpPr>
            <a:spLocks noGrp="1"/>
          </p:cNvSpPr>
          <p:nvPr>
            <p:ph idx="1"/>
          </p:nvPr>
        </p:nvSpPr>
        <p:spPr>
          <a:xfrm>
            <a:off x="609600" y="1690688"/>
            <a:ext cx="4791740" cy="4802187"/>
          </a:xfrm>
        </p:spPr>
        <p:txBody>
          <a:bodyPr>
            <a:normAutofit fontScale="92500" lnSpcReduction="10000"/>
          </a:bodyPr>
          <a:lstStyle/>
          <a:p>
            <a:r>
              <a:rPr lang="en-CA" dirty="0">
                <a:latin typeface="Aptos" panose="020B0004020202020204" pitchFamily="34" charset="0"/>
              </a:rPr>
              <a:t>66 outpatient practitioners</a:t>
            </a:r>
          </a:p>
          <a:p>
            <a:pPr lvl="1"/>
            <a:r>
              <a:rPr lang="en-CA" dirty="0">
                <a:latin typeface="Aptos" panose="020B0004020202020204" pitchFamily="34" charset="0"/>
              </a:rPr>
              <a:t>70% used scribe</a:t>
            </a:r>
          </a:p>
          <a:p>
            <a:pPr lvl="1"/>
            <a:r>
              <a:rPr lang="en-CA" dirty="0">
                <a:latin typeface="Aptos" panose="020B0004020202020204" pitchFamily="34" charset="0"/>
              </a:rPr>
              <a:t>Saved 0.36h per week</a:t>
            </a:r>
          </a:p>
          <a:p>
            <a:r>
              <a:rPr lang="en-CA" dirty="0">
                <a:latin typeface="Aptos" panose="020B0004020202020204" pitchFamily="34" charset="0"/>
              </a:rPr>
              <a:t>238 outpatient MDs randomized to DAX or </a:t>
            </a:r>
            <a:r>
              <a:rPr lang="en-CA" dirty="0" err="1">
                <a:latin typeface="Aptos" panose="020B0004020202020204" pitchFamily="34" charset="0"/>
              </a:rPr>
              <a:t>Nabla</a:t>
            </a:r>
            <a:endParaRPr lang="en-CA" dirty="0">
              <a:latin typeface="Aptos" panose="020B0004020202020204" pitchFamily="34" charset="0"/>
            </a:endParaRPr>
          </a:p>
          <a:p>
            <a:pPr lvl="1"/>
            <a:r>
              <a:rPr lang="en-CA" dirty="0">
                <a:latin typeface="Aptos" panose="020B0004020202020204" pitchFamily="34" charset="0"/>
              </a:rPr>
              <a:t>30% used scribe</a:t>
            </a:r>
          </a:p>
          <a:p>
            <a:pPr lvl="1"/>
            <a:r>
              <a:rPr lang="en-CA" dirty="0">
                <a:latin typeface="Aptos" panose="020B0004020202020204" pitchFamily="34" charset="0"/>
              </a:rPr>
              <a:t>DAX: no change in time-in-note</a:t>
            </a:r>
          </a:p>
          <a:p>
            <a:pPr lvl="1"/>
            <a:r>
              <a:rPr lang="en-CA" dirty="0" err="1">
                <a:latin typeface="Aptos" panose="020B0004020202020204" pitchFamily="34" charset="0"/>
              </a:rPr>
              <a:t>Nabla</a:t>
            </a:r>
            <a:r>
              <a:rPr lang="en-CA" dirty="0">
                <a:latin typeface="Aptos" panose="020B0004020202020204" pitchFamily="34" charset="0"/>
              </a:rPr>
              <a:t> 10% decrease in time in note (41 seconds)</a:t>
            </a:r>
          </a:p>
          <a:p>
            <a:pPr lvl="1"/>
            <a:r>
              <a:rPr lang="en-CA" dirty="0">
                <a:latin typeface="Aptos" panose="020B0004020202020204" pitchFamily="34" charset="0"/>
              </a:rPr>
              <a:t>Inaccuracies noted “occasionally”</a:t>
            </a:r>
          </a:p>
          <a:p>
            <a:r>
              <a:rPr lang="en-CA" dirty="0">
                <a:latin typeface="Aptos" panose="020B0004020202020204" pitchFamily="34" charset="0"/>
              </a:rPr>
              <a:t>Both studies: Potential improvement in burnout, task load, exhaustion</a:t>
            </a:r>
          </a:p>
        </p:txBody>
      </p:sp>
      <p:pic>
        <p:nvPicPr>
          <p:cNvPr id="10" name="Picture 9">
            <a:extLst>
              <a:ext uri="{FF2B5EF4-FFF2-40B4-BE49-F238E27FC236}">
                <a16:creationId xmlns:a16="http://schemas.microsoft.com/office/drawing/2014/main" id="{59F3B284-0152-B64C-F242-37F56D08E081}"/>
              </a:ext>
            </a:extLst>
          </p:cNvPr>
          <p:cNvPicPr>
            <a:picLocks noChangeAspect="1"/>
          </p:cNvPicPr>
          <p:nvPr/>
        </p:nvPicPr>
        <p:blipFill>
          <a:blip r:embed="rId2"/>
          <a:stretch>
            <a:fillRect/>
          </a:stretch>
        </p:blipFill>
        <p:spPr>
          <a:xfrm>
            <a:off x="6096000" y="540453"/>
            <a:ext cx="4424027" cy="4127326"/>
          </a:xfrm>
          <a:prstGeom prst="rect">
            <a:avLst/>
          </a:prstGeom>
          <a:ln>
            <a:solidFill>
              <a:schemeClr val="tx1"/>
            </a:solidFill>
          </a:ln>
        </p:spPr>
      </p:pic>
      <p:pic>
        <p:nvPicPr>
          <p:cNvPr id="8" name="Picture 7">
            <a:extLst>
              <a:ext uri="{FF2B5EF4-FFF2-40B4-BE49-F238E27FC236}">
                <a16:creationId xmlns:a16="http://schemas.microsoft.com/office/drawing/2014/main" id="{F66C6DE6-DC9A-448A-C806-F35E82400EE3}"/>
              </a:ext>
            </a:extLst>
          </p:cNvPr>
          <p:cNvPicPr>
            <a:picLocks noChangeAspect="1"/>
          </p:cNvPicPr>
          <p:nvPr/>
        </p:nvPicPr>
        <p:blipFill>
          <a:blip r:embed="rId3"/>
          <a:stretch>
            <a:fillRect/>
          </a:stretch>
        </p:blipFill>
        <p:spPr>
          <a:xfrm>
            <a:off x="7427466" y="2344781"/>
            <a:ext cx="4593345" cy="3972766"/>
          </a:xfrm>
          <a:prstGeom prst="rect">
            <a:avLst/>
          </a:prstGeom>
          <a:ln>
            <a:solidFill>
              <a:schemeClr val="tx1"/>
            </a:solidFill>
          </a:ln>
        </p:spPr>
      </p:pic>
    </p:spTree>
    <p:extLst>
      <p:ext uri="{BB962C8B-B14F-4D97-AF65-F5344CB8AC3E}">
        <p14:creationId xmlns:p14="http://schemas.microsoft.com/office/powerpoint/2010/main" val="730789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B21A5-6A28-A44B-9330-3033E4C7C7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4A9979-3ED6-A66F-C97B-7739AADF00E4}"/>
              </a:ext>
            </a:extLst>
          </p:cNvPr>
          <p:cNvPicPr>
            <a:picLocks noChangeAspect="1"/>
          </p:cNvPicPr>
          <p:nvPr/>
        </p:nvPicPr>
        <p:blipFill>
          <a:blip r:embed="rId2"/>
          <a:stretch>
            <a:fillRect/>
          </a:stretch>
        </p:blipFill>
        <p:spPr>
          <a:xfrm>
            <a:off x="6583268" y="158033"/>
            <a:ext cx="3421326" cy="4475664"/>
          </a:xfrm>
          <a:prstGeom prst="rect">
            <a:avLst/>
          </a:prstGeom>
          <a:ln>
            <a:solidFill>
              <a:schemeClr val="tx1"/>
            </a:solidFill>
          </a:ln>
        </p:spPr>
      </p:pic>
      <p:sp>
        <p:nvSpPr>
          <p:cNvPr id="10" name="TextBox 9">
            <a:extLst>
              <a:ext uri="{FF2B5EF4-FFF2-40B4-BE49-F238E27FC236}">
                <a16:creationId xmlns:a16="http://schemas.microsoft.com/office/drawing/2014/main" id="{76BD0872-6F01-20E4-543A-48994B280A27}"/>
              </a:ext>
            </a:extLst>
          </p:cNvPr>
          <p:cNvSpPr txBox="1"/>
          <p:nvPr/>
        </p:nvSpPr>
        <p:spPr>
          <a:xfrm>
            <a:off x="587829" y="2057400"/>
            <a:ext cx="5410200" cy="1015663"/>
          </a:xfrm>
          <a:prstGeom prst="rect">
            <a:avLst/>
          </a:prstGeom>
          <a:noFill/>
        </p:spPr>
        <p:txBody>
          <a:bodyPr wrap="square" rtlCol="0">
            <a:spAutoFit/>
          </a:bodyPr>
          <a:lstStyle/>
          <a:p>
            <a:pPr marL="285750" indent="-285750">
              <a:buFont typeface="Arial" panose="020B0604020202020204" pitchFamily="34" charset="0"/>
              <a:buChar char="•"/>
            </a:pPr>
            <a:r>
              <a:rPr lang="en-CA" sz="2000" dirty="0">
                <a:latin typeface="Aptos" panose="020B0004020202020204" pitchFamily="34" charset="0"/>
              </a:rPr>
              <a:t>AI produced resident level discharge summaries in Urology clinics</a:t>
            </a:r>
          </a:p>
          <a:p>
            <a:pPr marL="285750" indent="-285750">
              <a:buFont typeface="Arial" panose="020B0604020202020204" pitchFamily="34" charset="0"/>
              <a:buChar char="•"/>
            </a:pPr>
            <a:endParaRPr lang="en-CA" sz="2000" dirty="0">
              <a:latin typeface="Aptos" panose="020B0004020202020204" pitchFamily="34" charset="0"/>
            </a:endParaRPr>
          </a:p>
        </p:txBody>
      </p:sp>
      <p:sp>
        <p:nvSpPr>
          <p:cNvPr id="6" name="Title 1">
            <a:extLst>
              <a:ext uri="{FF2B5EF4-FFF2-40B4-BE49-F238E27FC236}">
                <a16:creationId xmlns:a16="http://schemas.microsoft.com/office/drawing/2014/main" id="{516F4010-2A09-EDCE-1E9E-F55BB8BD979D}"/>
              </a:ext>
            </a:extLst>
          </p:cNvPr>
          <p:cNvSpPr>
            <a:spLocks noGrp="1"/>
          </p:cNvSpPr>
          <p:nvPr>
            <p:ph type="title"/>
          </p:nvPr>
        </p:nvSpPr>
        <p:spPr>
          <a:xfrm>
            <a:off x="381000" y="542925"/>
            <a:ext cx="5998535" cy="1325563"/>
          </a:xfrm>
        </p:spPr>
        <p:txBody>
          <a:bodyPr>
            <a:noAutofit/>
          </a:bodyPr>
          <a:lstStyle/>
          <a:p>
            <a:r>
              <a:rPr lang="en-CA" dirty="0">
                <a:latin typeface="Arial" panose="020B0604020202020204" pitchFamily="34" charset="0"/>
                <a:cs typeface="Arial" panose="020B0604020202020204" pitchFamily="34" charset="0"/>
              </a:rPr>
              <a:t>Gather History and Summarize Information</a:t>
            </a:r>
            <a:br>
              <a:rPr lang="en-CA" dirty="0">
                <a:latin typeface="Arial" panose="020B0604020202020204" pitchFamily="34" charset="0"/>
                <a:cs typeface="Arial" panose="020B0604020202020204" pitchFamily="34" charset="0"/>
              </a:rPr>
            </a:br>
            <a:r>
              <a:rPr lang="en-CA" dirty="0">
                <a:solidFill>
                  <a:schemeClr val="accent6"/>
                </a:solidFill>
                <a:latin typeface="Arial" panose="020B0604020202020204" pitchFamily="34" charset="0"/>
                <a:cs typeface="Arial" panose="020B0604020202020204" pitchFamily="34" charset="0"/>
              </a:rPr>
              <a:t>From EHR</a:t>
            </a:r>
          </a:p>
        </p:txBody>
      </p:sp>
    </p:spTree>
    <p:extLst>
      <p:ext uri="{BB962C8B-B14F-4D97-AF65-F5344CB8AC3E}">
        <p14:creationId xmlns:p14="http://schemas.microsoft.com/office/powerpoint/2010/main" val="2684085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73CED-35C7-0B63-0736-DF56853409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6B452F-51C6-0103-E88E-854BF4115DB4}"/>
              </a:ext>
            </a:extLst>
          </p:cNvPr>
          <p:cNvPicPr>
            <a:picLocks noChangeAspect="1"/>
          </p:cNvPicPr>
          <p:nvPr/>
        </p:nvPicPr>
        <p:blipFill>
          <a:blip r:embed="rId2"/>
          <a:stretch>
            <a:fillRect/>
          </a:stretch>
        </p:blipFill>
        <p:spPr>
          <a:xfrm>
            <a:off x="6583268" y="158033"/>
            <a:ext cx="3421326" cy="4475664"/>
          </a:xfrm>
          <a:prstGeom prst="rect">
            <a:avLst/>
          </a:prstGeom>
          <a:ln>
            <a:solidFill>
              <a:schemeClr val="tx1"/>
            </a:solidFill>
          </a:ln>
        </p:spPr>
      </p:pic>
      <p:pic>
        <p:nvPicPr>
          <p:cNvPr id="7" name="Picture 6">
            <a:extLst>
              <a:ext uri="{FF2B5EF4-FFF2-40B4-BE49-F238E27FC236}">
                <a16:creationId xmlns:a16="http://schemas.microsoft.com/office/drawing/2014/main" id="{A328B6DF-8F7A-18EB-1BB5-594136A27148}"/>
              </a:ext>
            </a:extLst>
          </p:cNvPr>
          <p:cNvPicPr>
            <a:picLocks noChangeAspect="1"/>
          </p:cNvPicPr>
          <p:nvPr/>
        </p:nvPicPr>
        <p:blipFill>
          <a:blip r:embed="rId3"/>
          <a:stretch>
            <a:fillRect/>
          </a:stretch>
        </p:blipFill>
        <p:spPr>
          <a:xfrm>
            <a:off x="7404783" y="1267633"/>
            <a:ext cx="3467462" cy="4322734"/>
          </a:xfrm>
          <a:prstGeom prst="rect">
            <a:avLst/>
          </a:prstGeom>
          <a:ln>
            <a:solidFill>
              <a:schemeClr val="tx1"/>
            </a:solidFill>
          </a:ln>
        </p:spPr>
      </p:pic>
      <p:sp>
        <p:nvSpPr>
          <p:cNvPr id="10" name="TextBox 9">
            <a:extLst>
              <a:ext uri="{FF2B5EF4-FFF2-40B4-BE49-F238E27FC236}">
                <a16:creationId xmlns:a16="http://schemas.microsoft.com/office/drawing/2014/main" id="{0C0B5D2B-0DA8-1909-A72C-6DCABC47E134}"/>
              </a:ext>
            </a:extLst>
          </p:cNvPr>
          <p:cNvSpPr txBox="1"/>
          <p:nvPr/>
        </p:nvSpPr>
        <p:spPr>
          <a:xfrm>
            <a:off x="587829" y="2057400"/>
            <a:ext cx="5410200" cy="1938992"/>
          </a:xfrm>
          <a:prstGeom prst="rect">
            <a:avLst/>
          </a:prstGeom>
          <a:noFill/>
        </p:spPr>
        <p:txBody>
          <a:bodyPr wrap="square" rtlCol="0">
            <a:spAutoFit/>
          </a:bodyPr>
          <a:lstStyle/>
          <a:p>
            <a:pPr marL="285750" indent="-285750">
              <a:buFont typeface="Arial" panose="020B0604020202020204" pitchFamily="34" charset="0"/>
              <a:buChar char="•"/>
            </a:pPr>
            <a:r>
              <a:rPr lang="en-CA" sz="2000" dirty="0">
                <a:latin typeface="Aptos" panose="020B0004020202020204" pitchFamily="34" charset="0"/>
              </a:rPr>
              <a:t>AI produced resident level discharge summaries in Urology clinics</a:t>
            </a:r>
          </a:p>
          <a:p>
            <a:pPr marL="285750" indent="-285750">
              <a:buFont typeface="Arial" panose="020B0604020202020204" pitchFamily="34" charset="0"/>
              <a:buChar char="•"/>
            </a:pPr>
            <a:r>
              <a:rPr lang="en-CA" sz="2000" dirty="0">
                <a:latin typeface="Aptos" panose="020B0004020202020204" pitchFamily="34" charset="0"/>
              </a:rPr>
              <a:t>AI produced hospital discharge summaries for ICU patients with </a:t>
            </a:r>
            <a:r>
              <a:rPr lang="en-CA" sz="2000" b="1" dirty="0">
                <a:solidFill>
                  <a:schemeClr val="accent6"/>
                </a:solidFill>
                <a:latin typeface="Aptos" panose="020B0004020202020204" pitchFamily="34" charset="0"/>
              </a:rPr>
              <a:t>~80% accuracy </a:t>
            </a:r>
            <a:r>
              <a:rPr lang="en-CA" sz="2000" dirty="0">
                <a:latin typeface="Aptos" panose="020B0004020202020204" pitchFamily="34" charset="0"/>
              </a:rPr>
              <a:t>on details but </a:t>
            </a:r>
            <a:r>
              <a:rPr lang="en-CA" sz="2000" b="1" dirty="0">
                <a:solidFill>
                  <a:srgbClr val="FF0000"/>
                </a:solidFill>
                <a:latin typeface="Aptos" panose="020B0004020202020204" pitchFamily="34" charset="0"/>
              </a:rPr>
              <a:t>14% hallucinations</a:t>
            </a:r>
          </a:p>
          <a:p>
            <a:pPr marL="285750" indent="-285750">
              <a:buFont typeface="Arial" panose="020B0604020202020204" pitchFamily="34" charset="0"/>
              <a:buChar char="•"/>
            </a:pPr>
            <a:endParaRPr lang="en-CA" sz="2000" dirty="0">
              <a:latin typeface="Aptos" panose="020B0004020202020204" pitchFamily="34" charset="0"/>
            </a:endParaRPr>
          </a:p>
        </p:txBody>
      </p:sp>
      <p:sp>
        <p:nvSpPr>
          <p:cNvPr id="6" name="Title 1">
            <a:extLst>
              <a:ext uri="{FF2B5EF4-FFF2-40B4-BE49-F238E27FC236}">
                <a16:creationId xmlns:a16="http://schemas.microsoft.com/office/drawing/2014/main" id="{333222F0-03D4-1725-8015-04C6DE4E244F}"/>
              </a:ext>
            </a:extLst>
          </p:cNvPr>
          <p:cNvSpPr>
            <a:spLocks noGrp="1"/>
          </p:cNvSpPr>
          <p:nvPr>
            <p:ph type="title"/>
          </p:nvPr>
        </p:nvSpPr>
        <p:spPr>
          <a:xfrm>
            <a:off x="381000" y="542925"/>
            <a:ext cx="5998535" cy="1325563"/>
          </a:xfrm>
        </p:spPr>
        <p:txBody>
          <a:bodyPr>
            <a:noAutofit/>
          </a:bodyPr>
          <a:lstStyle/>
          <a:p>
            <a:r>
              <a:rPr lang="en-CA" dirty="0">
                <a:latin typeface="Arial" panose="020B0604020202020204" pitchFamily="34" charset="0"/>
                <a:cs typeface="Arial" panose="020B0604020202020204" pitchFamily="34" charset="0"/>
              </a:rPr>
              <a:t>Gather History and Summarize Information</a:t>
            </a:r>
            <a:br>
              <a:rPr lang="en-CA" dirty="0">
                <a:latin typeface="Arial" panose="020B0604020202020204" pitchFamily="34" charset="0"/>
                <a:cs typeface="Arial" panose="020B0604020202020204" pitchFamily="34" charset="0"/>
              </a:rPr>
            </a:br>
            <a:r>
              <a:rPr lang="en-CA" dirty="0">
                <a:solidFill>
                  <a:schemeClr val="accent6"/>
                </a:solidFill>
                <a:latin typeface="Arial" panose="020B0604020202020204" pitchFamily="34" charset="0"/>
                <a:cs typeface="Arial" panose="020B0604020202020204" pitchFamily="34" charset="0"/>
              </a:rPr>
              <a:t>From EHR</a:t>
            </a:r>
          </a:p>
        </p:txBody>
      </p:sp>
    </p:spTree>
    <p:extLst>
      <p:ext uri="{BB962C8B-B14F-4D97-AF65-F5344CB8AC3E}">
        <p14:creationId xmlns:p14="http://schemas.microsoft.com/office/powerpoint/2010/main" val="2991783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5A6FF-561E-F709-F3A2-49F77D3FF0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A642C5-AEFE-CBF0-D1D1-903E095A9352}"/>
              </a:ext>
            </a:extLst>
          </p:cNvPr>
          <p:cNvPicPr>
            <a:picLocks noChangeAspect="1"/>
          </p:cNvPicPr>
          <p:nvPr/>
        </p:nvPicPr>
        <p:blipFill>
          <a:blip r:embed="rId2"/>
          <a:stretch>
            <a:fillRect/>
          </a:stretch>
        </p:blipFill>
        <p:spPr>
          <a:xfrm>
            <a:off x="6583268" y="158033"/>
            <a:ext cx="3421326" cy="4475664"/>
          </a:xfrm>
          <a:prstGeom prst="rect">
            <a:avLst/>
          </a:prstGeom>
          <a:ln>
            <a:solidFill>
              <a:schemeClr val="tx1"/>
            </a:solidFill>
          </a:ln>
        </p:spPr>
      </p:pic>
      <p:pic>
        <p:nvPicPr>
          <p:cNvPr id="7" name="Picture 6">
            <a:extLst>
              <a:ext uri="{FF2B5EF4-FFF2-40B4-BE49-F238E27FC236}">
                <a16:creationId xmlns:a16="http://schemas.microsoft.com/office/drawing/2014/main" id="{B9D7DB53-92CB-3BAB-ADD4-744D293DF63A}"/>
              </a:ext>
            </a:extLst>
          </p:cNvPr>
          <p:cNvPicPr>
            <a:picLocks noChangeAspect="1"/>
          </p:cNvPicPr>
          <p:nvPr/>
        </p:nvPicPr>
        <p:blipFill>
          <a:blip r:embed="rId3"/>
          <a:stretch>
            <a:fillRect/>
          </a:stretch>
        </p:blipFill>
        <p:spPr>
          <a:xfrm>
            <a:off x="7404783" y="1267633"/>
            <a:ext cx="3467462" cy="4322734"/>
          </a:xfrm>
          <a:prstGeom prst="rect">
            <a:avLst/>
          </a:prstGeom>
          <a:ln>
            <a:solidFill>
              <a:schemeClr val="tx1"/>
            </a:solidFill>
          </a:ln>
        </p:spPr>
      </p:pic>
      <p:pic>
        <p:nvPicPr>
          <p:cNvPr id="9" name="Picture 8">
            <a:extLst>
              <a:ext uri="{FF2B5EF4-FFF2-40B4-BE49-F238E27FC236}">
                <a16:creationId xmlns:a16="http://schemas.microsoft.com/office/drawing/2014/main" id="{BCA0D464-4275-8EE3-A0A7-7DC9564CAF2F}"/>
              </a:ext>
            </a:extLst>
          </p:cNvPr>
          <p:cNvPicPr>
            <a:picLocks noChangeAspect="1"/>
          </p:cNvPicPr>
          <p:nvPr/>
        </p:nvPicPr>
        <p:blipFill>
          <a:blip r:embed="rId4"/>
          <a:stretch>
            <a:fillRect/>
          </a:stretch>
        </p:blipFill>
        <p:spPr>
          <a:xfrm>
            <a:off x="8166782" y="2160361"/>
            <a:ext cx="3263219" cy="4201886"/>
          </a:xfrm>
          <a:prstGeom prst="rect">
            <a:avLst/>
          </a:prstGeom>
          <a:ln>
            <a:solidFill>
              <a:schemeClr val="tx1"/>
            </a:solidFill>
          </a:ln>
        </p:spPr>
      </p:pic>
      <p:sp>
        <p:nvSpPr>
          <p:cNvPr id="10" name="TextBox 9">
            <a:extLst>
              <a:ext uri="{FF2B5EF4-FFF2-40B4-BE49-F238E27FC236}">
                <a16:creationId xmlns:a16="http://schemas.microsoft.com/office/drawing/2014/main" id="{B22799F6-DECB-D1A7-A40D-4B963B4231CF}"/>
              </a:ext>
            </a:extLst>
          </p:cNvPr>
          <p:cNvSpPr txBox="1"/>
          <p:nvPr/>
        </p:nvSpPr>
        <p:spPr>
          <a:xfrm>
            <a:off x="587829" y="2057400"/>
            <a:ext cx="5410200" cy="3170099"/>
          </a:xfrm>
          <a:prstGeom prst="rect">
            <a:avLst/>
          </a:prstGeom>
          <a:noFill/>
        </p:spPr>
        <p:txBody>
          <a:bodyPr wrap="square" rtlCol="0">
            <a:spAutoFit/>
          </a:bodyPr>
          <a:lstStyle/>
          <a:p>
            <a:pPr marL="285750" indent="-285750">
              <a:buFont typeface="Arial" panose="020B0604020202020204" pitchFamily="34" charset="0"/>
              <a:buChar char="•"/>
            </a:pPr>
            <a:r>
              <a:rPr lang="en-CA" sz="2000" dirty="0">
                <a:latin typeface="Aptos" panose="020B0004020202020204" pitchFamily="34" charset="0"/>
              </a:rPr>
              <a:t>AI produced resident level discharge summaries in Urology clinics</a:t>
            </a:r>
          </a:p>
          <a:p>
            <a:pPr marL="285750" indent="-285750">
              <a:buFont typeface="Arial" panose="020B0604020202020204" pitchFamily="34" charset="0"/>
              <a:buChar char="•"/>
            </a:pPr>
            <a:r>
              <a:rPr lang="en-CA" sz="2000" dirty="0">
                <a:latin typeface="Aptos" panose="020B0004020202020204" pitchFamily="34" charset="0"/>
              </a:rPr>
              <a:t>AI produced hospital discharge summaries for ICU patients with </a:t>
            </a:r>
            <a:r>
              <a:rPr lang="en-CA" sz="2000" b="1" dirty="0">
                <a:solidFill>
                  <a:schemeClr val="accent6"/>
                </a:solidFill>
                <a:latin typeface="Aptos" panose="020B0004020202020204" pitchFamily="34" charset="0"/>
              </a:rPr>
              <a:t>~80% accuracy </a:t>
            </a:r>
            <a:r>
              <a:rPr lang="en-CA" sz="2000" dirty="0">
                <a:latin typeface="Aptos" panose="020B0004020202020204" pitchFamily="34" charset="0"/>
              </a:rPr>
              <a:t>on details but </a:t>
            </a:r>
            <a:r>
              <a:rPr lang="en-CA" sz="2000" b="1" dirty="0">
                <a:solidFill>
                  <a:srgbClr val="FF0000"/>
                </a:solidFill>
                <a:latin typeface="Aptos" panose="020B0004020202020204" pitchFamily="34" charset="0"/>
              </a:rPr>
              <a:t>14% hallucinations</a:t>
            </a:r>
          </a:p>
          <a:p>
            <a:pPr marL="285750" indent="-285750">
              <a:buFont typeface="Arial" panose="020B0604020202020204" pitchFamily="34" charset="0"/>
              <a:buChar char="•"/>
            </a:pPr>
            <a:r>
              <a:rPr lang="en-CA" sz="2000" dirty="0">
                <a:latin typeface="Aptos" panose="020B0004020202020204" pitchFamily="34" charset="0"/>
              </a:rPr>
              <a:t>On psychiatric discharge summaries </a:t>
            </a:r>
            <a:r>
              <a:rPr lang="en-CA" sz="2000" b="1" dirty="0">
                <a:solidFill>
                  <a:schemeClr val="accent6"/>
                </a:solidFill>
                <a:latin typeface="Aptos" panose="020B0004020202020204" pitchFamily="34" charset="0"/>
              </a:rPr>
              <a:t>22% of AI </a:t>
            </a:r>
            <a:r>
              <a:rPr lang="en-CA" sz="2000" dirty="0">
                <a:latin typeface="Aptos" panose="020B0004020202020204" pitchFamily="34" charset="0"/>
              </a:rPr>
              <a:t>summaries were ranked “favorable” (vs 67% of resident summaries) with </a:t>
            </a:r>
            <a:r>
              <a:rPr lang="en-CA" sz="2000" b="1" dirty="0">
                <a:solidFill>
                  <a:srgbClr val="FF0000"/>
                </a:solidFill>
                <a:latin typeface="Aptos" panose="020B0004020202020204" pitchFamily="34" charset="0"/>
              </a:rPr>
              <a:t>40% hallucinations</a:t>
            </a:r>
          </a:p>
          <a:p>
            <a:pPr marL="285750" indent="-285750">
              <a:buFont typeface="Arial" panose="020B0604020202020204" pitchFamily="34" charset="0"/>
              <a:buChar char="•"/>
            </a:pPr>
            <a:endParaRPr lang="en-CA" sz="2000" dirty="0">
              <a:latin typeface="Aptos" panose="020B0004020202020204" pitchFamily="34" charset="0"/>
            </a:endParaRPr>
          </a:p>
        </p:txBody>
      </p:sp>
      <p:sp>
        <p:nvSpPr>
          <p:cNvPr id="6" name="Title 1">
            <a:extLst>
              <a:ext uri="{FF2B5EF4-FFF2-40B4-BE49-F238E27FC236}">
                <a16:creationId xmlns:a16="http://schemas.microsoft.com/office/drawing/2014/main" id="{40F42A0D-2130-D6E5-570C-FFF9531EFB99}"/>
              </a:ext>
            </a:extLst>
          </p:cNvPr>
          <p:cNvSpPr>
            <a:spLocks noGrp="1"/>
          </p:cNvSpPr>
          <p:nvPr>
            <p:ph type="title"/>
          </p:nvPr>
        </p:nvSpPr>
        <p:spPr>
          <a:xfrm>
            <a:off x="381000" y="542925"/>
            <a:ext cx="5998535" cy="1325563"/>
          </a:xfrm>
        </p:spPr>
        <p:txBody>
          <a:bodyPr>
            <a:noAutofit/>
          </a:bodyPr>
          <a:lstStyle/>
          <a:p>
            <a:r>
              <a:rPr lang="en-CA" dirty="0">
                <a:latin typeface="Arial" panose="020B0604020202020204" pitchFamily="34" charset="0"/>
                <a:cs typeface="Arial" panose="020B0604020202020204" pitchFamily="34" charset="0"/>
              </a:rPr>
              <a:t>Gather History and Summarize Information</a:t>
            </a:r>
            <a:br>
              <a:rPr lang="en-CA" dirty="0">
                <a:latin typeface="Arial" panose="020B0604020202020204" pitchFamily="34" charset="0"/>
                <a:cs typeface="Arial" panose="020B0604020202020204" pitchFamily="34" charset="0"/>
              </a:rPr>
            </a:br>
            <a:r>
              <a:rPr lang="en-CA" dirty="0">
                <a:solidFill>
                  <a:schemeClr val="accent6"/>
                </a:solidFill>
                <a:latin typeface="Arial" panose="020B0604020202020204" pitchFamily="34" charset="0"/>
                <a:cs typeface="Arial" panose="020B0604020202020204" pitchFamily="34" charset="0"/>
              </a:rPr>
              <a:t>From EHR</a:t>
            </a:r>
          </a:p>
        </p:txBody>
      </p:sp>
    </p:spTree>
    <p:extLst>
      <p:ext uri="{BB962C8B-B14F-4D97-AF65-F5344CB8AC3E}">
        <p14:creationId xmlns:p14="http://schemas.microsoft.com/office/powerpoint/2010/main" val="336303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07104-00A9-B512-1AB3-CBF63CF177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72FEE3-7CC3-2CD4-6CD7-2AC4D1BF2FCC}"/>
              </a:ext>
            </a:extLst>
          </p:cNvPr>
          <p:cNvPicPr>
            <a:picLocks noChangeAspect="1"/>
          </p:cNvPicPr>
          <p:nvPr/>
        </p:nvPicPr>
        <p:blipFill>
          <a:blip r:embed="rId2"/>
          <a:srcRect t="6753"/>
          <a:stretch/>
        </p:blipFill>
        <p:spPr>
          <a:xfrm>
            <a:off x="6516084" y="542925"/>
            <a:ext cx="5589297" cy="5263079"/>
          </a:xfrm>
          <a:prstGeom prst="rect">
            <a:avLst/>
          </a:prstGeom>
          <a:ln>
            <a:solidFill>
              <a:schemeClr val="tx1"/>
            </a:solidFill>
          </a:ln>
        </p:spPr>
      </p:pic>
      <p:sp>
        <p:nvSpPr>
          <p:cNvPr id="6" name="TextBox 5">
            <a:extLst>
              <a:ext uri="{FF2B5EF4-FFF2-40B4-BE49-F238E27FC236}">
                <a16:creationId xmlns:a16="http://schemas.microsoft.com/office/drawing/2014/main" id="{D081DA29-090D-56C3-B38A-F54A980B21E0}"/>
              </a:ext>
            </a:extLst>
          </p:cNvPr>
          <p:cNvSpPr txBox="1"/>
          <p:nvPr/>
        </p:nvSpPr>
        <p:spPr>
          <a:xfrm>
            <a:off x="599245" y="2791907"/>
            <a:ext cx="4648200" cy="2246769"/>
          </a:xfrm>
          <a:prstGeom prst="rect">
            <a:avLst/>
          </a:prstGeom>
          <a:noFill/>
        </p:spPr>
        <p:txBody>
          <a:bodyPr wrap="square" rtlCol="0">
            <a:spAutoFit/>
          </a:bodyPr>
          <a:lstStyle/>
          <a:p>
            <a:r>
              <a:rPr lang="en-CA" sz="2800" dirty="0">
                <a:latin typeface="Aptos" panose="020B0004020202020204" pitchFamily="34" charset="0"/>
              </a:rPr>
              <a:t>Adding “Retrieval Augmented Generation” (RAG) improved note accuracy to </a:t>
            </a:r>
            <a:r>
              <a:rPr lang="en-CA" sz="2800" b="1" dirty="0">
                <a:solidFill>
                  <a:schemeClr val="accent6"/>
                </a:solidFill>
                <a:latin typeface="Aptos" panose="020B0004020202020204" pitchFamily="34" charset="0"/>
              </a:rPr>
              <a:t>&gt;90% </a:t>
            </a:r>
            <a:r>
              <a:rPr lang="en-CA" sz="2800" dirty="0">
                <a:latin typeface="Aptos" panose="020B0004020202020204" pitchFamily="34" charset="0"/>
              </a:rPr>
              <a:t>with </a:t>
            </a:r>
            <a:r>
              <a:rPr lang="en-CA" sz="2800" b="1" dirty="0">
                <a:solidFill>
                  <a:schemeClr val="accent6"/>
                </a:solidFill>
                <a:latin typeface="Aptos" panose="020B0004020202020204" pitchFamily="34" charset="0"/>
              </a:rPr>
              <a:t>zero hallucinations </a:t>
            </a:r>
            <a:endParaRPr lang="en-CA" sz="2800" dirty="0">
              <a:latin typeface="Aptos" panose="020B0004020202020204" pitchFamily="34" charset="0"/>
            </a:endParaRPr>
          </a:p>
        </p:txBody>
      </p:sp>
      <p:sp>
        <p:nvSpPr>
          <p:cNvPr id="5" name="Title 1">
            <a:extLst>
              <a:ext uri="{FF2B5EF4-FFF2-40B4-BE49-F238E27FC236}">
                <a16:creationId xmlns:a16="http://schemas.microsoft.com/office/drawing/2014/main" id="{74D77BDE-C33A-FC04-3EF8-4399BE9E74BC}"/>
              </a:ext>
            </a:extLst>
          </p:cNvPr>
          <p:cNvSpPr>
            <a:spLocks noGrp="1"/>
          </p:cNvSpPr>
          <p:nvPr>
            <p:ph type="title"/>
          </p:nvPr>
        </p:nvSpPr>
        <p:spPr>
          <a:xfrm>
            <a:off x="381000" y="542925"/>
            <a:ext cx="5998535" cy="1325563"/>
          </a:xfrm>
        </p:spPr>
        <p:txBody>
          <a:bodyPr>
            <a:noAutofit/>
          </a:bodyPr>
          <a:lstStyle/>
          <a:p>
            <a:r>
              <a:rPr lang="en-CA" dirty="0">
                <a:latin typeface="Arial" panose="020B0604020202020204" pitchFamily="34" charset="0"/>
                <a:cs typeface="Arial" panose="020B0604020202020204" pitchFamily="34" charset="0"/>
              </a:rPr>
              <a:t>Gather History and Summarize Information</a:t>
            </a:r>
            <a:br>
              <a:rPr lang="en-CA" dirty="0">
                <a:latin typeface="Arial" panose="020B0604020202020204" pitchFamily="34" charset="0"/>
                <a:cs typeface="Arial" panose="020B0604020202020204" pitchFamily="34" charset="0"/>
              </a:rPr>
            </a:br>
            <a:r>
              <a:rPr lang="en-CA" dirty="0">
                <a:solidFill>
                  <a:schemeClr val="accent6"/>
                </a:solidFill>
                <a:latin typeface="Arial" panose="020B0604020202020204" pitchFamily="34" charset="0"/>
                <a:cs typeface="Arial" panose="020B0604020202020204" pitchFamily="34" charset="0"/>
              </a:rPr>
              <a:t>From EHR</a:t>
            </a:r>
          </a:p>
        </p:txBody>
      </p:sp>
    </p:spTree>
    <p:extLst>
      <p:ext uri="{BB962C8B-B14F-4D97-AF65-F5344CB8AC3E}">
        <p14:creationId xmlns:p14="http://schemas.microsoft.com/office/powerpoint/2010/main" val="247056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B4F7D-8780-8298-E8FF-01FF92A1C95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22E2CDD-07FF-54B7-6D74-88EDCA699B4F}"/>
              </a:ext>
            </a:extLst>
          </p:cNvPr>
          <p:cNvSpPr txBox="1"/>
          <p:nvPr/>
        </p:nvSpPr>
        <p:spPr>
          <a:xfrm>
            <a:off x="501273" y="2639507"/>
            <a:ext cx="5496756" cy="3108543"/>
          </a:xfrm>
          <a:prstGeom prst="rect">
            <a:avLst/>
          </a:prstGeom>
          <a:noFill/>
        </p:spPr>
        <p:txBody>
          <a:bodyPr wrap="square" rtlCol="0">
            <a:spAutoFit/>
          </a:bodyPr>
          <a:lstStyle/>
          <a:p>
            <a:r>
              <a:rPr lang="en-CA" sz="2800" dirty="0">
                <a:latin typeface="Aptos" panose="020B0004020202020204" pitchFamily="34" charset="0"/>
              </a:rPr>
              <a:t>Google Research developed the “Articulate Medical Intelligence Explorer (AMIE)”. </a:t>
            </a:r>
          </a:p>
          <a:p>
            <a:endParaRPr lang="en-CA" sz="2800" dirty="0">
              <a:latin typeface="Aptos" panose="020B0004020202020204" pitchFamily="34" charset="0"/>
            </a:endParaRPr>
          </a:p>
          <a:p>
            <a:r>
              <a:rPr lang="en-CA" sz="2800" dirty="0">
                <a:latin typeface="Aptos" panose="020B0004020202020204" pitchFamily="34" charset="0"/>
              </a:rPr>
              <a:t>Randomized study vs MDs in text-based consultations with patient actors.</a:t>
            </a:r>
          </a:p>
        </p:txBody>
      </p:sp>
      <p:pic>
        <p:nvPicPr>
          <p:cNvPr id="5" name="Picture 4">
            <a:extLst>
              <a:ext uri="{FF2B5EF4-FFF2-40B4-BE49-F238E27FC236}">
                <a16:creationId xmlns:a16="http://schemas.microsoft.com/office/drawing/2014/main" id="{5ACE1F64-DAEC-7C90-DEC5-1D35566708D9}"/>
              </a:ext>
            </a:extLst>
          </p:cNvPr>
          <p:cNvPicPr>
            <a:picLocks noChangeAspect="1"/>
          </p:cNvPicPr>
          <p:nvPr/>
        </p:nvPicPr>
        <p:blipFill>
          <a:blip r:embed="rId2"/>
          <a:srcRect l="1" t="2811" r="29144"/>
          <a:stretch/>
        </p:blipFill>
        <p:spPr>
          <a:xfrm>
            <a:off x="6248998" y="538914"/>
            <a:ext cx="5562002" cy="6008771"/>
          </a:xfrm>
          <a:prstGeom prst="rect">
            <a:avLst/>
          </a:prstGeom>
        </p:spPr>
      </p:pic>
      <p:sp>
        <p:nvSpPr>
          <p:cNvPr id="7" name="TextBox 6">
            <a:extLst>
              <a:ext uri="{FF2B5EF4-FFF2-40B4-BE49-F238E27FC236}">
                <a16:creationId xmlns:a16="http://schemas.microsoft.com/office/drawing/2014/main" id="{24CC37F6-A7CC-AFB2-D2B1-B91D62C0866C}"/>
              </a:ext>
            </a:extLst>
          </p:cNvPr>
          <p:cNvSpPr txBox="1"/>
          <p:nvPr/>
        </p:nvSpPr>
        <p:spPr>
          <a:xfrm>
            <a:off x="596900" y="6337300"/>
            <a:ext cx="4025900" cy="381000"/>
          </a:xfrm>
          <a:prstGeom prst="rect">
            <a:avLst/>
          </a:prstGeom>
          <a:noFill/>
        </p:spPr>
        <p:txBody>
          <a:bodyPr wrap="square" rtlCol="0">
            <a:spAutoFit/>
          </a:bodyPr>
          <a:lstStyle/>
          <a:p>
            <a:r>
              <a:rPr lang="en-CA" dirty="0"/>
              <a:t>Tu et al. Nature 2025</a:t>
            </a:r>
          </a:p>
        </p:txBody>
      </p:sp>
      <p:sp>
        <p:nvSpPr>
          <p:cNvPr id="4" name="Title 1">
            <a:extLst>
              <a:ext uri="{FF2B5EF4-FFF2-40B4-BE49-F238E27FC236}">
                <a16:creationId xmlns:a16="http://schemas.microsoft.com/office/drawing/2014/main" id="{1BA3FC52-FDF8-4A90-7310-4752342E2F6B}"/>
              </a:ext>
            </a:extLst>
          </p:cNvPr>
          <p:cNvSpPr txBox="1">
            <a:spLocks/>
          </p:cNvSpPr>
          <p:nvPr/>
        </p:nvSpPr>
        <p:spPr>
          <a:xfrm>
            <a:off x="381000" y="542925"/>
            <a:ext cx="599853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a:latin typeface="Arial" panose="020B0604020202020204" pitchFamily="34" charset="0"/>
                <a:cs typeface="Arial" panose="020B0604020202020204" pitchFamily="34" charset="0"/>
              </a:rPr>
              <a:t>Gather History and Summarize Information</a:t>
            </a:r>
            <a:br>
              <a:rPr lang="en-CA">
                <a:latin typeface="Arial" panose="020B0604020202020204" pitchFamily="34" charset="0"/>
                <a:cs typeface="Arial" panose="020B0604020202020204" pitchFamily="34" charset="0"/>
              </a:rPr>
            </a:br>
            <a:r>
              <a:rPr lang="en-CA">
                <a:solidFill>
                  <a:schemeClr val="accent6"/>
                </a:solidFill>
                <a:latin typeface="Arial" panose="020B0604020202020204" pitchFamily="34" charset="0"/>
                <a:cs typeface="Arial" panose="020B0604020202020204" pitchFamily="34" charset="0"/>
              </a:rPr>
              <a:t>From EHR</a:t>
            </a:r>
            <a:endParaRPr lang="en-CA" dirty="0">
              <a:solidFill>
                <a:schemeClr val="accent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782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47B92F-9702-4324-A16E-989123B30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14D48-6F13-72C8-30AA-B0A01258E855}"/>
              </a:ext>
            </a:extLst>
          </p:cNvPr>
          <p:cNvSpPr>
            <a:spLocks noGrp="1"/>
          </p:cNvSpPr>
          <p:nvPr>
            <p:ph type="title"/>
          </p:nvPr>
        </p:nvSpPr>
        <p:spPr/>
        <p:txBody>
          <a:bodyPr/>
          <a:lstStyle/>
          <a:p>
            <a:r>
              <a:rPr lang="en-CA" sz="6000" dirty="0">
                <a:solidFill>
                  <a:srgbClr val="004D85"/>
                </a:solidFill>
                <a:cs typeface="Arial" panose="020B0604020202020204" pitchFamily="34" charset="0"/>
              </a:rPr>
              <a:t>3. Diagnosis and decision-making</a:t>
            </a:r>
            <a:endParaRPr lang="en-CA" dirty="0">
              <a:solidFill>
                <a:srgbClr val="004D85"/>
              </a:solidFill>
            </a:endParaRPr>
          </a:p>
        </p:txBody>
      </p:sp>
      <p:sp>
        <p:nvSpPr>
          <p:cNvPr id="3" name="Content Placeholder 2">
            <a:extLst>
              <a:ext uri="{FF2B5EF4-FFF2-40B4-BE49-F238E27FC236}">
                <a16:creationId xmlns:a16="http://schemas.microsoft.com/office/drawing/2014/main" id="{7A8919EE-B222-BE51-EDF0-03D1F93EEFE8}"/>
              </a:ext>
            </a:extLst>
          </p:cNvPr>
          <p:cNvSpPr>
            <a:spLocks noGrp="1"/>
          </p:cNvSpPr>
          <p:nvPr>
            <p:ph type="body" idx="1"/>
          </p:nvPr>
        </p:nvSpPr>
        <p:spPr/>
        <p:txBody>
          <a:bodyPr>
            <a:normAutofit/>
          </a:bodyPr>
          <a:lstStyle/>
          <a:p>
            <a:pPr marL="0" indent="0" algn="ctr">
              <a:buNone/>
            </a:pPr>
            <a:endParaRPr lang="en-CA"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2094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50A4E-AC60-3F41-B022-8EA6267A0B9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D7EA9BA-1CB2-3A86-9908-25F84AE734E1}"/>
              </a:ext>
            </a:extLst>
          </p:cNvPr>
          <p:cNvSpPr txBox="1"/>
          <p:nvPr/>
        </p:nvSpPr>
        <p:spPr>
          <a:xfrm>
            <a:off x="323473" y="1874728"/>
            <a:ext cx="4971541" cy="3108543"/>
          </a:xfrm>
          <a:prstGeom prst="rect">
            <a:avLst/>
          </a:prstGeom>
          <a:noFill/>
        </p:spPr>
        <p:txBody>
          <a:bodyPr wrap="square" rtlCol="0">
            <a:spAutoFit/>
          </a:bodyPr>
          <a:lstStyle/>
          <a:p>
            <a:r>
              <a:rPr lang="en-CA" sz="2800" dirty="0">
                <a:latin typeface="Aptos" panose="020B0004020202020204" pitchFamily="34" charset="0"/>
              </a:rPr>
              <a:t>Google Research developed the “Articulate Medical Intelligence Explorer (AMIE)”. </a:t>
            </a:r>
          </a:p>
          <a:p>
            <a:endParaRPr lang="en-CA" sz="2800" dirty="0">
              <a:latin typeface="Aptos" panose="020B0004020202020204" pitchFamily="34" charset="0"/>
            </a:endParaRPr>
          </a:p>
          <a:p>
            <a:r>
              <a:rPr lang="en-CA" sz="2800" dirty="0">
                <a:latin typeface="Aptos" panose="020B0004020202020204" pitchFamily="34" charset="0"/>
              </a:rPr>
              <a:t>Randomized study vs MDs in text-based consultations with patient actors. </a:t>
            </a:r>
          </a:p>
        </p:txBody>
      </p:sp>
      <p:sp>
        <p:nvSpPr>
          <p:cNvPr id="7" name="TextBox 6">
            <a:extLst>
              <a:ext uri="{FF2B5EF4-FFF2-40B4-BE49-F238E27FC236}">
                <a16:creationId xmlns:a16="http://schemas.microsoft.com/office/drawing/2014/main" id="{12D2204A-80D6-EDBA-708B-93304FDADA67}"/>
              </a:ext>
            </a:extLst>
          </p:cNvPr>
          <p:cNvSpPr txBox="1"/>
          <p:nvPr/>
        </p:nvSpPr>
        <p:spPr>
          <a:xfrm>
            <a:off x="596900" y="6337300"/>
            <a:ext cx="4025900" cy="381000"/>
          </a:xfrm>
          <a:prstGeom prst="rect">
            <a:avLst/>
          </a:prstGeom>
          <a:noFill/>
        </p:spPr>
        <p:txBody>
          <a:bodyPr wrap="square" rtlCol="0">
            <a:spAutoFit/>
          </a:bodyPr>
          <a:lstStyle/>
          <a:p>
            <a:r>
              <a:rPr lang="en-CA" dirty="0"/>
              <a:t>Tu et al. Nature 2025</a:t>
            </a:r>
          </a:p>
        </p:txBody>
      </p:sp>
      <p:sp>
        <p:nvSpPr>
          <p:cNvPr id="4" name="Title 1">
            <a:extLst>
              <a:ext uri="{FF2B5EF4-FFF2-40B4-BE49-F238E27FC236}">
                <a16:creationId xmlns:a16="http://schemas.microsoft.com/office/drawing/2014/main" id="{F51DFF86-29B6-7076-BCFE-D07B65427646}"/>
              </a:ext>
            </a:extLst>
          </p:cNvPr>
          <p:cNvSpPr>
            <a:spLocks noGrp="1"/>
          </p:cNvSpPr>
          <p:nvPr>
            <p:ph type="title"/>
          </p:nvPr>
        </p:nvSpPr>
        <p:spPr>
          <a:xfrm>
            <a:off x="838200" y="365125"/>
            <a:ext cx="10515600" cy="1325563"/>
          </a:xfrm>
        </p:spPr>
        <p:txBody>
          <a:bodyPr/>
          <a:lstStyle/>
          <a:p>
            <a:pPr algn="ctr"/>
            <a:r>
              <a:rPr lang="en-CA" dirty="0">
                <a:latin typeface="Arial" panose="020B0604020202020204" pitchFamily="34" charset="0"/>
                <a:cs typeface="Arial" panose="020B0604020202020204" pitchFamily="34" charset="0"/>
              </a:rPr>
              <a:t>Diagnosis and Decision-making</a:t>
            </a:r>
          </a:p>
        </p:txBody>
      </p:sp>
      <p:pic>
        <p:nvPicPr>
          <p:cNvPr id="9" name="Picture 8">
            <a:extLst>
              <a:ext uri="{FF2B5EF4-FFF2-40B4-BE49-F238E27FC236}">
                <a16:creationId xmlns:a16="http://schemas.microsoft.com/office/drawing/2014/main" id="{C499AF4A-F435-D315-CE65-79BA3DDBD651}"/>
              </a:ext>
            </a:extLst>
          </p:cNvPr>
          <p:cNvPicPr>
            <a:picLocks noChangeAspect="1"/>
          </p:cNvPicPr>
          <p:nvPr/>
        </p:nvPicPr>
        <p:blipFill>
          <a:blip r:embed="rId3"/>
          <a:stretch>
            <a:fillRect/>
          </a:stretch>
        </p:blipFill>
        <p:spPr>
          <a:xfrm>
            <a:off x="5487146" y="1874728"/>
            <a:ext cx="6381381" cy="4318713"/>
          </a:xfrm>
          <a:prstGeom prst="rect">
            <a:avLst/>
          </a:prstGeom>
        </p:spPr>
      </p:pic>
    </p:spTree>
    <p:extLst>
      <p:ext uri="{BB962C8B-B14F-4D97-AF65-F5344CB8AC3E}">
        <p14:creationId xmlns:p14="http://schemas.microsoft.com/office/powerpoint/2010/main" val="2300008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85CA0-2FCB-F19D-8F04-F225F2ABBEF1}"/>
              </a:ext>
            </a:extLst>
          </p:cNvPr>
          <p:cNvSpPr>
            <a:spLocks noGrp="1"/>
          </p:cNvSpPr>
          <p:nvPr>
            <p:ph type="title"/>
          </p:nvPr>
        </p:nvSpPr>
        <p:spPr/>
        <p:txBody>
          <a:bodyPr/>
          <a:lstStyle/>
          <a:p>
            <a:pPr algn="ctr"/>
            <a:r>
              <a:rPr lang="en-CA" dirty="0">
                <a:latin typeface="Arial" panose="020B0604020202020204" pitchFamily="34" charset="0"/>
                <a:cs typeface="Arial" panose="020B0604020202020204" pitchFamily="34" charset="0"/>
              </a:rPr>
              <a:t>Clinical Knowledge and Capabilities of AI - Takeaways</a:t>
            </a:r>
          </a:p>
        </p:txBody>
      </p:sp>
      <p:sp>
        <p:nvSpPr>
          <p:cNvPr id="3" name="Content Placeholder 2">
            <a:extLst>
              <a:ext uri="{FF2B5EF4-FFF2-40B4-BE49-F238E27FC236}">
                <a16:creationId xmlns:a16="http://schemas.microsoft.com/office/drawing/2014/main" id="{0283CCA4-20E4-EEA2-CA54-DFBF40F355BB}"/>
              </a:ext>
            </a:extLst>
          </p:cNvPr>
          <p:cNvSpPr>
            <a:spLocks noGrp="1"/>
          </p:cNvSpPr>
          <p:nvPr>
            <p:ph type="body" sz="quarter" idx="12"/>
          </p:nvPr>
        </p:nvSpPr>
        <p:spPr/>
        <p:txBody>
          <a:bodyPr>
            <a:normAutofit/>
          </a:bodyPr>
          <a:lstStyle/>
          <a:p>
            <a:r>
              <a:rPr lang="en-CA" dirty="0"/>
              <a:t>Improving ability to encode “real” knowledge, not just questions seen in training data</a:t>
            </a:r>
          </a:p>
          <a:p>
            <a:r>
              <a:rPr lang="en-CA" dirty="0"/>
              <a:t>Knowledge base is inconsistent across specialties</a:t>
            </a:r>
          </a:p>
          <a:p>
            <a:r>
              <a:rPr lang="en-CA" dirty="0"/>
              <a:t>Able to synthesize and communicate medical information in natural language is improving, but still limited by accuracy</a:t>
            </a:r>
          </a:p>
          <a:p>
            <a:r>
              <a:rPr lang="en-CA" dirty="0">
                <a:latin typeface="Aptos" panose="020B0004020202020204" pitchFamily="34" charset="0"/>
              </a:rPr>
              <a:t>Improving and impressive performance in diagnostic tasks and decision-making</a:t>
            </a:r>
          </a:p>
        </p:txBody>
      </p:sp>
    </p:spTree>
    <p:extLst>
      <p:ext uri="{BB962C8B-B14F-4D97-AF65-F5344CB8AC3E}">
        <p14:creationId xmlns:p14="http://schemas.microsoft.com/office/powerpoint/2010/main" val="2119910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927FF-9152-6198-46E1-8556F83B7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BFD25-F69E-40ED-7E41-E5891BB4CCC5}"/>
              </a:ext>
            </a:extLst>
          </p:cNvPr>
          <p:cNvSpPr>
            <a:spLocks noGrp="1"/>
          </p:cNvSpPr>
          <p:nvPr>
            <p:ph type="title"/>
          </p:nvPr>
        </p:nvSpPr>
        <p:spPr/>
        <p:txBody>
          <a:bodyPr/>
          <a:lstStyle/>
          <a:p>
            <a:r>
              <a:rPr lang="en-CA" sz="6000" dirty="0">
                <a:solidFill>
                  <a:srgbClr val="004D85"/>
                </a:solidFill>
              </a:rPr>
              <a:t>What can AI and Clinicians do together?</a:t>
            </a:r>
            <a:endParaRPr lang="en-CA" dirty="0">
              <a:solidFill>
                <a:srgbClr val="004D85"/>
              </a:solidFill>
            </a:endParaRPr>
          </a:p>
        </p:txBody>
      </p:sp>
      <p:sp>
        <p:nvSpPr>
          <p:cNvPr id="3" name="Content Placeholder 2">
            <a:extLst>
              <a:ext uri="{FF2B5EF4-FFF2-40B4-BE49-F238E27FC236}">
                <a16:creationId xmlns:a16="http://schemas.microsoft.com/office/drawing/2014/main" id="{388FC71B-5885-CED2-98FB-5FFFF216D812}"/>
              </a:ext>
            </a:extLst>
          </p:cNvPr>
          <p:cNvSpPr>
            <a:spLocks noGrp="1"/>
          </p:cNvSpPr>
          <p:nvPr>
            <p:ph type="body" idx="1"/>
          </p:nvPr>
        </p:nvSpPr>
        <p:spPr/>
        <p:txBody>
          <a:bodyPr>
            <a:normAutofit/>
          </a:bodyPr>
          <a:lstStyle/>
          <a:p>
            <a:pPr marL="0" indent="0" algn="ctr">
              <a:buNone/>
            </a:pPr>
            <a:endParaRPr lang="en-CA" sz="4000" dirty="0"/>
          </a:p>
        </p:txBody>
      </p:sp>
    </p:spTree>
    <p:extLst>
      <p:ext uri="{BB962C8B-B14F-4D97-AF65-F5344CB8AC3E}">
        <p14:creationId xmlns:p14="http://schemas.microsoft.com/office/powerpoint/2010/main" val="333202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D6E6F3-0A55-68BE-877B-909BEC262E96}"/>
              </a:ext>
            </a:extLst>
          </p:cNvPr>
          <p:cNvPicPr>
            <a:picLocks noChangeAspect="1"/>
          </p:cNvPicPr>
          <p:nvPr/>
        </p:nvPicPr>
        <p:blipFill>
          <a:blip r:embed="rId2"/>
          <a:stretch>
            <a:fillRect/>
          </a:stretch>
        </p:blipFill>
        <p:spPr>
          <a:xfrm>
            <a:off x="880616" y="823157"/>
            <a:ext cx="4548848" cy="3124375"/>
          </a:xfrm>
          <a:prstGeom prst="rect">
            <a:avLst/>
          </a:prstGeom>
        </p:spPr>
      </p:pic>
      <p:sp>
        <p:nvSpPr>
          <p:cNvPr id="6" name="TextBox 5">
            <a:extLst>
              <a:ext uri="{FF2B5EF4-FFF2-40B4-BE49-F238E27FC236}">
                <a16:creationId xmlns:a16="http://schemas.microsoft.com/office/drawing/2014/main" id="{8D6BD39D-9371-B503-CAC8-4A82D98E66C8}"/>
              </a:ext>
            </a:extLst>
          </p:cNvPr>
          <p:cNvSpPr txBox="1"/>
          <p:nvPr/>
        </p:nvSpPr>
        <p:spPr>
          <a:xfrm>
            <a:off x="505988" y="4443795"/>
            <a:ext cx="5712675"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Combining clinician and AI predictions could </a:t>
            </a:r>
            <a:r>
              <a:rPr kumimoji="0" lang="en-US" sz="2400" b="1" i="0" u="none" strike="noStrike" kern="1200" cap="none" spc="0" normalizeH="0" baseline="0" noProof="0" dirty="0">
                <a:ln>
                  <a:noFill/>
                </a:ln>
                <a:solidFill>
                  <a:schemeClr val="accent6"/>
                </a:solidFill>
                <a:effectLst/>
                <a:uLnTx/>
                <a:uFillTx/>
                <a:latin typeface="Aptos" panose="020B0004020202020204" pitchFamily="34" charset="0"/>
              </a:rPr>
              <a:t>improve detection </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of death or critical illness </a:t>
            </a:r>
            <a:r>
              <a:rPr kumimoji="0" lang="en-US" sz="2400" b="1" i="0" u="none" strike="noStrike" kern="1200" cap="none" spc="0" normalizeH="0" baseline="0" noProof="0" dirty="0">
                <a:ln>
                  <a:noFill/>
                </a:ln>
                <a:solidFill>
                  <a:schemeClr val="accent6"/>
                </a:solidFill>
                <a:effectLst/>
                <a:uLnTx/>
                <a:uFillTx/>
                <a:latin typeface="Aptos" panose="020B0004020202020204" pitchFamily="34" charset="0"/>
              </a:rPr>
              <a:t>by 16% </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compared to clinicians alone</a:t>
            </a:r>
            <a:endParaRPr kumimoji="0" lang="en-CA" sz="2400" b="0" i="0" u="none" strike="noStrike" kern="1200" cap="none" spc="0" normalizeH="0" baseline="0" noProof="0" dirty="0">
              <a:ln>
                <a:noFill/>
              </a:ln>
              <a:solidFill>
                <a:prstClr val="black"/>
              </a:solidFill>
              <a:effectLst/>
              <a:uLnTx/>
              <a:uFillTx/>
              <a:latin typeface="Aptos" panose="020B0004020202020204" pitchFamily="34" charset="0"/>
            </a:endParaRPr>
          </a:p>
        </p:txBody>
      </p:sp>
    </p:spTree>
    <p:extLst>
      <p:ext uri="{BB962C8B-B14F-4D97-AF65-F5344CB8AC3E}">
        <p14:creationId xmlns:p14="http://schemas.microsoft.com/office/powerpoint/2010/main" val="3132020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C79B-45E3-4E8C-4C27-EB96F8A062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0D9354-DBAD-9813-2AEB-EBD0FFE6E0DE}"/>
              </a:ext>
            </a:extLst>
          </p:cNvPr>
          <p:cNvPicPr>
            <a:picLocks noChangeAspect="1"/>
          </p:cNvPicPr>
          <p:nvPr/>
        </p:nvPicPr>
        <p:blipFill>
          <a:blip r:embed="rId2"/>
          <a:stretch>
            <a:fillRect/>
          </a:stretch>
        </p:blipFill>
        <p:spPr>
          <a:xfrm>
            <a:off x="880616" y="823157"/>
            <a:ext cx="4548848" cy="3124375"/>
          </a:xfrm>
          <a:prstGeom prst="rect">
            <a:avLst/>
          </a:prstGeom>
        </p:spPr>
      </p:pic>
      <p:sp>
        <p:nvSpPr>
          <p:cNvPr id="6" name="TextBox 5">
            <a:extLst>
              <a:ext uri="{FF2B5EF4-FFF2-40B4-BE49-F238E27FC236}">
                <a16:creationId xmlns:a16="http://schemas.microsoft.com/office/drawing/2014/main" id="{386194CC-8245-78F2-2310-9871D1A3DC0C}"/>
              </a:ext>
            </a:extLst>
          </p:cNvPr>
          <p:cNvSpPr txBox="1"/>
          <p:nvPr/>
        </p:nvSpPr>
        <p:spPr>
          <a:xfrm>
            <a:off x="505989" y="4443795"/>
            <a:ext cx="5361314"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Combining clinician and AI predictions </a:t>
            </a:r>
            <a:r>
              <a:rPr kumimoji="0" lang="en-US" sz="2400" i="0" u="none" strike="noStrike" kern="1200" cap="none" spc="0" normalizeH="0" baseline="0" noProof="0" dirty="0">
                <a:ln>
                  <a:noFill/>
                </a:ln>
                <a:effectLst/>
                <a:uLnTx/>
                <a:uFillTx/>
                <a:latin typeface="Aptos" panose="020B0004020202020204" pitchFamily="34" charset="0"/>
              </a:rPr>
              <a:t>could</a:t>
            </a:r>
            <a:r>
              <a:rPr kumimoji="0" lang="en-US" sz="2400" b="1" i="0" u="none" strike="noStrike" kern="1200" cap="none" spc="0" normalizeH="0" baseline="0" noProof="0" dirty="0">
                <a:ln>
                  <a:noFill/>
                </a:ln>
                <a:solidFill>
                  <a:schemeClr val="accent6"/>
                </a:solidFill>
                <a:effectLst/>
                <a:uLnTx/>
                <a:uFillTx/>
                <a:latin typeface="Aptos" panose="020B0004020202020204" pitchFamily="34" charset="0"/>
              </a:rPr>
              <a:t> improve detection </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of death or critical illness </a:t>
            </a:r>
            <a:r>
              <a:rPr kumimoji="0" lang="en-US" sz="2400" b="1" i="0" u="none" strike="noStrike" kern="1200" cap="none" spc="0" normalizeH="0" baseline="0" noProof="0" dirty="0">
                <a:ln>
                  <a:noFill/>
                </a:ln>
                <a:solidFill>
                  <a:schemeClr val="accent6"/>
                </a:solidFill>
                <a:effectLst/>
                <a:uLnTx/>
                <a:uFillTx/>
                <a:latin typeface="Aptos" panose="020B0004020202020204" pitchFamily="34" charset="0"/>
              </a:rPr>
              <a:t>by 16% </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compared to clinicians alone</a:t>
            </a:r>
            <a:endParaRPr kumimoji="0" lang="en-CA" sz="2400" b="0" i="0" u="none" strike="noStrike" kern="1200" cap="none" spc="0" normalizeH="0" baseline="0" noProof="0" dirty="0">
              <a:ln>
                <a:noFill/>
              </a:ln>
              <a:solidFill>
                <a:prstClr val="black"/>
              </a:solidFill>
              <a:effectLst/>
              <a:uLnTx/>
              <a:uFillTx/>
              <a:latin typeface="Aptos" panose="020B0004020202020204" pitchFamily="34" charset="0"/>
            </a:endParaRPr>
          </a:p>
        </p:txBody>
      </p:sp>
      <p:pic>
        <p:nvPicPr>
          <p:cNvPr id="8" name="Picture 7">
            <a:extLst>
              <a:ext uri="{FF2B5EF4-FFF2-40B4-BE49-F238E27FC236}">
                <a16:creationId xmlns:a16="http://schemas.microsoft.com/office/drawing/2014/main" id="{7C964535-E4B4-1DA7-89DF-54AAACC1E515}"/>
              </a:ext>
            </a:extLst>
          </p:cNvPr>
          <p:cNvPicPr>
            <a:picLocks noChangeAspect="1"/>
          </p:cNvPicPr>
          <p:nvPr/>
        </p:nvPicPr>
        <p:blipFill>
          <a:blip r:embed="rId3"/>
          <a:stretch>
            <a:fillRect/>
          </a:stretch>
        </p:blipFill>
        <p:spPr>
          <a:xfrm>
            <a:off x="6310354" y="1392296"/>
            <a:ext cx="5361313" cy="2215123"/>
          </a:xfrm>
          <a:prstGeom prst="rect">
            <a:avLst/>
          </a:prstGeom>
          <a:ln>
            <a:solidFill>
              <a:schemeClr val="tx1"/>
            </a:solidFill>
          </a:ln>
        </p:spPr>
      </p:pic>
      <p:sp>
        <p:nvSpPr>
          <p:cNvPr id="9" name="TextBox 8">
            <a:extLst>
              <a:ext uri="{FF2B5EF4-FFF2-40B4-BE49-F238E27FC236}">
                <a16:creationId xmlns:a16="http://schemas.microsoft.com/office/drawing/2014/main" id="{A127B5CC-B224-6125-052E-35FC11173F06}"/>
              </a:ext>
            </a:extLst>
          </p:cNvPr>
          <p:cNvSpPr txBox="1"/>
          <p:nvPr/>
        </p:nvSpPr>
        <p:spPr>
          <a:xfrm>
            <a:off x="6568536" y="4443794"/>
            <a:ext cx="5361314"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Implementing AI early warning system </a:t>
            </a:r>
            <a:r>
              <a:rPr kumimoji="0" lang="en-US" sz="2400" b="1" i="0" u="none" strike="noStrike" kern="1200" cap="none" spc="0" normalizeH="0" baseline="0" noProof="0" dirty="0">
                <a:ln>
                  <a:noFill/>
                </a:ln>
                <a:solidFill>
                  <a:schemeClr val="accent6"/>
                </a:solidFill>
                <a:effectLst/>
                <a:uLnTx/>
                <a:uFillTx/>
                <a:latin typeface="Aptos" panose="020B0004020202020204" pitchFamily="34" charset="0"/>
              </a:rPr>
              <a:t>associated with 26% reduction in non-palliative mortality </a:t>
            </a:r>
            <a:r>
              <a:rPr lang="en-US" sz="2400" dirty="0">
                <a:solidFill>
                  <a:prstClr val="black"/>
                </a:solidFill>
                <a:latin typeface="Aptos" panose="020B0004020202020204" pitchFamily="34" charset="0"/>
              </a:rPr>
              <a:t>o</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n GIM at an academic hospital</a:t>
            </a:r>
            <a:endParaRPr kumimoji="0" lang="en-CA" sz="2400" b="0" i="0" u="none" strike="noStrike" kern="1200" cap="none" spc="0" normalizeH="0" baseline="0" noProof="0" dirty="0">
              <a:ln>
                <a:noFill/>
              </a:ln>
              <a:solidFill>
                <a:prstClr val="black"/>
              </a:solidFill>
              <a:effectLst/>
              <a:uLnTx/>
              <a:uFillTx/>
              <a:latin typeface="Aptos" panose="020B0004020202020204" pitchFamily="34" charset="0"/>
            </a:endParaRPr>
          </a:p>
        </p:txBody>
      </p:sp>
    </p:spTree>
    <p:extLst>
      <p:ext uri="{BB962C8B-B14F-4D97-AF65-F5344CB8AC3E}">
        <p14:creationId xmlns:p14="http://schemas.microsoft.com/office/powerpoint/2010/main" val="1468803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0BB6D-96B8-0C0D-114B-7BAA06B69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7D715-4D1B-E10B-6A4E-4622796B809E}"/>
              </a:ext>
            </a:extLst>
          </p:cNvPr>
          <p:cNvSpPr>
            <a:spLocks noGrp="1"/>
          </p:cNvSpPr>
          <p:nvPr>
            <p:ph type="title"/>
          </p:nvPr>
        </p:nvSpPr>
        <p:spPr/>
        <p:txBody>
          <a:bodyPr/>
          <a:lstStyle/>
          <a:p>
            <a:r>
              <a:rPr lang="en-CA" sz="6000" dirty="0">
                <a:solidFill>
                  <a:srgbClr val="004D85"/>
                </a:solidFill>
              </a:rPr>
              <a:t>What can AI do that clinicians can’t?  </a:t>
            </a:r>
            <a:endParaRPr lang="en-CA" dirty="0">
              <a:solidFill>
                <a:srgbClr val="004D85"/>
              </a:solidFill>
            </a:endParaRPr>
          </a:p>
        </p:txBody>
      </p:sp>
      <p:sp>
        <p:nvSpPr>
          <p:cNvPr id="3" name="Content Placeholder 2">
            <a:extLst>
              <a:ext uri="{FF2B5EF4-FFF2-40B4-BE49-F238E27FC236}">
                <a16:creationId xmlns:a16="http://schemas.microsoft.com/office/drawing/2014/main" id="{5256078F-DA70-F36C-C2D9-5DCA80B8BE0E}"/>
              </a:ext>
            </a:extLst>
          </p:cNvPr>
          <p:cNvSpPr>
            <a:spLocks noGrp="1"/>
          </p:cNvSpPr>
          <p:nvPr>
            <p:ph type="body" idx="1"/>
          </p:nvPr>
        </p:nvSpPr>
        <p:spPr/>
        <p:txBody>
          <a:bodyPr>
            <a:normAutofit/>
          </a:bodyPr>
          <a:lstStyle/>
          <a:p>
            <a:pPr marL="0" indent="0" algn="ctr">
              <a:buNone/>
            </a:pPr>
            <a:endParaRPr lang="en-CA" sz="4000" dirty="0"/>
          </a:p>
        </p:txBody>
      </p:sp>
    </p:spTree>
    <p:extLst>
      <p:ext uri="{BB962C8B-B14F-4D97-AF65-F5344CB8AC3E}">
        <p14:creationId xmlns:p14="http://schemas.microsoft.com/office/powerpoint/2010/main" val="1235643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B57F9-A661-0FCC-E13F-A30A87BA8DFD}"/>
            </a:ext>
          </a:extLst>
        </p:cNvPr>
        <p:cNvGrpSpPr/>
        <p:nvPr/>
      </p:nvGrpSpPr>
      <p:grpSpPr>
        <a:xfrm>
          <a:off x="0" y="0"/>
          <a:ext cx="0" cy="0"/>
          <a:chOff x="0" y="0"/>
          <a:chExt cx="0" cy="0"/>
        </a:xfrm>
      </p:grpSpPr>
      <p:pic>
        <p:nvPicPr>
          <p:cNvPr id="6148" name="Picture 4" descr="ECG / EKG rhythm ...">
            <a:extLst>
              <a:ext uri="{FF2B5EF4-FFF2-40B4-BE49-F238E27FC236}">
                <a16:creationId xmlns:a16="http://schemas.microsoft.com/office/drawing/2014/main" id="{774E6A74-6914-4EB1-58DF-CB1F0E23B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99" y="980395"/>
            <a:ext cx="4372509" cy="2448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221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DE75E-03E8-9F52-10D0-F398B0BCB8CF}"/>
            </a:ext>
          </a:extLst>
        </p:cNvPr>
        <p:cNvGrpSpPr/>
        <p:nvPr/>
      </p:nvGrpSpPr>
      <p:grpSpPr>
        <a:xfrm>
          <a:off x="0" y="0"/>
          <a:ext cx="0" cy="0"/>
          <a:chOff x="0" y="0"/>
          <a:chExt cx="0" cy="0"/>
        </a:xfrm>
      </p:grpSpPr>
      <p:pic>
        <p:nvPicPr>
          <p:cNvPr id="6146" name="Picture 2" descr="Afib ECG Interpretation | Atrial ...">
            <a:extLst>
              <a:ext uri="{FF2B5EF4-FFF2-40B4-BE49-F238E27FC236}">
                <a16:creationId xmlns:a16="http://schemas.microsoft.com/office/drawing/2014/main" id="{083702A3-7229-CFA8-4DA9-F02D7D990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99" y="3897767"/>
            <a:ext cx="4401487" cy="16430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CG / EKG rhythm ...">
            <a:extLst>
              <a:ext uri="{FF2B5EF4-FFF2-40B4-BE49-F238E27FC236}">
                <a16:creationId xmlns:a16="http://schemas.microsoft.com/office/drawing/2014/main" id="{872A0454-5CFD-8D7F-A96F-95388FDBDA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799" y="980395"/>
            <a:ext cx="4372509" cy="24486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15ED089-1C5F-3705-65A4-B7622FD9FA71}"/>
              </a:ext>
            </a:extLst>
          </p:cNvPr>
          <p:cNvSpPr txBox="1"/>
          <p:nvPr/>
        </p:nvSpPr>
        <p:spPr>
          <a:xfrm>
            <a:off x="1796143" y="3478718"/>
            <a:ext cx="2242457" cy="369332"/>
          </a:xfrm>
          <a:prstGeom prst="rect">
            <a:avLst/>
          </a:prstGeom>
          <a:noFill/>
        </p:spPr>
        <p:txBody>
          <a:bodyPr wrap="square" rtlCol="0">
            <a:spAutoFit/>
          </a:bodyPr>
          <a:lstStyle/>
          <a:p>
            <a:pPr algn="ctr"/>
            <a:r>
              <a:rPr lang="en-CA" dirty="0"/>
              <a:t>Atrial Fibrillation</a:t>
            </a:r>
          </a:p>
        </p:txBody>
      </p:sp>
    </p:spTree>
    <p:extLst>
      <p:ext uri="{BB962C8B-B14F-4D97-AF65-F5344CB8AC3E}">
        <p14:creationId xmlns:p14="http://schemas.microsoft.com/office/powerpoint/2010/main" val="730368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A262B-09B8-2A81-A40E-FA85AA670A3D}"/>
            </a:ext>
          </a:extLst>
        </p:cNvPr>
        <p:cNvGrpSpPr/>
        <p:nvPr/>
      </p:nvGrpSpPr>
      <p:grpSpPr>
        <a:xfrm>
          <a:off x="0" y="0"/>
          <a:ext cx="0" cy="0"/>
          <a:chOff x="0" y="0"/>
          <a:chExt cx="0" cy="0"/>
        </a:xfrm>
      </p:grpSpPr>
      <p:pic>
        <p:nvPicPr>
          <p:cNvPr id="6146" name="Picture 2" descr="Afib ECG Interpretation | Atrial ...">
            <a:extLst>
              <a:ext uri="{FF2B5EF4-FFF2-40B4-BE49-F238E27FC236}">
                <a16:creationId xmlns:a16="http://schemas.microsoft.com/office/drawing/2014/main" id="{CD750283-9D25-EF29-396E-22F12B260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99" y="3897767"/>
            <a:ext cx="4401487" cy="16430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CG / EKG rhythm ...">
            <a:extLst>
              <a:ext uri="{FF2B5EF4-FFF2-40B4-BE49-F238E27FC236}">
                <a16:creationId xmlns:a16="http://schemas.microsoft.com/office/drawing/2014/main" id="{FD9A8A94-1BB5-B110-DB29-B6E8A86DB1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799" y="980395"/>
            <a:ext cx="4372509" cy="24486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8160EA6-226B-B958-F48B-E81F7A257766}"/>
              </a:ext>
            </a:extLst>
          </p:cNvPr>
          <p:cNvSpPr txBox="1"/>
          <p:nvPr/>
        </p:nvSpPr>
        <p:spPr>
          <a:xfrm>
            <a:off x="1796143" y="3478718"/>
            <a:ext cx="2242457" cy="369332"/>
          </a:xfrm>
          <a:prstGeom prst="rect">
            <a:avLst/>
          </a:prstGeom>
          <a:noFill/>
        </p:spPr>
        <p:txBody>
          <a:bodyPr wrap="square" rtlCol="0">
            <a:spAutoFit/>
          </a:bodyPr>
          <a:lstStyle/>
          <a:p>
            <a:pPr algn="ctr"/>
            <a:r>
              <a:rPr lang="en-CA" dirty="0"/>
              <a:t>Atrial Fibrillation</a:t>
            </a:r>
          </a:p>
        </p:txBody>
      </p:sp>
      <p:pic>
        <p:nvPicPr>
          <p:cNvPr id="5" name="Picture 4">
            <a:extLst>
              <a:ext uri="{FF2B5EF4-FFF2-40B4-BE49-F238E27FC236}">
                <a16:creationId xmlns:a16="http://schemas.microsoft.com/office/drawing/2014/main" id="{6F46CDE9-784B-97EC-9721-5DDF24028674}"/>
              </a:ext>
            </a:extLst>
          </p:cNvPr>
          <p:cNvPicPr>
            <a:picLocks noChangeAspect="1"/>
          </p:cNvPicPr>
          <p:nvPr/>
        </p:nvPicPr>
        <p:blipFill>
          <a:blip r:embed="rId5"/>
          <a:stretch>
            <a:fillRect/>
          </a:stretch>
        </p:blipFill>
        <p:spPr>
          <a:xfrm>
            <a:off x="5873943" y="822684"/>
            <a:ext cx="5249935" cy="2244432"/>
          </a:xfrm>
          <a:prstGeom prst="rect">
            <a:avLst/>
          </a:prstGeom>
          <a:ln>
            <a:solidFill>
              <a:schemeClr val="tx1"/>
            </a:solidFill>
          </a:ln>
        </p:spPr>
      </p:pic>
    </p:spTree>
    <p:extLst>
      <p:ext uri="{BB962C8B-B14F-4D97-AF65-F5344CB8AC3E}">
        <p14:creationId xmlns:p14="http://schemas.microsoft.com/office/powerpoint/2010/main" val="2487937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2B2D4-2879-985A-F5A6-0C3A8E313302}"/>
            </a:ext>
          </a:extLst>
        </p:cNvPr>
        <p:cNvGrpSpPr/>
        <p:nvPr/>
      </p:nvGrpSpPr>
      <p:grpSpPr>
        <a:xfrm>
          <a:off x="0" y="0"/>
          <a:ext cx="0" cy="0"/>
          <a:chOff x="0" y="0"/>
          <a:chExt cx="0" cy="0"/>
        </a:xfrm>
      </p:grpSpPr>
      <p:pic>
        <p:nvPicPr>
          <p:cNvPr id="6146" name="Picture 2" descr="Afib ECG Interpretation | Atrial ...">
            <a:extLst>
              <a:ext uri="{FF2B5EF4-FFF2-40B4-BE49-F238E27FC236}">
                <a16:creationId xmlns:a16="http://schemas.microsoft.com/office/drawing/2014/main" id="{416B8182-9248-3BA2-9F0B-9E95890D7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99" y="3897767"/>
            <a:ext cx="4401487" cy="16430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CG / EKG rhythm ...">
            <a:extLst>
              <a:ext uri="{FF2B5EF4-FFF2-40B4-BE49-F238E27FC236}">
                <a16:creationId xmlns:a16="http://schemas.microsoft.com/office/drawing/2014/main" id="{4149A966-F26F-1537-879B-6651ED32E5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799" y="980395"/>
            <a:ext cx="4372509" cy="24486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63FB830-E506-4368-B2B2-ECC109BE861F}"/>
              </a:ext>
            </a:extLst>
          </p:cNvPr>
          <p:cNvSpPr txBox="1"/>
          <p:nvPr/>
        </p:nvSpPr>
        <p:spPr>
          <a:xfrm>
            <a:off x="1796143" y="3478718"/>
            <a:ext cx="2242457" cy="369332"/>
          </a:xfrm>
          <a:prstGeom prst="rect">
            <a:avLst/>
          </a:prstGeom>
          <a:noFill/>
        </p:spPr>
        <p:txBody>
          <a:bodyPr wrap="square" rtlCol="0">
            <a:spAutoFit/>
          </a:bodyPr>
          <a:lstStyle/>
          <a:p>
            <a:pPr algn="ctr"/>
            <a:r>
              <a:rPr lang="en-CA" dirty="0"/>
              <a:t>Atrial Fibrillation</a:t>
            </a:r>
          </a:p>
        </p:txBody>
      </p:sp>
      <p:pic>
        <p:nvPicPr>
          <p:cNvPr id="5" name="Picture 4">
            <a:extLst>
              <a:ext uri="{FF2B5EF4-FFF2-40B4-BE49-F238E27FC236}">
                <a16:creationId xmlns:a16="http://schemas.microsoft.com/office/drawing/2014/main" id="{894BB475-EBE7-7FDC-6815-D01CDCF3EED2}"/>
              </a:ext>
            </a:extLst>
          </p:cNvPr>
          <p:cNvPicPr>
            <a:picLocks noChangeAspect="1"/>
          </p:cNvPicPr>
          <p:nvPr/>
        </p:nvPicPr>
        <p:blipFill>
          <a:blip r:embed="rId5"/>
          <a:stretch>
            <a:fillRect/>
          </a:stretch>
        </p:blipFill>
        <p:spPr>
          <a:xfrm>
            <a:off x="5873943" y="822684"/>
            <a:ext cx="5249935" cy="2244432"/>
          </a:xfrm>
          <a:prstGeom prst="rect">
            <a:avLst/>
          </a:prstGeom>
          <a:ln>
            <a:solidFill>
              <a:schemeClr val="tx1"/>
            </a:solidFill>
          </a:ln>
        </p:spPr>
      </p:pic>
      <p:pic>
        <p:nvPicPr>
          <p:cNvPr id="9" name="Picture 8">
            <a:extLst>
              <a:ext uri="{FF2B5EF4-FFF2-40B4-BE49-F238E27FC236}">
                <a16:creationId xmlns:a16="http://schemas.microsoft.com/office/drawing/2014/main" id="{B845130A-AB40-0A69-4A4C-19A77882519A}"/>
              </a:ext>
            </a:extLst>
          </p:cNvPr>
          <p:cNvPicPr>
            <a:picLocks noChangeAspect="1"/>
          </p:cNvPicPr>
          <p:nvPr/>
        </p:nvPicPr>
        <p:blipFill>
          <a:blip r:embed="rId6"/>
          <a:stretch>
            <a:fillRect/>
          </a:stretch>
        </p:blipFill>
        <p:spPr>
          <a:xfrm>
            <a:off x="5873943" y="3322121"/>
            <a:ext cx="5271537" cy="2537258"/>
          </a:xfrm>
          <a:prstGeom prst="rect">
            <a:avLst/>
          </a:prstGeom>
          <a:ln>
            <a:solidFill>
              <a:schemeClr val="tx1"/>
            </a:solidFill>
          </a:ln>
        </p:spPr>
      </p:pic>
      <p:sp>
        <p:nvSpPr>
          <p:cNvPr id="2" name="TextBox 1">
            <a:extLst>
              <a:ext uri="{FF2B5EF4-FFF2-40B4-BE49-F238E27FC236}">
                <a16:creationId xmlns:a16="http://schemas.microsoft.com/office/drawing/2014/main" id="{C911BDD1-1C75-3AD7-20F0-614439F8731C}"/>
              </a:ext>
            </a:extLst>
          </p:cNvPr>
          <p:cNvSpPr txBox="1"/>
          <p:nvPr/>
        </p:nvSpPr>
        <p:spPr>
          <a:xfrm>
            <a:off x="5873943" y="5859379"/>
            <a:ext cx="5271537" cy="646331"/>
          </a:xfrm>
          <a:prstGeom prst="rect">
            <a:avLst/>
          </a:prstGeom>
          <a:noFill/>
        </p:spPr>
        <p:txBody>
          <a:bodyPr wrap="square" rtlCol="0">
            <a:spAutoFit/>
          </a:bodyPr>
          <a:lstStyle/>
          <a:p>
            <a:pPr algn="ctr"/>
            <a:r>
              <a:rPr lang="en-CA" b="1" dirty="0">
                <a:latin typeface="Aptos" panose="020B0004020202020204" pitchFamily="34" charset="0"/>
              </a:rPr>
              <a:t>Tripled the detection of AF over 10 months</a:t>
            </a:r>
          </a:p>
          <a:p>
            <a:pPr algn="ctr"/>
            <a:r>
              <a:rPr lang="en-CA" b="1" dirty="0">
                <a:latin typeface="Aptos" panose="020B0004020202020204" pitchFamily="34" charset="0"/>
              </a:rPr>
              <a:t>10.6% vs. 3.6%</a:t>
            </a:r>
          </a:p>
        </p:txBody>
      </p:sp>
    </p:spTree>
    <p:extLst>
      <p:ext uri="{BB962C8B-B14F-4D97-AF65-F5344CB8AC3E}">
        <p14:creationId xmlns:p14="http://schemas.microsoft.com/office/powerpoint/2010/main" val="1220158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3">
            <a:extLst>
              <a:ext uri="{FF2B5EF4-FFF2-40B4-BE49-F238E27FC236}">
                <a16:creationId xmlns:a16="http://schemas.microsoft.com/office/drawing/2014/main" id="{1820F17C-A3DE-45C3-93C7-F6B755C96681}"/>
              </a:ext>
            </a:extLst>
          </p:cNvPr>
          <p:cNvSpPr>
            <a:spLocks noGrp="1"/>
          </p:cNvSpPr>
          <p:nvPr>
            <p:ph type="title"/>
          </p:nvPr>
        </p:nvSpPr>
        <p:spPr/>
        <p:txBody>
          <a:bodyPr>
            <a:normAutofit/>
          </a:bodyPr>
          <a:lstStyle/>
          <a:p>
            <a:r>
              <a:rPr lang="en-US" dirty="0"/>
              <a:t>Delirium is a leading cause of hospital harm</a:t>
            </a:r>
            <a:endParaRPr lang="en-US" i="1" dirty="0"/>
          </a:p>
        </p:txBody>
      </p:sp>
      <p:sp>
        <p:nvSpPr>
          <p:cNvPr id="2" name="Text Placeholder 1">
            <a:extLst>
              <a:ext uri="{FF2B5EF4-FFF2-40B4-BE49-F238E27FC236}">
                <a16:creationId xmlns:a16="http://schemas.microsoft.com/office/drawing/2014/main" id="{34F9B84A-DF8D-6D2E-1A95-F5862DE7C24A}"/>
              </a:ext>
            </a:extLst>
          </p:cNvPr>
          <p:cNvSpPr>
            <a:spLocks noGrp="1"/>
          </p:cNvSpPr>
          <p:nvPr>
            <p:ph type="body" sz="quarter" idx="12"/>
          </p:nvPr>
        </p:nvSpPr>
        <p:spPr>
          <a:xfrm>
            <a:off x="480000" y="1739900"/>
            <a:ext cx="11280000" cy="4380100"/>
          </a:xfrm>
        </p:spPr>
        <p:txBody>
          <a:bodyPr/>
          <a:lstStyle/>
          <a:p>
            <a:pPr marL="342900" indent="-342900">
              <a:buFont typeface="Arial" panose="020B0604020202020204" pitchFamily="34" charset="0"/>
              <a:buChar char="•"/>
            </a:pPr>
            <a:r>
              <a:rPr lang="en-US" sz="2400" dirty="0"/>
              <a:t>Delirium affects 20-30% of hospitalized adults</a:t>
            </a:r>
          </a:p>
          <a:p>
            <a:pPr marL="342900" indent="-342900">
              <a:buFont typeface="Arial" panose="020B0604020202020204" pitchFamily="34" charset="0"/>
              <a:buChar char="•"/>
            </a:pPr>
            <a:r>
              <a:rPr lang="en-US" sz="2400" dirty="0"/>
              <a:t>Delirium is distressing for patients, caregivers and providers and is associated with worse outcomes and greater cost</a:t>
            </a:r>
            <a:endParaRPr lang="en-CA" sz="2400" dirty="0"/>
          </a:p>
        </p:txBody>
      </p:sp>
      <p:sp>
        <p:nvSpPr>
          <p:cNvPr id="7" name="Rectangle 6">
            <a:extLst>
              <a:ext uri="{FF2B5EF4-FFF2-40B4-BE49-F238E27FC236}">
                <a16:creationId xmlns:a16="http://schemas.microsoft.com/office/drawing/2014/main" id="{0DCCE23E-7CC0-4FC4-941B-0A3D5C99D3CC}"/>
              </a:ext>
            </a:extLst>
          </p:cNvPr>
          <p:cNvSpPr/>
          <p:nvPr/>
        </p:nvSpPr>
        <p:spPr>
          <a:xfrm>
            <a:off x="383767" y="3896242"/>
            <a:ext cx="7511845" cy="21498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 name="Graphic 7" descr="Hospital outline">
            <a:extLst>
              <a:ext uri="{FF2B5EF4-FFF2-40B4-BE49-F238E27FC236}">
                <a16:creationId xmlns:a16="http://schemas.microsoft.com/office/drawing/2014/main" id="{D93F45FF-DBCA-4A54-A682-949B8F358E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909" y="3429000"/>
            <a:ext cx="1246076" cy="1246076"/>
          </a:xfrm>
          <a:prstGeom prst="rect">
            <a:avLst/>
          </a:prstGeom>
        </p:spPr>
      </p:pic>
      <p:pic>
        <p:nvPicPr>
          <p:cNvPr id="9" name="Graphic 8" descr="Inpatient outline">
            <a:extLst>
              <a:ext uri="{FF2B5EF4-FFF2-40B4-BE49-F238E27FC236}">
                <a16:creationId xmlns:a16="http://schemas.microsoft.com/office/drawing/2014/main" id="{E768FF3B-E42D-4835-8487-8C4E5F939D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06275" y="3429000"/>
            <a:ext cx="1246076" cy="1246076"/>
          </a:xfrm>
          <a:prstGeom prst="rect">
            <a:avLst/>
          </a:prstGeom>
        </p:spPr>
      </p:pic>
      <p:pic>
        <p:nvPicPr>
          <p:cNvPr id="10" name="Graphic 9" descr="Man with cane outline">
            <a:extLst>
              <a:ext uri="{FF2B5EF4-FFF2-40B4-BE49-F238E27FC236}">
                <a16:creationId xmlns:a16="http://schemas.microsoft.com/office/drawing/2014/main" id="{92302797-E2E3-4C99-B450-BE27B05B300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85518" y="3501509"/>
            <a:ext cx="1098876" cy="1098876"/>
          </a:xfrm>
          <a:prstGeom prst="rect">
            <a:avLst/>
          </a:prstGeom>
        </p:spPr>
      </p:pic>
      <p:sp>
        <p:nvSpPr>
          <p:cNvPr id="11" name="TextBox 10">
            <a:extLst>
              <a:ext uri="{FF2B5EF4-FFF2-40B4-BE49-F238E27FC236}">
                <a16:creationId xmlns:a16="http://schemas.microsoft.com/office/drawing/2014/main" id="{F7988CB9-5796-4714-A891-CC0A59002ACE}"/>
              </a:ext>
            </a:extLst>
          </p:cNvPr>
          <p:cNvSpPr txBox="1"/>
          <p:nvPr/>
        </p:nvSpPr>
        <p:spPr>
          <a:xfrm>
            <a:off x="424962" y="4675076"/>
            <a:ext cx="2411791"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B0F0"/>
                </a:solidFill>
                <a:effectLst/>
                <a:uLnTx/>
                <a:uFillTx/>
                <a:latin typeface="Aptos" panose="02110004020202020204"/>
                <a:ea typeface="+mn-ea"/>
                <a:cs typeface="+mn-cs"/>
              </a:rPr>
              <a:t>8 days</a:t>
            </a:r>
            <a:endParaRPr kumimoji="0" lang="en-US" sz="1800" b="1" i="0" u="none" strike="noStrike" kern="1200" cap="none" spc="0" normalizeH="0" baseline="0" noProof="0" dirty="0">
              <a:ln>
                <a:noFill/>
              </a:ln>
              <a:solidFill>
                <a:srgbClr val="00B0F0"/>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Longer average hospital stay</a:t>
            </a:r>
          </a:p>
        </p:txBody>
      </p:sp>
      <p:sp>
        <p:nvSpPr>
          <p:cNvPr id="12" name="TextBox 11">
            <a:extLst>
              <a:ext uri="{FF2B5EF4-FFF2-40B4-BE49-F238E27FC236}">
                <a16:creationId xmlns:a16="http://schemas.microsoft.com/office/drawing/2014/main" id="{12E225D8-9322-4BBD-8C09-60172D64C0AE}"/>
              </a:ext>
            </a:extLst>
          </p:cNvPr>
          <p:cNvSpPr txBox="1"/>
          <p:nvPr/>
        </p:nvSpPr>
        <p:spPr>
          <a:xfrm>
            <a:off x="3315072" y="4675076"/>
            <a:ext cx="2628481" cy="8002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B0F0"/>
                </a:solidFill>
                <a:effectLst/>
                <a:uLnTx/>
                <a:uFillTx/>
                <a:latin typeface="Aptos" panose="02110004020202020204"/>
                <a:ea typeface="+mn-ea"/>
                <a:cs typeface="+mn-cs"/>
              </a:rPr>
              <a:t>2.0X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Increased mortality</a:t>
            </a:r>
          </a:p>
        </p:txBody>
      </p:sp>
      <p:sp>
        <p:nvSpPr>
          <p:cNvPr id="13" name="TextBox 12">
            <a:extLst>
              <a:ext uri="{FF2B5EF4-FFF2-40B4-BE49-F238E27FC236}">
                <a16:creationId xmlns:a16="http://schemas.microsoft.com/office/drawing/2014/main" id="{AE8F18D8-6D0A-4FBA-AAE1-F9F8F0DBAE92}"/>
              </a:ext>
            </a:extLst>
          </p:cNvPr>
          <p:cNvSpPr txBox="1"/>
          <p:nvPr/>
        </p:nvSpPr>
        <p:spPr>
          <a:xfrm>
            <a:off x="6320715" y="4717980"/>
            <a:ext cx="2628481"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B0F0"/>
                </a:solidFill>
                <a:effectLst/>
                <a:uLnTx/>
                <a:uFillTx/>
                <a:latin typeface="Aptos" panose="02110004020202020204"/>
                <a:ea typeface="+mn-ea"/>
                <a:cs typeface="+mn-cs"/>
              </a:rPr>
              <a:t>2.4X</a:t>
            </a:r>
            <a:endParaRPr kumimoji="0" lang="en-CA" sz="2800" b="1" i="0" u="none" strike="noStrike" kern="1200" cap="none" spc="0" normalizeH="0" baseline="0" noProof="0" dirty="0">
              <a:ln>
                <a:noFill/>
              </a:ln>
              <a:solidFill>
                <a:srgbClr val="00B0F0"/>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Increased placement in nursing home</a:t>
            </a:r>
          </a:p>
        </p:txBody>
      </p:sp>
      <p:pic>
        <p:nvPicPr>
          <p:cNvPr id="14" name="Graphic 13" descr="Dollar outline">
            <a:extLst>
              <a:ext uri="{FF2B5EF4-FFF2-40B4-BE49-F238E27FC236}">
                <a16:creationId xmlns:a16="http://schemas.microsoft.com/office/drawing/2014/main" id="{09FF0407-E530-479C-B83C-047E358B4E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0082327" y="3501509"/>
            <a:ext cx="1098876" cy="1098876"/>
          </a:xfrm>
          <a:prstGeom prst="rect">
            <a:avLst/>
          </a:prstGeom>
        </p:spPr>
      </p:pic>
      <p:sp>
        <p:nvSpPr>
          <p:cNvPr id="15" name="TextBox 14">
            <a:extLst>
              <a:ext uri="{FF2B5EF4-FFF2-40B4-BE49-F238E27FC236}">
                <a16:creationId xmlns:a16="http://schemas.microsoft.com/office/drawing/2014/main" id="{85343820-B18E-4521-BE50-3312013BC298}"/>
              </a:ext>
            </a:extLst>
          </p:cNvPr>
          <p:cNvSpPr txBox="1"/>
          <p:nvPr/>
        </p:nvSpPr>
        <p:spPr>
          <a:xfrm>
            <a:off x="9317524" y="4717980"/>
            <a:ext cx="2628481"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B0F0"/>
                </a:solidFill>
                <a:effectLst/>
                <a:uLnTx/>
                <a:uFillTx/>
                <a:latin typeface="Aptos" panose="02110004020202020204"/>
                <a:ea typeface="+mn-ea"/>
                <a:cs typeface="+mn-cs"/>
              </a:rPr>
              <a:t>$10,899</a:t>
            </a:r>
            <a:endParaRPr kumimoji="0" lang="en-CA" sz="2800" b="1" i="0" u="none" strike="noStrike" kern="1200" cap="none" spc="0" normalizeH="0" baseline="0" noProof="0" dirty="0">
              <a:ln>
                <a:noFill/>
              </a:ln>
              <a:solidFill>
                <a:srgbClr val="00B0F0"/>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Increased average cost per hospitalization</a:t>
            </a:r>
          </a:p>
        </p:txBody>
      </p:sp>
    </p:spTree>
    <p:extLst>
      <p:ext uri="{BB962C8B-B14F-4D97-AF65-F5344CB8AC3E}">
        <p14:creationId xmlns:p14="http://schemas.microsoft.com/office/powerpoint/2010/main" val="3116691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4EB1A-A41D-272A-1763-90B2E9A43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7FC5E-CF84-E918-05F7-10A1CC310248}"/>
              </a:ext>
            </a:extLst>
          </p:cNvPr>
          <p:cNvSpPr>
            <a:spLocks noGrp="1"/>
          </p:cNvSpPr>
          <p:nvPr>
            <p:ph type="title"/>
          </p:nvPr>
        </p:nvSpPr>
        <p:spPr/>
        <p:txBody>
          <a:bodyPr>
            <a:normAutofit/>
          </a:bodyPr>
          <a:lstStyle/>
          <a:p>
            <a:r>
              <a:rPr lang="en-CA" dirty="0"/>
              <a:t>Delirium is preventable</a:t>
            </a:r>
          </a:p>
        </p:txBody>
      </p:sp>
      <p:pic>
        <p:nvPicPr>
          <p:cNvPr id="7" name="Picture 6" descr="Diagram&#10;&#10;Description automatically generated">
            <a:extLst>
              <a:ext uri="{FF2B5EF4-FFF2-40B4-BE49-F238E27FC236}">
                <a16:creationId xmlns:a16="http://schemas.microsoft.com/office/drawing/2014/main" id="{F54DE176-E6A8-B559-266C-9F38707027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6247" y="1277425"/>
            <a:ext cx="4159857" cy="5383344"/>
          </a:xfrm>
          <a:prstGeom prst="rect">
            <a:avLst/>
          </a:prstGeom>
          <a:ln>
            <a:solidFill>
              <a:schemeClr val="tx1"/>
            </a:solidFill>
          </a:ln>
        </p:spPr>
      </p:pic>
      <p:sp>
        <p:nvSpPr>
          <p:cNvPr id="4" name="TextBox 3">
            <a:extLst>
              <a:ext uri="{FF2B5EF4-FFF2-40B4-BE49-F238E27FC236}">
                <a16:creationId xmlns:a16="http://schemas.microsoft.com/office/drawing/2014/main" id="{AB9E67E4-662A-FD16-60A2-A0B8DDBD9A87}"/>
              </a:ext>
            </a:extLst>
          </p:cNvPr>
          <p:cNvSpPr txBox="1"/>
          <p:nvPr/>
        </p:nvSpPr>
        <p:spPr>
          <a:xfrm>
            <a:off x="618565" y="1877234"/>
            <a:ext cx="4343399"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14 Randomized Trials have shown that multicomponent interventions can reduce delirium incidence by ~40% compared to usual care </a:t>
            </a:r>
            <a:endParaRPr kumimoji="0" lang="en-CA"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05648E56-7842-A2C4-0C44-F1B95B2AB3D1}"/>
              </a:ext>
            </a:extLst>
          </p:cNvPr>
          <p:cNvSpPr/>
          <p:nvPr/>
        </p:nvSpPr>
        <p:spPr>
          <a:xfrm>
            <a:off x="735106" y="4061012"/>
            <a:ext cx="4419600" cy="2088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400" b="0" i="0" u="none" strike="noStrike" kern="1200" cap="none" spc="0" normalizeH="0" baseline="0" noProof="0" dirty="0">
                <a:ln>
                  <a:noFill/>
                </a:ln>
                <a:solidFill>
                  <a:prstClr val="white"/>
                </a:solidFill>
                <a:effectLst/>
                <a:uLnTx/>
                <a:uFillTx/>
                <a:latin typeface="Aptos" panose="02110004020202020204"/>
                <a:ea typeface="+mn-ea"/>
                <a:cs typeface="+mn-cs"/>
              </a:rPr>
              <a:t>But, these interventions are labour-intensive and are not implemented well</a:t>
            </a:r>
          </a:p>
        </p:txBody>
      </p:sp>
    </p:spTree>
    <p:extLst>
      <p:ext uri="{BB962C8B-B14F-4D97-AF65-F5344CB8AC3E}">
        <p14:creationId xmlns:p14="http://schemas.microsoft.com/office/powerpoint/2010/main" val="144528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0D28-A062-2BF2-7E06-A81F38FA122B}"/>
              </a:ext>
            </a:extLst>
          </p:cNvPr>
          <p:cNvSpPr>
            <a:spLocks noGrp="1"/>
          </p:cNvSpPr>
          <p:nvPr>
            <p:ph type="title"/>
          </p:nvPr>
        </p:nvSpPr>
        <p:spPr>
          <a:xfrm>
            <a:off x="480000" y="72000"/>
            <a:ext cx="11712000" cy="900000"/>
          </a:xfrm>
        </p:spPr>
        <p:txBody>
          <a:bodyPr/>
          <a:lstStyle/>
          <a:p>
            <a:r>
              <a:rPr lang="en-CA" dirty="0"/>
              <a:t>Change Idea: Use AI to focus prevention efforts</a:t>
            </a:r>
          </a:p>
        </p:txBody>
      </p:sp>
      <p:sp>
        <p:nvSpPr>
          <p:cNvPr id="3" name="TextBox 2">
            <a:extLst>
              <a:ext uri="{FF2B5EF4-FFF2-40B4-BE49-F238E27FC236}">
                <a16:creationId xmlns:a16="http://schemas.microsoft.com/office/drawing/2014/main" id="{0E4ECB51-C6DD-59E8-9D5A-C0D137274AC4}"/>
              </a:ext>
            </a:extLst>
          </p:cNvPr>
          <p:cNvSpPr txBox="1"/>
          <p:nvPr/>
        </p:nvSpPr>
        <p:spPr>
          <a:xfrm>
            <a:off x="111530" y="1911777"/>
            <a:ext cx="314898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200" b="1" i="0" u="none" strike="noStrike" kern="1200" cap="none" spc="0" normalizeH="0" baseline="0" noProof="0" dirty="0">
                <a:ln>
                  <a:noFill/>
                </a:ln>
                <a:solidFill>
                  <a:prstClr val="black"/>
                </a:solidFill>
                <a:effectLst/>
                <a:uLnTx/>
                <a:uFillTx/>
                <a:latin typeface="Aptos" panose="02110004020202020204"/>
                <a:ea typeface="+mn-ea"/>
                <a:cs typeface="+mn-cs"/>
              </a:rPr>
              <a:t>Hospital Data</a:t>
            </a:r>
          </a:p>
        </p:txBody>
      </p:sp>
      <p:sp>
        <p:nvSpPr>
          <p:cNvPr id="4" name="TextBox 3">
            <a:extLst>
              <a:ext uri="{FF2B5EF4-FFF2-40B4-BE49-F238E27FC236}">
                <a16:creationId xmlns:a16="http://schemas.microsoft.com/office/drawing/2014/main" id="{D97C3911-7767-7286-6A23-9E06CFAD7B71}"/>
              </a:ext>
            </a:extLst>
          </p:cNvPr>
          <p:cNvSpPr txBox="1"/>
          <p:nvPr/>
        </p:nvSpPr>
        <p:spPr>
          <a:xfrm>
            <a:off x="4244051" y="1911777"/>
            <a:ext cx="355799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200" b="1" i="0" u="none" strike="noStrike" kern="1200" cap="none" spc="0" normalizeH="0" baseline="0" noProof="0" dirty="0">
                <a:ln>
                  <a:noFill/>
                </a:ln>
                <a:solidFill>
                  <a:prstClr val="black"/>
                </a:solidFill>
                <a:effectLst/>
                <a:uLnTx/>
                <a:uFillTx/>
                <a:latin typeface="Aptos" panose="02110004020202020204"/>
                <a:ea typeface="+mn-ea"/>
                <a:cs typeface="+mn-cs"/>
              </a:rPr>
              <a:t>Prediction Tool</a:t>
            </a:r>
          </a:p>
        </p:txBody>
      </p:sp>
      <p:sp>
        <p:nvSpPr>
          <p:cNvPr id="5" name="TextBox 4">
            <a:extLst>
              <a:ext uri="{FF2B5EF4-FFF2-40B4-BE49-F238E27FC236}">
                <a16:creationId xmlns:a16="http://schemas.microsoft.com/office/drawing/2014/main" id="{30D8FCCC-662C-C1FA-CA00-0FC6C0AE9650}"/>
              </a:ext>
            </a:extLst>
          </p:cNvPr>
          <p:cNvSpPr txBox="1"/>
          <p:nvPr/>
        </p:nvSpPr>
        <p:spPr>
          <a:xfrm>
            <a:off x="8450091" y="1665555"/>
            <a:ext cx="3628973"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200" b="1" i="0" u="none" strike="noStrike" kern="1200" cap="none" spc="0" normalizeH="0" baseline="0" noProof="0" dirty="0">
                <a:ln>
                  <a:noFill/>
                </a:ln>
                <a:solidFill>
                  <a:prstClr val="black"/>
                </a:solidFill>
                <a:effectLst/>
                <a:uLnTx/>
                <a:uFillTx/>
                <a:latin typeface="Aptos" panose="02110004020202020204"/>
                <a:ea typeface="+mn-ea"/>
                <a:cs typeface="+mn-cs"/>
              </a:rPr>
              <a:t>Delirium Risk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200" b="1" i="0" u="none" strike="noStrike" kern="1200" cap="none" spc="0" normalizeH="0" baseline="0" noProof="0" dirty="0">
                <a:ln>
                  <a:noFill/>
                </a:ln>
                <a:solidFill>
                  <a:prstClr val="black"/>
                </a:solidFill>
                <a:effectLst/>
                <a:uLnTx/>
                <a:uFillTx/>
                <a:latin typeface="Aptos" panose="02110004020202020204"/>
                <a:ea typeface="+mn-ea"/>
                <a:cs typeface="+mn-cs"/>
              </a:rPr>
              <a:t>Score</a:t>
            </a:r>
          </a:p>
        </p:txBody>
      </p:sp>
      <p:sp>
        <p:nvSpPr>
          <p:cNvPr id="6" name="Rectangle 5">
            <a:extLst>
              <a:ext uri="{FF2B5EF4-FFF2-40B4-BE49-F238E27FC236}">
                <a16:creationId xmlns:a16="http://schemas.microsoft.com/office/drawing/2014/main" id="{1954E1BE-DFD9-99D2-0219-A1062249852C}"/>
              </a:ext>
            </a:extLst>
          </p:cNvPr>
          <p:cNvSpPr/>
          <p:nvPr/>
        </p:nvSpPr>
        <p:spPr>
          <a:xfrm>
            <a:off x="563116" y="3143030"/>
            <a:ext cx="2107932" cy="6546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ptos" panose="02110004020202020204"/>
                <a:ea typeface="+mn-ea"/>
                <a:cs typeface="+mn-cs"/>
              </a:rPr>
              <a:t>Medical history</a:t>
            </a:r>
          </a:p>
        </p:txBody>
      </p:sp>
      <p:sp>
        <p:nvSpPr>
          <p:cNvPr id="7" name="Rectangle 6">
            <a:extLst>
              <a:ext uri="{FF2B5EF4-FFF2-40B4-BE49-F238E27FC236}">
                <a16:creationId xmlns:a16="http://schemas.microsoft.com/office/drawing/2014/main" id="{461D1420-52D7-E304-F7DA-0409B07D0B9E}"/>
              </a:ext>
            </a:extLst>
          </p:cNvPr>
          <p:cNvSpPr/>
          <p:nvPr/>
        </p:nvSpPr>
        <p:spPr>
          <a:xfrm>
            <a:off x="2602067" y="3215139"/>
            <a:ext cx="259882" cy="2218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347ABCC-529D-CFE3-73CF-2EFB10585815}"/>
              </a:ext>
            </a:extLst>
          </p:cNvPr>
          <p:cNvSpPr/>
          <p:nvPr/>
        </p:nvSpPr>
        <p:spPr>
          <a:xfrm>
            <a:off x="2602066" y="3509551"/>
            <a:ext cx="259882" cy="2218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FB4F3CB8-402B-2E73-49F8-E3897262558F}"/>
              </a:ext>
            </a:extLst>
          </p:cNvPr>
          <p:cNvSpPr/>
          <p:nvPr/>
        </p:nvSpPr>
        <p:spPr>
          <a:xfrm>
            <a:off x="550281" y="3869768"/>
            <a:ext cx="2107932" cy="6546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ptos" panose="02110004020202020204"/>
                <a:ea typeface="+mn-ea"/>
                <a:cs typeface="+mn-cs"/>
              </a:rPr>
              <a:t>Laboratory</a:t>
            </a:r>
          </a:p>
        </p:txBody>
      </p:sp>
      <p:sp>
        <p:nvSpPr>
          <p:cNvPr id="10" name="Rectangle 9">
            <a:extLst>
              <a:ext uri="{FF2B5EF4-FFF2-40B4-BE49-F238E27FC236}">
                <a16:creationId xmlns:a16="http://schemas.microsoft.com/office/drawing/2014/main" id="{FC638A77-7C2C-A130-343E-D43C58ABF561}"/>
              </a:ext>
            </a:extLst>
          </p:cNvPr>
          <p:cNvSpPr/>
          <p:nvPr/>
        </p:nvSpPr>
        <p:spPr>
          <a:xfrm>
            <a:off x="2589232" y="3941877"/>
            <a:ext cx="259882" cy="2218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F3545A7-8C81-2FA5-7BEC-0CAD8BAAC8D0}"/>
              </a:ext>
            </a:extLst>
          </p:cNvPr>
          <p:cNvSpPr/>
          <p:nvPr/>
        </p:nvSpPr>
        <p:spPr>
          <a:xfrm>
            <a:off x="2589231" y="4236289"/>
            <a:ext cx="259882" cy="2218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9420A1AA-AE82-2049-E52F-4062107E6B20}"/>
              </a:ext>
            </a:extLst>
          </p:cNvPr>
          <p:cNvSpPr/>
          <p:nvPr/>
        </p:nvSpPr>
        <p:spPr>
          <a:xfrm>
            <a:off x="563116" y="4596506"/>
            <a:ext cx="2107932" cy="6546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ptos" panose="02110004020202020204"/>
                <a:ea typeface="+mn-ea"/>
                <a:cs typeface="+mn-cs"/>
              </a:rPr>
              <a:t>Demographics</a:t>
            </a:r>
          </a:p>
        </p:txBody>
      </p:sp>
      <p:sp>
        <p:nvSpPr>
          <p:cNvPr id="16" name="Rectangle 15">
            <a:extLst>
              <a:ext uri="{FF2B5EF4-FFF2-40B4-BE49-F238E27FC236}">
                <a16:creationId xmlns:a16="http://schemas.microsoft.com/office/drawing/2014/main" id="{E5C4CD8C-42CE-7622-3F87-9AA4B239575B}"/>
              </a:ext>
            </a:extLst>
          </p:cNvPr>
          <p:cNvSpPr/>
          <p:nvPr/>
        </p:nvSpPr>
        <p:spPr>
          <a:xfrm>
            <a:off x="2602067" y="4668615"/>
            <a:ext cx="259882" cy="2218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BB4BBF1B-E709-1375-ED36-DD4E018E4D38}"/>
              </a:ext>
            </a:extLst>
          </p:cNvPr>
          <p:cNvSpPr/>
          <p:nvPr/>
        </p:nvSpPr>
        <p:spPr>
          <a:xfrm>
            <a:off x="2602066" y="4963027"/>
            <a:ext cx="259882" cy="2218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074" name="Picture 2" descr="A cartoon of a computer screen with a neural network algorithm on it on a white background">
            <a:extLst>
              <a:ext uri="{FF2B5EF4-FFF2-40B4-BE49-F238E27FC236}">
                <a16:creationId xmlns:a16="http://schemas.microsoft.com/office/drawing/2014/main" id="{EF7A780A-1BC9-EC56-AC7A-6F30D956B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7079" y="2793735"/>
            <a:ext cx="2697211" cy="269721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A58DD2A-0094-1230-F2B2-C03FE19CA3E0}"/>
              </a:ext>
            </a:extLst>
          </p:cNvPr>
          <p:cNvSpPr txBox="1"/>
          <p:nvPr/>
        </p:nvSpPr>
        <p:spPr>
          <a:xfrm>
            <a:off x="9589934" y="3335367"/>
            <a:ext cx="214880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0000"/>
                </a:solidFill>
                <a:effectLst/>
                <a:uLnTx/>
                <a:uFillTx/>
                <a:latin typeface="Aptos" panose="02110004020202020204"/>
                <a:ea typeface="+mn-ea"/>
                <a:cs typeface="+mn-cs"/>
              </a:rPr>
              <a:t>High</a:t>
            </a:r>
          </a:p>
        </p:txBody>
      </p:sp>
      <p:sp>
        <p:nvSpPr>
          <p:cNvPr id="22" name="TextBox 21">
            <a:extLst>
              <a:ext uri="{FF2B5EF4-FFF2-40B4-BE49-F238E27FC236}">
                <a16:creationId xmlns:a16="http://schemas.microsoft.com/office/drawing/2014/main" id="{AC8374CE-621A-28A7-F275-875987EB14B9}"/>
              </a:ext>
            </a:extLst>
          </p:cNvPr>
          <p:cNvSpPr txBox="1"/>
          <p:nvPr/>
        </p:nvSpPr>
        <p:spPr>
          <a:xfrm>
            <a:off x="9737721" y="3808136"/>
            <a:ext cx="214880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0F9ED5"/>
                </a:solidFill>
                <a:effectLst/>
                <a:uLnTx/>
                <a:uFillTx/>
                <a:latin typeface="Aptos" panose="02110004020202020204"/>
                <a:ea typeface="+mn-ea"/>
                <a:cs typeface="+mn-cs"/>
              </a:rPr>
              <a:t>Medium</a:t>
            </a:r>
          </a:p>
        </p:txBody>
      </p:sp>
      <p:sp>
        <p:nvSpPr>
          <p:cNvPr id="23" name="TextBox 22">
            <a:extLst>
              <a:ext uri="{FF2B5EF4-FFF2-40B4-BE49-F238E27FC236}">
                <a16:creationId xmlns:a16="http://schemas.microsoft.com/office/drawing/2014/main" id="{3971A275-750F-EB64-B39D-32D33EE691A9}"/>
              </a:ext>
            </a:extLst>
          </p:cNvPr>
          <p:cNvSpPr txBox="1"/>
          <p:nvPr/>
        </p:nvSpPr>
        <p:spPr>
          <a:xfrm>
            <a:off x="9589933" y="4258977"/>
            <a:ext cx="214880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4EA72E"/>
                </a:solidFill>
                <a:effectLst/>
                <a:uLnTx/>
                <a:uFillTx/>
                <a:latin typeface="Aptos" panose="02110004020202020204"/>
                <a:ea typeface="+mn-ea"/>
                <a:cs typeface="+mn-cs"/>
              </a:rPr>
              <a:t>Low</a:t>
            </a:r>
          </a:p>
        </p:txBody>
      </p:sp>
      <p:pic>
        <p:nvPicPr>
          <p:cNvPr id="24" name="Graphic 23" descr="Woman with solid fill">
            <a:extLst>
              <a:ext uri="{FF2B5EF4-FFF2-40B4-BE49-F238E27FC236}">
                <a16:creationId xmlns:a16="http://schemas.microsoft.com/office/drawing/2014/main" id="{3CF82823-AEAA-FECD-FA5D-D75BF54C084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46" y="3416876"/>
            <a:ext cx="1233361" cy="1233361"/>
          </a:xfrm>
          <a:prstGeom prst="rect">
            <a:avLst/>
          </a:prstGeom>
        </p:spPr>
      </p:pic>
      <p:sp>
        <p:nvSpPr>
          <p:cNvPr id="30" name="Arrow: Right 29">
            <a:extLst>
              <a:ext uri="{FF2B5EF4-FFF2-40B4-BE49-F238E27FC236}">
                <a16:creationId xmlns:a16="http://schemas.microsoft.com/office/drawing/2014/main" id="{6D7D2263-59FB-E0D8-5C8D-499E76F45FA3}"/>
              </a:ext>
            </a:extLst>
          </p:cNvPr>
          <p:cNvSpPr/>
          <p:nvPr/>
        </p:nvSpPr>
        <p:spPr>
          <a:xfrm>
            <a:off x="3518529" y="3807526"/>
            <a:ext cx="903587" cy="66962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Arrow: Right 30">
            <a:extLst>
              <a:ext uri="{FF2B5EF4-FFF2-40B4-BE49-F238E27FC236}">
                <a16:creationId xmlns:a16="http://schemas.microsoft.com/office/drawing/2014/main" id="{C102A078-897C-4137-4B78-FA2E01EDDFA9}"/>
              </a:ext>
            </a:extLst>
          </p:cNvPr>
          <p:cNvSpPr/>
          <p:nvPr/>
        </p:nvSpPr>
        <p:spPr>
          <a:xfrm>
            <a:off x="7916443" y="3774015"/>
            <a:ext cx="903587" cy="66962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562EE098-B3D5-F672-F7B4-151E4E0CBA5A}"/>
              </a:ext>
            </a:extLst>
          </p:cNvPr>
          <p:cNvSpPr/>
          <p:nvPr/>
        </p:nvSpPr>
        <p:spPr>
          <a:xfrm>
            <a:off x="9189420" y="4963027"/>
            <a:ext cx="2334223" cy="13550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Implement delirium prevention bundle in high-risk patients</a:t>
            </a:r>
          </a:p>
        </p:txBody>
      </p:sp>
    </p:spTree>
    <p:extLst>
      <p:ext uri="{BB962C8B-B14F-4D97-AF65-F5344CB8AC3E}">
        <p14:creationId xmlns:p14="http://schemas.microsoft.com/office/powerpoint/2010/main" val="3284673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70" name="Google Shape;70;g2eee70c1d5d_0_1"/>
          <p:cNvSpPr/>
          <p:nvPr/>
        </p:nvSpPr>
        <p:spPr>
          <a:xfrm>
            <a:off x="486837" y="2793303"/>
            <a:ext cx="7088752" cy="2389073"/>
          </a:xfrm>
          <a:prstGeom prst="rect">
            <a:avLst/>
          </a:prstGeom>
          <a:noFill/>
          <a:ln>
            <a:noFill/>
          </a:ln>
        </p:spPr>
        <p:txBody>
          <a:bodyPr spcFirstLastPara="1" wrap="square" lIns="76188" tIns="38083" rIns="76188" bIns="38083" anchor="t" anchorCtr="0">
            <a:noAutofit/>
          </a:bodyPr>
          <a:lstStyle/>
          <a:p>
            <a:pPr marL="304259" indent="-285739">
              <a:buFont typeface="Arial" panose="020B0604020202020204" pitchFamily="34" charset="0"/>
              <a:buChar char="•"/>
            </a:pPr>
            <a:r>
              <a:rPr lang="en-US" sz="2333" dirty="0">
                <a:solidFill>
                  <a:srgbClr val="3C3939"/>
                </a:solidFill>
                <a:latin typeface="Aptos" panose="020B0004020202020204" pitchFamily="34" charset="0"/>
                <a:ea typeface="Roboto" panose="02000000000000000000" pitchFamily="2" charset="0"/>
                <a:cs typeface="Roboto" panose="02000000000000000000" pitchFamily="2" charset="0"/>
                <a:sym typeface="Roboto"/>
              </a:rPr>
              <a:t>We created a model to predict delirium risk at the time a patient is admitted to hospital with ~75% accuracy, with just ~10 inputs</a:t>
            </a:r>
          </a:p>
          <a:p>
            <a:pPr marL="1351967" lvl="4"/>
            <a:endParaRPr lang="en-US" sz="2333" dirty="0">
              <a:solidFill>
                <a:srgbClr val="3C3939"/>
              </a:solidFill>
              <a:latin typeface="Aptos" panose="020B0004020202020204" pitchFamily="34" charset="0"/>
              <a:ea typeface="Roboto" panose="02000000000000000000" pitchFamily="2" charset="0"/>
              <a:cs typeface="Roboto" panose="02000000000000000000" pitchFamily="2" charset="0"/>
              <a:sym typeface="Roboto"/>
            </a:endParaRPr>
          </a:p>
          <a:p>
            <a:pPr marL="304259" lvl="1" indent="-285739">
              <a:buFont typeface="Arial" panose="020B0604020202020204" pitchFamily="34" charset="0"/>
              <a:buChar char="•"/>
            </a:pPr>
            <a:endParaRPr lang="en-US" sz="2333" dirty="0">
              <a:solidFill>
                <a:srgbClr val="3C3939"/>
              </a:solidFill>
              <a:latin typeface="Aptos" panose="020B0004020202020204" pitchFamily="34" charset="0"/>
              <a:ea typeface="Roboto" panose="02000000000000000000" pitchFamily="2" charset="0"/>
              <a:cs typeface="Roboto" panose="02000000000000000000" pitchFamily="2" charset="0"/>
              <a:sym typeface="Roboto"/>
            </a:endParaRPr>
          </a:p>
          <a:p>
            <a:pPr marL="380985" algn="ctr"/>
            <a:endParaRPr lang="en-US" sz="2333" dirty="0">
              <a:solidFill>
                <a:srgbClr val="3C3939"/>
              </a:solidFill>
              <a:latin typeface="Aptos" panose="020B0004020202020204" pitchFamily="34" charset="0"/>
              <a:ea typeface="Roboto" panose="02000000000000000000" pitchFamily="2" charset="0"/>
              <a:cs typeface="Roboto" panose="02000000000000000000" pitchFamily="2" charset="0"/>
              <a:sym typeface="Roboto"/>
            </a:endParaRPr>
          </a:p>
          <a:p>
            <a:pPr marL="380985" algn="ctr"/>
            <a:endParaRPr lang="en-US" sz="2333" dirty="0">
              <a:solidFill>
                <a:srgbClr val="3C3939"/>
              </a:solidFill>
              <a:latin typeface="Aptos" panose="020B0004020202020204" pitchFamily="34" charset="0"/>
              <a:ea typeface="Roboto" panose="02000000000000000000" pitchFamily="2" charset="0"/>
              <a:cs typeface="Roboto" panose="02000000000000000000" pitchFamily="2" charset="0"/>
              <a:sym typeface="Roboto"/>
            </a:endParaRPr>
          </a:p>
        </p:txBody>
      </p:sp>
      <p:sp>
        <p:nvSpPr>
          <p:cNvPr id="3" name="TextBox 2">
            <a:extLst>
              <a:ext uri="{FF2B5EF4-FFF2-40B4-BE49-F238E27FC236}">
                <a16:creationId xmlns:a16="http://schemas.microsoft.com/office/drawing/2014/main" id="{1176EFEA-5493-55A9-86C7-B181DAE131CC}"/>
              </a:ext>
            </a:extLst>
          </p:cNvPr>
          <p:cNvSpPr txBox="1"/>
          <p:nvPr/>
        </p:nvSpPr>
        <p:spPr>
          <a:xfrm>
            <a:off x="3664008" y="6497108"/>
            <a:ext cx="9190893" cy="502573"/>
          </a:xfrm>
          <a:prstGeom prst="rect">
            <a:avLst/>
          </a:prstGeom>
          <a:noFill/>
        </p:spPr>
        <p:txBody>
          <a:bodyPr wrap="square" rtlCol="0">
            <a:spAutoFit/>
          </a:bodyPr>
          <a:lstStyle/>
          <a:p>
            <a:r>
              <a:rPr lang="en-CA" sz="1333" dirty="0">
                <a:latin typeface="Aptos" panose="020B0004020202020204" pitchFamily="34" charset="0"/>
              </a:rPr>
              <a:t>1. Wang et al. AMIA </a:t>
            </a:r>
            <a:r>
              <a:rPr lang="en-CA" sz="1333" dirty="0" err="1">
                <a:latin typeface="Aptos" panose="020B0004020202020204" pitchFamily="34" charset="0"/>
              </a:rPr>
              <a:t>Jt</a:t>
            </a:r>
            <a:r>
              <a:rPr lang="en-CA" sz="1333" dirty="0">
                <a:latin typeface="Aptos" panose="020B0004020202020204" pitchFamily="34" charset="0"/>
              </a:rPr>
              <a:t> Summits </a:t>
            </a:r>
            <a:r>
              <a:rPr lang="en-CA" sz="1333" dirty="0" err="1">
                <a:latin typeface="Aptos" panose="020B0004020202020204" pitchFamily="34" charset="0"/>
              </a:rPr>
              <a:t>Transl</a:t>
            </a:r>
            <a:r>
              <a:rPr lang="en-CA" sz="1333" dirty="0">
                <a:latin typeface="Aptos" panose="020B0004020202020204" pitchFamily="34" charset="0"/>
              </a:rPr>
              <a:t> Sci Proc 2022 PMID: 35854747; 2. Inouye et al., JAGS 2005 PMID:15673358 </a:t>
            </a:r>
          </a:p>
          <a:p>
            <a:endParaRPr lang="en-CA" sz="1333" dirty="0">
              <a:latin typeface="Aptos" panose="020B0004020202020204" pitchFamily="34" charset="0"/>
            </a:endParaRPr>
          </a:p>
        </p:txBody>
      </p:sp>
      <p:pic>
        <p:nvPicPr>
          <p:cNvPr id="1026" name="Picture 2" descr="retrospective chart reviews ...">
            <a:extLst>
              <a:ext uri="{FF2B5EF4-FFF2-40B4-BE49-F238E27FC236}">
                <a16:creationId xmlns:a16="http://schemas.microsoft.com/office/drawing/2014/main" id="{64444925-467F-E7BD-E438-DD4582AEF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311" y="2445079"/>
            <a:ext cx="3052532" cy="20313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52088EF-11A6-BC32-EE36-9373644ED077}"/>
              </a:ext>
            </a:extLst>
          </p:cNvPr>
          <p:cNvSpPr txBox="1"/>
          <p:nvPr/>
        </p:nvSpPr>
        <p:spPr>
          <a:xfrm>
            <a:off x="7978829" y="4474491"/>
            <a:ext cx="3467420" cy="707886"/>
          </a:xfrm>
          <a:prstGeom prst="rect">
            <a:avLst/>
          </a:prstGeom>
          <a:noFill/>
        </p:spPr>
        <p:txBody>
          <a:bodyPr wrap="square">
            <a:spAutoFit/>
          </a:bodyPr>
          <a:lstStyle/>
          <a:p>
            <a:pPr algn="ctr"/>
            <a:r>
              <a:rPr lang="en-CA" sz="2000" dirty="0">
                <a:latin typeface="Aptos" panose="020B0004020202020204" pitchFamily="34" charset="0"/>
              </a:rPr>
              <a:t>Chart review</a:t>
            </a:r>
            <a:r>
              <a:rPr lang="en-CA" sz="2000" baseline="30000" dirty="0">
                <a:latin typeface="Aptos" panose="020B0004020202020204" pitchFamily="34" charset="0"/>
              </a:rPr>
              <a:t>1,2</a:t>
            </a:r>
            <a:r>
              <a:rPr lang="en-CA" sz="2000" dirty="0">
                <a:latin typeface="Aptos" panose="020B0004020202020204" pitchFamily="34" charset="0"/>
              </a:rPr>
              <a:t> in ~10,000 patients </a:t>
            </a:r>
          </a:p>
        </p:txBody>
      </p:sp>
      <p:sp>
        <p:nvSpPr>
          <p:cNvPr id="4" name="Title 3">
            <a:extLst>
              <a:ext uri="{FF2B5EF4-FFF2-40B4-BE49-F238E27FC236}">
                <a16:creationId xmlns:a16="http://schemas.microsoft.com/office/drawing/2014/main" id="{A5931944-CE8A-5088-DCB0-DDF29C4564B6}"/>
              </a:ext>
            </a:extLst>
          </p:cNvPr>
          <p:cNvSpPr>
            <a:spLocks noGrp="1"/>
          </p:cNvSpPr>
          <p:nvPr>
            <p:ph type="title"/>
          </p:nvPr>
        </p:nvSpPr>
        <p:spPr>
          <a:xfrm>
            <a:off x="352539" y="134707"/>
            <a:ext cx="9360000" cy="900000"/>
          </a:xfrm>
        </p:spPr>
        <p:txBody>
          <a:bodyPr/>
          <a:lstStyle/>
          <a:p>
            <a:r>
              <a:rPr lang="en-CA" dirty="0"/>
              <a:t>Identifying &amp; Predicting Delirium</a:t>
            </a:r>
          </a:p>
        </p:txBody>
      </p:sp>
    </p:spTree>
    <p:extLst>
      <p:ext uri="{BB962C8B-B14F-4D97-AF65-F5344CB8AC3E}">
        <p14:creationId xmlns:p14="http://schemas.microsoft.com/office/powerpoint/2010/main" val="2539716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BF474-741C-0350-762F-F1D6AD5C1C5D}"/>
              </a:ext>
            </a:extLst>
          </p:cNvPr>
          <p:cNvSpPr>
            <a:spLocks noGrp="1"/>
          </p:cNvSpPr>
          <p:nvPr>
            <p:ph type="title"/>
          </p:nvPr>
        </p:nvSpPr>
        <p:spPr>
          <a:xfrm>
            <a:off x="1189476" y="672039"/>
            <a:ext cx="10515600" cy="1009651"/>
          </a:xfrm>
        </p:spPr>
        <p:txBody>
          <a:bodyPr/>
          <a:lstStyle/>
          <a:p>
            <a:r>
              <a:rPr lang="en-US" dirty="0"/>
              <a:t>Sparsity Analysis</a:t>
            </a:r>
          </a:p>
        </p:txBody>
      </p:sp>
      <p:pic>
        <p:nvPicPr>
          <p:cNvPr id="4" name="Content Placeholder 3" descr="A graph with red and green lines&#10;&#10;AI-generated content may be incorrect.">
            <a:extLst>
              <a:ext uri="{FF2B5EF4-FFF2-40B4-BE49-F238E27FC236}">
                <a16:creationId xmlns:a16="http://schemas.microsoft.com/office/drawing/2014/main" id="{5C25337E-1E79-ABE5-425B-704C65992DA1}"/>
              </a:ext>
            </a:extLst>
          </p:cNvPr>
          <p:cNvPicPr>
            <a:picLocks noGrp="1" noChangeAspect="1"/>
          </p:cNvPicPr>
          <p:nvPr>
            <p:ph idx="1"/>
          </p:nvPr>
        </p:nvPicPr>
        <p:blipFill>
          <a:blip r:embed="rId2"/>
          <a:stretch>
            <a:fillRect/>
          </a:stretch>
        </p:blipFill>
        <p:spPr>
          <a:xfrm>
            <a:off x="1189476" y="1681690"/>
            <a:ext cx="9720071" cy="3819039"/>
          </a:xfrm>
          <a:prstGeom prst="rect">
            <a:avLst/>
          </a:prstGeom>
        </p:spPr>
      </p:pic>
      <p:sp>
        <p:nvSpPr>
          <p:cNvPr id="5" name="Rectangle 4">
            <a:extLst>
              <a:ext uri="{FF2B5EF4-FFF2-40B4-BE49-F238E27FC236}">
                <a16:creationId xmlns:a16="http://schemas.microsoft.com/office/drawing/2014/main" id="{7648FEDA-6F22-3831-8A58-5446E4C670A8}"/>
              </a:ext>
            </a:extLst>
          </p:cNvPr>
          <p:cNvSpPr/>
          <p:nvPr/>
        </p:nvSpPr>
        <p:spPr>
          <a:xfrm>
            <a:off x="3063257" y="3172802"/>
            <a:ext cx="738909" cy="311727"/>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DD10025-121E-5F7F-CAA1-C923D2103573}"/>
              </a:ext>
            </a:extLst>
          </p:cNvPr>
          <p:cNvSpPr/>
          <p:nvPr/>
        </p:nvSpPr>
        <p:spPr>
          <a:xfrm>
            <a:off x="3798150" y="2869608"/>
            <a:ext cx="738909" cy="311727"/>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048EF3F-13DE-D537-AF67-6A947353251E}"/>
              </a:ext>
            </a:extLst>
          </p:cNvPr>
          <p:cNvSpPr txBox="1"/>
          <p:nvPr/>
        </p:nvSpPr>
        <p:spPr>
          <a:xfrm>
            <a:off x="2631567" y="5645538"/>
            <a:ext cx="27056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Plateau 1: 7 to 11 features </a:t>
            </a:r>
          </a:p>
        </p:txBody>
      </p:sp>
      <p:sp>
        <p:nvSpPr>
          <p:cNvPr id="8" name="TextBox 7">
            <a:extLst>
              <a:ext uri="{FF2B5EF4-FFF2-40B4-BE49-F238E27FC236}">
                <a16:creationId xmlns:a16="http://schemas.microsoft.com/office/drawing/2014/main" id="{366FD8EA-1C41-28D1-2D64-A835D90A8AF9}"/>
              </a:ext>
            </a:extLst>
          </p:cNvPr>
          <p:cNvSpPr txBox="1"/>
          <p:nvPr/>
        </p:nvSpPr>
        <p:spPr>
          <a:xfrm>
            <a:off x="6049171" y="5645538"/>
            <a:ext cx="31805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Plateau 2: 12 or more  features </a:t>
            </a:r>
          </a:p>
        </p:txBody>
      </p:sp>
      <p:sp>
        <p:nvSpPr>
          <p:cNvPr id="3" name="Rectangle: Rounded Corners 2">
            <a:extLst>
              <a:ext uri="{FF2B5EF4-FFF2-40B4-BE49-F238E27FC236}">
                <a16:creationId xmlns:a16="http://schemas.microsoft.com/office/drawing/2014/main" id="{7E436F4F-E509-5BD0-4C40-2100B6427026}"/>
              </a:ext>
            </a:extLst>
          </p:cNvPr>
          <p:cNvSpPr/>
          <p:nvPr/>
        </p:nvSpPr>
        <p:spPr>
          <a:xfrm>
            <a:off x="4672497" y="1679754"/>
            <a:ext cx="1989846" cy="22806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AP@K vs Sparsity</a:t>
            </a:r>
          </a:p>
        </p:txBody>
      </p:sp>
      <p:sp>
        <p:nvSpPr>
          <p:cNvPr id="10" name="Rectangle: Rounded Corners 9">
            <a:extLst>
              <a:ext uri="{FF2B5EF4-FFF2-40B4-BE49-F238E27FC236}">
                <a16:creationId xmlns:a16="http://schemas.microsoft.com/office/drawing/2014/main" id="{5B97B6A8-3943-2E06-E4CF-4C22D670AA91}"/>
              </a:ext>
            </a:extLst>
          </p:cNvPr>
          <p:cNvSpPr/>
          <p:nvPr/>
        </p:nvSpPr>
        <p:spPr>
          <a:xfrm rot="-5400000">
            <a:off x="346391" y="3363180"/>
            <a:ext cx="2016867" cy="27129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AP@K </a:t>
            </a:r>
          </a:p>
        </p:txBody>
      </p:sp>
    </p:spTree>
    <p:extLst>
      <p:ext uri="{BB962C8B-B14F-4D97-AF65-F5344CB8AC3E}">
        <p14:creationId xmlns:p14="http://schemas.microsoft.com/office/powerpoint/2010/main" val="2934863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5F671ADF-72DF-79CB-6714-E9C54F4F8A40}"/>
              </a:ext>
            </a:extLst>
          </p:cNvPr>
          <p:cNvPicPr>
            <a:picLocks noChangeAspect="1"/>
          </p:cNvPicPr>
          <p:nvPr/>
        </p:nvPicPr>
        <p:blipFill>
          <a:blip r:embed="rId2"/>
          <a:stretch>
            <a:fillRect/>
          </a:stretch>
        </p:blipFill>
        <p:spPr>
          <a:xfrm>
            <a:off x="1937937" y="0"/>
            <a:ext cx="8316126" cy="6858000"/>
          </a:xfrm>
          <a:prstGeom prst="rect">
            <a:avLst/>
          </a:prstGeom>
        </p:spPr>
      </p:pic>
    </p:spTree>
    <p:extLst>
      <p:ext uri="{BB962C8B-B14F-4D97-AF65-F5344CB8AC3E}">
        <p14:creationId xmlns:p14="http://schemas.microsoft.com/office/powerpoint/2010/main" val="3889052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5DA9D6-E355-525E-8992-E67EE206E6CC}"/>
              </a:ext>
            </a:extLst>
          </p:cNvPr>
          <p:cNvSpPr>
            <a:spLocks noGrp="1"/>
          </p:cNvSpPr>
          <p:nvPr>
            <p:ph type="title"/>
          </p:nvPr>
        </p:nvSpPr>
        <p:spPr>
          <a:xfrm>
            <a:off x="1416000" y="94034"/>
            <a:ext cx="9360000" cy="900000"/>
          </a:xfrm>
        </p:spPr>
        <p:txBody>
          <a:bodyPr/>
          <a:lstStyle/>
          <a:p>
            <a:pPr algn="ctr"/>
            <a:r>
              <a:rPr lang="en-CA" sz="3200" dirty="0"/>
              <a:t>“AIM to Prevent” Delirium RCT</a:t>
            </a:r>
            <a:endParaRPr lang="en-CA" dirty="0"/>
          </a:p>
        </p:txBody>
      </p:sp>
      <p:sp>
        <p:nvSpPr>
          <p:cNvPr id="2" name="TextBox 1">
            <a:extLst>
              <a:ext uri="{FF2B5EF4-FFF2-40B4-BE49-F238E27FC236}">
                <a16:creationId xmlns:a16="http://schemas.microsoft.com/office/drawing/2014/main" id="{D66C7ED4-6711-DB5B-36F3-821392A366FC}"/>
              </a:ext>
            </a:extLst>
          </p:cNvPr>
          <p:cNvSpPr txBox="1"/>
          <p:nvPr/>
        </p:nvSpPr>
        <p:spPr>
          <a:xfrm>
            <a:off x="860235" y="1533142"/>
            <a:ext cx="11038901" cy="1200329"/>
          </a:xfrm>
          <a:prstGeom prst="rect">
            <a:avLst/>
          </a:prstGeom>
          <a:noFill/>
        </p:spPr>
        <p:txBody>
          <a:bodyPr wrap="square" rtlCol="0">
            <a:spAutoFit/>
          </a:bodyPr>
          <a:lstStyle/>
          <a:p>
            <a:pPr marL="285750" indent="-285750">
              <a:buFont typeface="Arial" panose="020B0604020202020204" pitchFamily="34" charset="0"/>
              <a:buChar char="•"/>
            </a:pPr>
            <a:r>
              <a:rPr lang="en-CA" sz="2400" dirty="0"/>
              <a:t>Using GEMINI we are studying the intervention in ~15,000 patients</a:t>
            </a:r>
          </a:p>
          <a:p>
            <a:pPr marL="285750" indent="-285750">
              <a:buFont typeface="Arial" panose="020B0604020202020204" pitchFamily="34" charset="0"/>
              <a:buChar char="•"/>
            </a:pPr>
            <a:r>
              <a:rPr lang="en-CA" sz="2400" dirty="0"/>
              <a:t>The largest RCT of clinical AI in Canada, one of the largest in the world</a:t>
            </a:r>
          </a:p>
          <a:p>
            <a:pPr marL="285750" indent="-285750">
              <a:buFont typeface="Arial" panose="020B0604020202020204" pitchFamily="34" charset="0"/>
              <a:buChar char="•"/>
            </a:pPr>
            <a:r>
              <a:rPr lang="en-CA" sz="2400" dirty="0"/>
              <a:t>Completed in 18 months</a:t>
            </a:r>
          </a:p>
        </p:txBody>
      </p:sp>
      <p:cxnSp>
        <p:nvCxnSpPr>
          <p:cNvPr id="11" name="Straight Connector 10">
            <a:extLst>
              <a:ext uri="{FF2B5EF4-FFF2-40B4-BE49-F238E27FC236}">
                <a16:creationId xmlns:a16="http://schemas.microsoft.com/office/drawing/2014/main" id="{0C532489-88CF-C926-CDBA-8BB92E28944E}"/>
              </a:ext>
            </a:extLst>
          </p:cNvPr>
          <p:cNvCxnSpPr/>
          <p:nvPr/>
        </p:nvCxnSpPr>
        <p:spPr>
          <a:xfrm>
            <a:off x="895499" y="4532159"/>
            <a:ext cx="9742714" cy="0"/>
          </a:xfrm>
          <a:prstGeom prst="line">
            <a:avLst/>
          </a:prstGeom>
          <a:ln w="57150" cap="rnd">
            <a:tailEnd type="triangle"/>
          </a:ln>
        </p:spPr>
        <p:style>
          <a:lnRef idx="2">
            <a:schemeClr val="accent1"/>
          </a:lnRef>
          <a:fillRef idx="0">
            <a:schemeClr val="accent1"/>
          </a:fillRef>
          <a:effectRef idx="1">
            <a:schemeClr val="accent1"/>
          </a:effectRef>
          <a:fontRef idx="minor">
            <a:schemeClr val="tx1"/>
          </a:fontRef>
        </p:style>
      </p:cxnSp>
      <p:pic>
        <p:nvPicPr>
          <p:cNvPr id="28" name="Graphic 27" descr="Hospital outline">
            <a:extLst>
              <a:ext uri="{FF2B5EF4-FFF2-40B4-BE49-F238E27FC236}">
                <a16:creationId xmlns:a16="http://schemas.microsoft.com/office/drawing/2014/main" id="{6F7085A7-1600-8250-EDBA-49D296FF32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67500" y="2712828"/>
            <a:ext cx="1181426" cy="1181426"/>
          </a:xfrm>
          <a:prstGeom prst="rect">
            <a:avLst/>
          </a:prstGeom>
        </p:spPr>
      </p:pic>
      <p:sp>
        <p:nvSpPr>
          <p:cNvPr id="34" name="Oval 33">
            <a:extLst>
              <a:ext uri="{FF2B5EF4-FFF2-40B4-BE49-F238E27FC236}">
                <a16:creationId xmlns:a16="http://schemas.microsoft.com/office/drawing/2014/main" id="{C530C700-1EDA-37E5-92ED-6002768B1B1F}"/>
              </a:ext>
            </a:extLst>
          </p:cNvPr>
          <p:cNvSpPr>
            <a:spLocks noChangeAspect="1"/>
          </p:cNvSpPr>
          <p:nvPr/>
        </p:nvSpPr>
        <p:spPr>
          <a:xfrm>
            <a:off x="4133612" y="4425418"/>
            <a:ext cx="215886" cy="21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Oval 34">
            <a:extLst>
              <a:ext uri="{FF2B5EF4-FFF2-40B4-BE49-F238E27FC236}">
                <a16:creationId xmlns:a16="http://schemas.microsoft.com/office/drawing/2014/main" id="{657A5E70-A2B2-CD2F-A5CD-3D7C7B1841D9}"/>
              </a:ext>
            </a:extLst>
          </p:cNvPr>
          <p:cNvSpPr>
            <a:spLocks noChangeAspect="1"/>
          </p:cNvSpPr>
          <p:nvPr/>
        </p:nvSpPr>
        <p:spPr>
          <a:xfrm>
            <a:off x="7627271" y="4424159"/>
            <a:ext cx="215886" cy="21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8" name="Graphic 47" descr="Hospital outline">
            <a:extLst>
              <a:ext uri="{FF2B5EF4-FFF2-40B4-BE49-F238E27FC236}">
                <a16:creationId xmlns:a16="http://schemas.microsoft.com/office/drawing/2014/main" id="{208D7F01-0B71-7685-B790-2B0CB7732D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7500" y="4638901"/>
            <a:ext cx="1181426" cy="1181426"/>
          </a:xfrm>
          <a:prstGeom prst="rect">
            <a:avLst/>
          </a:prstGeom>
        </p:spPr>
      </p:pic>
      <p:pic>
        <p:nvPicPr>
          <p:cNvPr id="49" name="Graphic 48" descr="Hospital outline">
            <a:extLst>
              <a:ext uri="{FF2B5EF4-FFF2-40B4-BE49-F238E27FC236}">
                <a16:creationId xmlns:a16="http://schemas.microsoft.com/office/drawing/2014/main" id="{ABBE436F-7D4B-614C-7529-A511029010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0946" y="4638901"/>
            <a:ext cx="1181426" cy="1181426"/>
          </a:xfrm>
          <a:prstGeom prst="rect">
            <a:avLst/>
          </a:prstGeom>
        </p:spPr>
      </p:pic>
      <p:pic>
        <p:nvPicPr>
          <p:cNvPr id="50" name="Graphic 49" descr="Hospital outline">
            <a:extLst>
              <a:ext uri="{FF2B5EF4-FFF2-40B4-BE49-F238E27FC236}">
                <a16:creationId xmlns:a16="http://schemas.microsoft.com/office/drawing/2014/main" id="{416A9ACA-456D-7520-3955-12B9297F5B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23127" y="2785699"/>
            <a:ext cx="1181426" cy="1181426"/>
          </a:xfrm>
          <a:prstGeom prst="rect">
            <a:avLst/>
          </a:prstGeom>
        </p:spPr>
      </p:pic>
      <p:sp>
        <p:nvSpPr>
          <p:cNvPr id="51" name="TextBox 50">
            <a:extLst>
              <a:ext uri="{FF2B5EF4-FFF2-40B4-BE49-F238E27FC236}">
                <a16:creationId xmlns:a16="http://schemas.microsoft.com/office/drawing/2014/main" id="{5B49526F-8F0F-CC86-BBD4-412182139055}"/>
              </a:ext>
            </a:extLst>
          </p:cNvPr>
          <p:cNvSpPr txBox="1"/>
          <p:nvPr/>
        </p:nvSpPr>
        <p:spPr>
          <a:xfrm>
            <a:off x="3650789" y="4641929"/>
            <a:ext cx="1181426" cy="369332"/>
          </a:xfrm>
          <a:prstGeom prst="rect">
            <a:avLst/>
          </a:prstGeom>
          <a:noFill/>
        </p:spPr>
        <p:txBody>
          <a:bodyPr wrap="square" rtlCol="0">
            <a:spAutoFit/>
          </a:bodyPr>
          <a:lstStyle/>
          <a:p>
            <a:pPr algn="ctr"/>
            <a:r>
              <a:rPr lang="en-CA" dirty="0"/>
              <a:t>6 months</a:t>
            </a:r>
          </a:p>
        </p:txBody>
      </p:sp>
      <p:sp>
        <p:nvSpPr>
          <p:cNvPr id="52" name="TextBox 51">
            <a:extLst>
              <a:ext uri="{FF2B5EF4-FFF2-40B4-BE49-F238E27FC236}">
                <a16:creationId xmlns:a16="http://schemas.microsoft.com/office/drawing/2014/main" id="{84630F6D-5680-C41D-A84C-776E3F457CF6}"/>
              </a:ext>
            </a:extLst>
          </p:cNvPr>
          <p:cNvSpPr txBox="1"/>
          <p:nvPr/>
        </p:nvSpPr>
        <p:spPr>
          <a:xfrm>
            <a:off x="7024563" y="4652772"/>
            <a:ext cx="1421301" cy="369332"/>
          </a:xfrm>
          <a:prstGeom prst="rect">
            <a:avLst/>
          </a:prstGeom>
          <a:noFill/>
        </p:spPr>
        <p:txBody>
          <a:bodyPr wrap="square" rtlCol="0">
            <a:spAutoFit/>
          </a:bodyPr>
          <a:lstStyle/>
          <a:p>
            <a:pPr algn="ctr"/>
            <a:r>
              <a:rPr lang="en-CA" dirty="0"/>
              <a:t>12 months</a:t>
            </a:r>
          </a:p>
        </p:txBody>
      </p:sp>
      <p:sp>
        <p:nvSpPr>
          <p:cNvPr id="53" name="TextBox 52">
            <a:extLst>
              <a:ext uri="{FF2B5EF4-FFF2-40B4-BE49-F238E27FC236}">
                <a16:creationId xmlns:a16="http://schemas.microsoft.com/office/drawing/2014/main" id="{F8B73748-2405-8D78-0BB3-C6BF0F6FE838}"/>
              </a:ext>
            </a:extLst>
          </p:cNvPr>
          <p:cNvSpPr txBox="1"/>
          <p:nvPr/>
        </p:nvSpPr>
        <p:spPr>
          <a:xfrm>
            <a:off x="1033018" y="5752900"/>
            <a:ext cx="2377282" cy="646331"/>
          </a:xfrm>
          <a:prstGeom prst="rect">
            <a:avLst/>
          </a:prstGeom>
          <a:noFill/>
        </p:spPr>
        <p:txBody>
          <a:bodyPr wrap="square" rtlCol="0">
            <a:spAutoFit/>
          </a:bodyPr>
          <a:lstStyle/>
          <a:p>
            <a:pPr algn="ctr"/>
            <a:r>
              <a:rPr lang="en-CA" b="1" dirty="0">
                <a:solidFill>
                  <a:schemeClr val="accent2"/>
                </a:solidFill>
              </a:rPr>
              <a:t>All 12 Hospitals No Intervention</a:t>
            </a:r>
          </a:p>
        </p:txBody>
      </p:sp>
      <p:sp>
        <p:nvSpPr>
          <p:cNvPr id="54" name="TextBox 53">
            <a:extLst>
              <a:ext uri="{FF2B5EF4-FFF2-40B4-BE49-F238E27FC236}">
                <a16:creationId xmlns:a16="http://schemas.microsoft.com/office/drawing/2014/main" id="{F2DC3232-25BC-FFE1-60BA-95AF784D6F11}"/>
              </a:ext>
            </a:extLst>
          </p:cNvPr>
          <p:cNvSpPr txBox="1"/>
          <p:nvPr/>
        </p:nvSpPr>
        <p:spPr>
          <a:xfrm>
            <a:off x="4769572" y="3721729"/>
            <a:ext cx="2377282" cy="646331"/>
          </a:xfrm>
          <a:prstGeom prst="rect">
            <a:avLst/>
          </a:prstGeom>
          <a:noFill/>
        </p:spPr>
        <p:txBody>
          <a:bodyPr wrap="square" rtlCol="0">
            <a:spAutoFit/>
          </a:bodyPr>
          <a:lstStyle/>
          <a:p>
            <a:pPr algn="ctr"/>
            <a:r>
              <a:rPr lang="en-CA" b="1" dirty="0">
                <a:solidFill>
                  <a:srgbClr val="00B0F0"/>
                </a:solidFill>
              </a:rPr>
              <a:t>6 Hospitals Intervention</a:t>
            </a:r>
          </a:p>
        </p:txBody>
      </p:sp>
      <p:sp>
        <p:nvSpPr>
          <p:cNvPr id="55" name="TextBox 54">
            <a:extLst>
              <a:ext uri="{FF2B5EF4-FFF2-40B4-BE49-F238E27FC236}">
                <a16:creationId xmlns:a16="http://schemas.microsoft.com/office/drawing/2014/main" id="{6CF1BCA4-C5DA-4AF2-C5E5-CB0B2EBB0068}"/>
              </a:ext>
            </a:extLst>
          </p:cNvPr>
          <p:cNvSpPr txBox="1"/>
          <p:nvPr/>
        </p:nvSpPr>
        <p:spPr>
          <a:xfrm>
            <a:off x="4832215" y="5752899"/>
            <a:ext cx="2377282" cy="646331"/>
          </a:xfrm>
          <a:prstGeom prst="rect">
            <a:avLst/>
          </a:prstGeom>
          <a:noFill/>
        </p:spPr>
        <p:txBody>
          <a:bodyPr wrap="square" rtlCol="0">
            <a:spAutoFit/>
          </a:bodyPr>
          <a:lstStyle/>
          <a:p>
            <a:pPr algn="ctr"/>
            <a:r>
              <a:rPr lang="en-CA" b="1" dirty="0">
                <a:solidFill>
                  <a:schemeClr val="accent2"/>
                </a:solidFill>
              </a:rPr>
              <a:t>6 Hospitals No Intervention</a:t>
            </a:r>
          </a:p>
        </p:txBody>
      </p:sp>
      <p:sp>
        <p:nvSpPr>
          <p:cNvPr id="56" name="TextBox 55">
            <a:extLst>
              <a:ext uri="{FF2B5EF4-FFF2-40B4-BE49-F238E27FC236}">
                <a16:creationId xmlns:a16="http://schemas.microsoft.com/office/drawing/2014/main" id="{E2EE7E59-8E31-83FB-59ED-688902FE7BA9}"/>
              </a:ext>
            </a:extLst>
          </p:cNvPr>
          <p:cNvSpPr txBox="1"/>
          <p:nvPr/>
        </p:nvSpPr>
        <p:spPr>
          <a:xfrm>
            <a:off x="8225199" y="3801364"/>
            <a:ext cx="2377282" cy="646331"/>
          </a:xfrm>
          <a:prstGeom prst="rect">
            <a:avLst/>
          </a:prstGeom>
          <a:noFill/>
        </p:spPr>
        <p:txBody>
          <a:bodyPr wrap="square" rtlCol="0">
            <a:spAutoFit/>
          </a:bodyPr>
          <a:lstStyle/>
          <a:p>
            <a:pPr algn="ctr"/>
            <a:r>
              <a:rPr lang="en-CA" b="1" dirty="0">
                <a:solidFill>
                  <a:srgbClr val="00B0F0"/>
                </a:solidFill>
              </a:rPr>
              <a:t>All 12 Hospitals Intervention</a:t>
            </a:r>
          </a:p>
        </p:txBody>
      </p:sp>
      <p:cxnSp>
        <p:nvCxnSpPr>
          <p:cNvPr id="58" name="Straight Connector 57">
            <a:extLst>
              <a:ext uri="{FF2B5EF4-FFF2-40B4-BE49-F238E27FC236}">
                <a16:creationId xmlns:a16="http://schemas.microsoft.com/office/drawing/2014/main" id="{0E30277E-2CA5-2F25-C128-028F520F9377}"/>
              </a:ext>
            </a:extLst>
          </p:cNvPr>
          <p:cNvCxnSpPr/>
          <p:nvPr/>
        </p:nvCxnSpPr>
        <p:spPr>
          <a:xfrm>
            <a:off x="4241502" y="3801364"/>
            <a:ext cx="0" cy="1606768"/>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7D1C3CC-7D04-F7A9-A123-E57CAF9DA838}"/>
              </a:ext>
            </a:extLst>
          </p:cNvPr>
          <p:cNvCxnSpPr/>
          <p:nvPr/>
        </p:nvCxnSpPr>
        <p:spPr>
          <a:xfrm>
            <a:off x="7735213" y="3801364"/>
            <a:ext cx="0" cy="1606768"/>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0296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5E07D-AAEE-D963-D68E-822316192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49258-EB47-BE34-62E6-5D8C8281B33A}"/>
              </a:ext>
            </a:extLst>
          </p:cNvPr>
          <p:cNvSpPr>
            <a:spLocks noGrp="1"/>
          </p:cNvSpPr>
          <p:nvPr>
            <p:ph type="title"/>
          </p:nvPr>
        </p:nvSpPr>
        <p:spPr>
          <a:xfrm>
            <a:off x="479999" y="72000"/>
            <a:ext cx="11130753" cy="900000"/>
          </a:xfrm>
        </p:spPr>
        <p:txBody>
          <a:bodyPr/>
          <a:lstStyle/>
          <a:p>
            <a:r>
              <a:rPr lang="en-CA" sz="3200" b="1" dirty="0">
                <a:latin typeface="+mj-lt"/>
              </a:rPr>
              <a:t>What can we expect AI to accomplish in the next 3 years?</a:t>
            </a:r>
            <a:endParaRPr lang="en-CA" sz="3200" dirty="0"/>
          </a:p>
        </p:txBody>
      </p:sp>
      <p:sp>
        <p:nvSpPr>
          <p:cNvPr id="3" name="Content Placeholder 2">
            <a:extLst>
              <a:ext uri="{FF2B5EF4-FFF2-40B4-BE49-F238E27FC236}">
                <a16:creationId xmlns:a16="http://schemas.microsoft.com/office/drawing/2014/main" id="{3B1C0AE6-A920-311B-BB14-AEDA898A44C5}"/>
              </a:ext>
            </a:extLst>
          </p:cNvPr>
          <p:cNvSpPr>
            <a:spLocks noGrp="1"/>
          </p:cNvSpPr>
          <p:nvPr>
            <p:ph type="body" sz="quarter" idx="12"/>
          </p:nvPr>
        </p:nvSpPr>
        <p:spPr/>
        <p:txBody>
          <a:bodyPr/>
          <a:lstStyle/>
          <a:p>
            <a:pPr marL="0" indent="0" algn="ctr">
              <a:buNone/>
            </a:pPr>
            <a:endParaRPr lang="en-CA" dirty="0"/>
          </a:p>
          <a:p>
            <a:pPr marL="0" indent="0" algn="ctr">
              <a:buNone/>
            </a:pPr>
            <a:endParaRPr lang="en-CA" dirty="0"/>
          </a:p>
          <a:p>
            <a:pPr marL="514350" indent="-514350">
              <a:buAutoNum type="arabicPeriod"/>
            </a:pPr>
            <a:r>
              <a:rPr lang="en-CA" b="1" i="1" dirty="0"/>
              <a:t>Act like clinicians </a:t>
            </a:r>
            <a:br>
              <a:rPr lang="en-CA" b="1" i="1" dirty="0"/>
            </a:br>
            <a:r>
              <a:rPr lang="en-CA" dirty="0"/>
              <a:t>– information processing and document generation at least at level of a competent trainee</a:t>
            </a:r>
          </a:p>
          <a:p>
            <a:pPr marL="514350" indent="-514350">
              <a:buFont typeface="Arial" panose="020B0604020202020204" pitchFamily="34" charset="0"/>
              <a:buAutoNum type="arabicPeriod"/>
            </a:pPr>
            <a:r>
              <a:rPr lang="en-CA" b="1" i="1" dirty="0"/>
              <a:t>Complement clinicians </a:t>
            </a:r>
            <a:br>
              <a:rPr lang="en-CA" b="1" i="1" dirty="0"/>
            </a:br>
            <a:r>
              <a:rPr lang="en-CA" dirty="0"/>
              <a:t>– decision support</a:t>
            </a:r>
          </a:p>
          <a:p>
            <a:pPr marL="514350" indent="-514350">
              <a:buAutoNum type="arabicPeriod"/>
            </a:pPr>
            <a:r>
              <a:rPr lang="en-CA" b="1" i="1" dirty="0"/>
              <a:t>Do things clinicians can’t </a:t>
            </a:r>
            <a:br>
              <a:rPr lang="en-CA" b="1" i="1" dirty="0"/>
            </a:br>
            <a:r>
              <a:rPr lang="en-CA" dirty="0"/>
              <a:t>– complex pattern recognition and prediction</a:t>
            </a:r>
          </a:p>
        </p:txBody>
      </p:sp>
    </p:spTree>
    <p:extLst>
      <p:ext uri="{BB962C8B-B14F-4D97-AF65-F5344CB8AC3E}">
        <p14:creationId xmlns:p14="http://schemas.microsoft.com/office/powerpoint/2010/main" val="2713226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64CA1-B50A-7923-DFBD-2B2416BC3AB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30D9F18-1D7F-7B66-DDD3-48E6D600CE06}"/>
              </a:ext>
            </a:extLst>
          </p:cNvPr>
          <p:cNvSpPr>
            <a:spLocks noGrp="1"/>
          </p:cNvSpPr>
          <p:nvPr>
            <p:ph type="title"/>
          </p:nvPr>
        </p:nvSpPr>
        <p:spPr>
          <a:xfrm>
            <a:off x="480000" y="72000"/>
            <a:ext cx="10668164" cy="900000"/>
          </a:xfrm>
        </p:spPr>
        <p:txBody>
          <a:bodyPr/>
          <a:lstStyle/>
          <a:p>
            <a:r>
              <a:rPr lang="en-CA" dirty="0"/>
              <a:t>What is the evidence base for real-world clinical use of AI?</a:t>
            </a:r>
          </a:p>
        </p:txBody>
      </p:sp>
      <p:pic>
        <p:nvPicPr>
          <p:cNvPr id="12" name="Content Placeholder 11" descr="Closed book outline">
            <a:extLst>
              <a:ext uri="{FF2B5EF4-FFF2-40B4-BE49-F238E27FC236}">
                <a16:creationId xmlns:a16="http://schemas.microsoft.com/office/drawing/2014/main" id="{FF67D9B4-F300-0C87-7768-65E2045CAA44}"/>
              </a:ext>
            </a:extLst>
          </p:cNvPr>
          <p:cNvPicPr>
            <a:picLocks noGrp="1" noChangeAspect="1"/>
          </p:cNvPicPr>
          <p:nvPr>
            <p:ph idx="4294967295"/>
          </p:nvPr>
        </p:nvPicPr>
        <p:blipFill>
          <a:blip r:embed="rId3">
            <a:extLst>
              <a:ext uri="{96DAC541-7B7A-43D3-8B79-37D633B846F1}">
                <asvg:svgBlip xmlns:asvg="http://schemas.microsoft.com/office/drawing/2016/SVG/main" r:embed="rId4"/>
              </a:ext>
            </a:extLst>
          </a:blip>
          <a:stretch>
            <a:fillRect/>
          </a:stretch>
        </p:blipFill>
        <p:spPr>
          <a:xfrm>
            <a:off x="749300" y="1602721"/>
            <a:ext cx="393700" cy="393700"/>
          </a:xfrm>
        </p:spPr>
      </p:pic>
      <p:pic>
        <p:nvPicPr>
          <p:cNvPr id="13" name="Content Placeholder 11" descr="Closed book outline">
            <a:extLst>
              <a:ext uri="{FF2B5EF4-FFF2-40B4-BE49-F238E27FC236}">
                <a16:creationId xmlns:a16="http://schemas.microsoft.com/office/drawing/2014/main" id="{08A5C4A4-E19F-04DA-0FB8-90F72E1F23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1614627"/>
            <a:ext cx="393700" cy="393700"/>
          </a:xfrm>
          <a:prstGeom prst="rect">
            <a:avLst/>
          </a:prstGeom>
        </p:spPr>
      </p:pic>
      <p:pic>
        <p:nvPicPr>
          <p:cNvPr id="14" name="Content Placeholder 11" descr="Closed book outline">
            <a:extLst>
              <a:ext uri="{FF2B5EF4-FFF2-40B4-BE49-F238E27FC236}">
                <a16:creationId xmlns:a16="http://schemas.microsoft.com/office/drawing/2014/main" id="{EE5348DB-6C1F-6389-46E1-51E717DD1D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1614627"/>
            <a:ext cx="393700" cy="393700"/>
          </a:xfrm>
          <a:prstGeom prst="rect">
            <a:avLst/>
          </a:prstGeom>
        </p:spPr>
      </p:pic>
      <p:pic>
        <p:nvPicPr>
          <p:cNvPr id="15" name="Content Placeholder 11" descr="Closed book outline">
            <a:extLst>
              <a:ext uri="{FF2B5EF4-FFF2-40B4-BE49-F238E27FC236}">
                <a16:creationId xmlns:a16="http://schemas.microsoft.com/office/drawing/2014/main" id="{DB2CB7AB-DDB2-F766-82DF-769F5B7A18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1614627"/>
            <a:ext cx="393700" cy="393700"/>
          </a:xfrm>
          <a:prstGeom prst="rect">
            <a:avLst/>
          </a:prstGeom>
        </p:spPr>
      </p:pic>
      <p:pic>
        <p:nvPicPr>
          <p:cNvPr id="16" name="Content Placeholder 11" descr="Closed book outline">
            <a:extLst>
              <a:ext uri="{FF2B5EF4-FFF2-40B4-BE49-F238E27FC236}">
                <a16:creationId xmlns:a16="http://schemas.microsoft.com/office/drawing/2014/main" id="{6F72CC62-D4A6-72CB-5044-19F2D4F44E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1615421"/>
            <a:ext cx="393700" cy="393700"/>
          </a:xfrm>
          <a:prstGeom prst="rect">
            <a:avLst/>
          </a:prstGeom>
        </p:spPr>
      </p:pic>
      <p:pic>
        <p:nvPicPr>
          <p:cNvPr id="17" name="Content Placeholder 11" descr="Closed book outline">
            <a:extLst>
              <a:ext uri="{FF2B5EF4-FFF2-40B4-BE49-F238E27FC236}">
                <a16:creationId xmlns:a16="http://schemas.microsoft.com/office/drawing/2014/main" id="{A102D844-2295-4D69-1F52-2188A4FEC9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1615421"/>
            <a:ext cx="393700" cy="393700"/>
          </a:xfrm>
          <a:prstGeom prst="rect">
            <a:avLst/>
          </a:prstGeom>
        </p:spPr>
      </p:pic>
      <p:pic>
        <p:nvPicPr>
          <p:cNvPr id="18" name="Content Placeholder 11" descr="Closed book outline">
            <a:extLst>
              <a:ext uri="{FF2B5EF4-FFF2-40B4-BE49-F238E27FC236}">
                <a16:creationId xmlns:a16="http://schemas.microsoft.com/office/drawing/2014/main" id="{51655FD5-415F-96C1-EDC2-BB5AEC5321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1614627"/>
            <a:ext cx="393700" cy="393700"/>
          </a:xfrm>
          <a:prstGeom prst="rect">
            <a:avLst/>
          </a:prstGeom>
        </p:spPr>
      </p:pic>
      <p:pic>
        <p:nvPicPr>
          <p:cNvPr id="19" name="Content Placeholder 11" descr="Closed book outline">
            <a:extLst>
              <a:ext uri="{FF2B5EF4-FFF2-40B4-BE49-F238E27FC236}">
                <a16:creationId xmlns:a16="http://schemas.microsoft.com/office/drawing/2014/main" id="{F757D97D-8541-A355-7055-856DE9A19F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1614627"/>
            <a:ext cx="393700" cy="393700"/>
          </a:xfrm>
          <a:prstGeom prst="rect">
            <a:avLst/>
          </a:prstGeom>
        </p:spPr>
      </p:pic>
      <p:pic>
        <p:nvPicPr>
          <p:cNvPr id="20" name="Content Placeholder 11" descr="Closed book outline">
            <a:extLst>
              <a:ext uri="{FF2B5EF4-FFF2-40B4-BE49-F238E27FC236}">
                <a16:creationId xmlns:a16="http://schemas.microsoft.com/office/drawing/2014/main" id="{F7450AE0-65C4-9C17-5157-30ABB26A1D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1614627"/>
            <a:ext cx="393700" cy="393700"/>
          </a:xfrm>
          <a:prstGeom prst="rect">
            <a:avLst/>
          </a:prstGeom>
        </p:spPr>
      </p:pic>
      <p:pic>
        <p:nvPicPr>
          <p:cNvPr id="21" name="Content Placeholder 11" descr="Closed book outline">
            <a:extLst>
              <a:ext uri="{FF2B5EF4-FFF2-40B4-BE49-F238E27FC236}">
                <a16:creationId xmlns:a16="http://schemas.microsoft.com/office/drawing/2014/main" id="{06762D7C-7F54-B7B9-6D9C-AD0733DD7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1614627"/>
            <a:ext cx="393700" cy="393700"/>
          </a:xfrm>
          <a:prstGeom prst="rect">
            <a:avLst/>
          </a:prstGeom>
        </p:spPr>
      </p:pic>
      <p:pic>
        <p:nvPicPr>
          <p:cNvPr id="22" name="Content Placeholder 11" descr="Closed book outline">
            <a:extLst>
              <a:ext uri="{FF2B5EF4-FFF2-40B4-BE49-F238E27FC236}">
                <a16:creationId xmlns:a16="http://schemas.microsoft.com/office/drawing/2014/main" id="{97CACA52-390B-6CBF-5DF5-662473A4B3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021027"/>
            <a:ext cx="393700" cy="393700"/>
          </a:xfrm>
          <a:prstGeom prst="rect">
            <a:avLst/>
          </a:prstGeom>
        </p:spPr>
      </p:pic>
      <p:pic>
        <p:nvPicPr>
          <p:cNvPr id="23" name="Content Placeholder 11" descr="Closed book outline">
            <a:extLst>
              <a:ext uri="{FF2B5EF4-FFF2-40B4-BE49-F238E27FC236}">
                <a16:creationId xmlns:a16="http://schemas.microsoft.com/office/drawing/2014/main" id="{81581FA8-62DB-C2D2-252C-4AAAD76E8D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021027"/>
            <a:ext cx="393700" cy="393700"/>
          </a:xfrm>
          <a:prstGeom prst="rect">
            <a:avLst/>
          </a:prstGeom>
        </p:spPr>
      </p:pic>
      <p:pic>
        <p:nvPicPr>
          <p:cNvPr id="24" name="Content Placeholder 11" descr="Closed book outline">
            <a:extLst>
              <a:ext uri="{FF2B5EF4-FFF2-40B4-BE49-F238E27FC236}">
                <a16:creationId xmlns:a16="http://schemas.microsoft.com/office/drawing/2014/main" id="{63E52734-2EE9-1259-2E2F-990FC2BEEB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021027"/>
            <a:ext cx="393700" cy="393700"/>
          </a:xfrm>
          <a:prstGeom prst="rect">
            <a:avLst/>
          </a:prstGeom>
        </p:spPr>
      </p:pic>
      <p:pic>
        <p:nvPicPr>
          <p:cNvPr id="25" name="Content Placeholder 11" descr="Closed book outline">
            <a:extLst>
              <a:ext uri="{FF2B5EF4-FFF2-40B4-BE49-F238E27FC236}">
                <a16:creationId xmlns:a16="http://schemas.microsoft.com/office/drawing/2014/main" id="{37398437-BE2F-7231-7251-3CCF07515A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021027"/>
            <a:ext cx="393700" cy="393700"/>
          </a:xfrm>
          <a:prstGeom prst="rect">
            <a:avLst/>
          </a:prstGeom>
        </p:spPr>
      </p:pic>
      <p:pic>
        <p:nvPicPr>
          <p:cNvPr id="26" name="Content Placeholder 11" descr="Closed book outline">
            <a:extLst>
              <a:ext uri="{FF2B5EF4-FFF2-40B4-BE49-F238E27FC236}">
                <a16:creationId xmlns:a16="http://schemas.microsoft.com/office/drawing/2014/main" id="{B9312270-A428-4711-FC16-B1ABDE5287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021821"/>
            <a:ext cx="393700" cy="393700"/>
          </a:xfrm>
          <a:prstGeom prst="rect">
            <a:avLst/>
          </a:prstGeom>
        </p:spPr>
      </p:pic>
      <p:pic>
        <p:nvPicPr>
          <p:cNvPr id="27" name="Content Placeholder 11" descr="Closed book outline">
            <a:extLst>
              <a:ext uri="{FF2B5EF4-FFF2-40B4-BE49-F238E27FC236}">
                <a16:creationId xmlns:a16="http://schemas.microsoft.com/office/drawing/2014/main" id="{2ED1B43F-22AA-5B8B-D5DE-3C87C36B26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021821"/>
            <a:ext cx="393700" cy="393700"/>
          </a:xfrm>
          <a:prstGeom prst="rect">
            <a:avLst/>
          </a:prstGeom>
        </p:spPr>
      </p:pic>
      <p:pic>
        <p:nvPicPr>
          <p:cNvPr id="28" name="Content Placeholder 11" descr="Closed book outline">
            <a:extLst>
              <a:ext uri="{FF2B5EF4-FFF2-40B4-BE49-F238E27FC236}">
                <a16:creationId xmlns:a16="http://schemas.microsoft.com/office/drawing/2014/main" id="{FC7CC452-3912-5B93-0C1F-978826F253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021027"/>
            <a:ext cx="393700" cy="393700"/>
          </a:xfrm>
          <a:prstGeom prst="rect">
            <a:avLst/>
          </a:prstGeom>
        </p:spPr>
      </p:pic>
      <p:pic>
        <p:nvPicPr>
          <p:cNvPr id="29" name="Content Placeholder 11" descr="Closed book outline">
            <a:extLst>
              <a:ext uri="{FF2B5EF4-FFF2-40B4-BE49-F238E27FC236}">
                <a16:creationId xmlns:a16="http://schemas.microsoft.com/office/drawing/2014/main" id="{6E023054-6A16-98AF-3771-D3BD918F41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021027"/>
            <a:ext cx="393700" cy="393700"/>
          </a:xfrm>
          <a:prstGeom prst="rect">
            <a:avLst/>
          </a:prstGeom>
        </p:spPr>
      </p:pic>
      <p:pic>
        <p:nvPicPr>
          <p:cNvPr id="30" name="Content Placeholder 11" descr="Closed book outline">
            <a:extLst>
              <a:ext uri="{FF2B5EF4-FFF2-40B4-BE49-F238E27FC236}">
                <a16:creationId xmlns:a16="http://schemas.microsoft.com/office/drawing/2014/main" id="{53862048-B1AB-4D2D-F187-E020752D04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021027"/>
            <a:ext cx="393700" cy="393700"/>
          </a:xfrm>
          <a:prstGeom prst="rect">
            <a:avLst/>
          </a:prstGeom>
        </p:spPr>
      </p:pic>
      <p:pic>
        <p:nvPicPr>
          <p:cNvPr id="31" name="Content Placeholder 11" descr="Closed book outline">
            <a:extLst>
              <a:ext uri="{FF2B5EF4-FFF2-40B4-BE49-F238E27FC236}">
                <a16:creationId xmlns:a16="http://schemas.microsoft.com/office/drawing/2014/main" id="{8C54CE8D-C57A-D1A6-649F-2B321DF023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021027"/>
            <a:ext cx="393700" cy="393700"/>
          </a:xfrm>
          <a:prstGeom prst="rect">
            <a:avLst/>
          </a:prstGeom>
        </p:spPr>
      </p:pic>
      <p:pic>
        <p:nvPicPr>
          <p:cNvPr id="50" name="Content Placeholder 11" descr="Closed book outline">
            <a:extLst>
              <a:ext uri="{FF2B5EF4-FFF2-40B4-BE49-F238E27FC236}">
                <a16:creationId xmlns:a16="http://schemas.microsoft.com/office/drawing/2014/main" id="{89F94D86-3436-8EA8-C1D3-36F209B9D4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439333"/>
            <a:ext cx="393700" cy="393700"/>
          </a:xfrm>
          <a:prstGeom prst="rect">
            <a:avLst/>
          </a:prstGeom>
        </p:spPr>
      </p:pic>
      <p:pic>
        <p:nvPicPr>
          <p:cNvPr id="51" name="Content Placeholder 11" descr="Closed book outline">
            <a:extLst>
              <a:ext uri="{FF2B5EF4-FFF2-40B4-BE49-F238E27FC236}">
                <a16:creationId xmlns:a16="http://schemas.microsoft.com/office/drawing/2014/main" id="{F8AC9674-EA46-4CDC-9016-480234D797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439333"/>
            <a:ext cx="393700" cy="393700"/>
          </a:xfrm>
          <a:prstGeom prst="rect">
            <a:avLst/>
          </a:prstGeom>
        </p:spPr>
      </p:pic>
      <p:pic>
        <p:nvPicPr>
          <p:cNvPr id="52" name="Content Placeholder 11" descr="Closed book outline">
            <a:extLst>
              <a:ext uri="{FF2B5EF4-FFF2-40B4-BE49-F238E27FC236}">
                <a16:creationId xmlns:a16="http://schemas.microsoft.com/office/drawing/2014/main" id="{3F6B44B4-7321-DDE1-0851-99E410FB5A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439333"/>
            <a:ext cx="393700" cy="393700"/>
          </a:xfrm>
          <a:prstGeom prst="rect">
            <a:avLst/>
          </a:prstGeom>
        </p:spPr>
      </p:pic>
      <p:pic>
        <p:nvPicPr>
          <p:cNvPr id="53" name="Content Placeholder 11" descr="Closed book outline">
            <a:extLst>
              <a:ext uri="{FF2B5EF4-FFF2-40B4-BE49-F238E27FC236}">
                <a16:creationId xmlns:a16="http://schemas.microsoft.com/office/drawing/2014/main" id="{38A1C972-95EB-DF48-86BF-A9E6572348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439333"/>
            <a:ext cx="393700" cy="393700"/>
          </a:xfrm>
          <a:prstGeom prst="rect">
            <a:avLst/>
          </a:prstGeom>
        </p:spPr>
      </p:pic>
      <p:pic>
        <p:nvPicPr>
          <p:cNvPr id="54" name="Content Placeholder 11" descr="Closed book outline">
            <a:extLst>
              <a:ext uri="{FF2B5EF4-FFF2-40B4-BE49-F238E27FC236}">
                <a16:creationId xmlns:a16="http://schemas.microsoft.com/office/drawing/2014/main" id="{B1393091-FB58-056B-07B8-21A7F53705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440127"/>
            <a:ext cx="393700" cy="393700"/>
          </a:xfrm>
          <a:prstGeom prst="rect">
            <a:avLst/>
          </a:prstGeom>
        </p:spPr>
      </p:pic>
      <p:pic>
        <p:nvPicPr>
          <p:cNvPr id="55" name="Content Placeholder 11" descr="Closed book outline">
            <a:extLst>
              <a:ext uri="{FF2B5EF4-FFF2-40B4-BE49-F238E27FC236}">
                <a16:creationId xmlns:a16="http://schemas.microsoft.com/office/drawing/2014/main" id="{0F9D9124-F356-0885-323F-8F1FB7E746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440127"/>
            <a:ext cx="393700" cy="393700"/>
          </a:xfrm>
          <a:prstGeom prst="rect">
            <a:avLst/>
          </a:prstGeom>
        </p:spPr>
      </p:pic>
      <p:pic>
        <p:nvPicPr>
          <p:cNvPr id="56" name="Content Placeholder 11" descr="Closed book outline">
            <a:extLst>
              <a:ext uri="{FF2B5EF4-FFF2-40B4-BE49-F238E27FC236}">
                <a16:creationId xmlns:a16="http://schemas.microsoft.com/office/drawing/2014/main" id="{F665E859-26C8-0013-366F-37690158E6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439333"/>
            <a:ext cx="393700" cy="393700"/>
          </a:xfrm>
          <a:prstGeom prst="rect">
            <a:avLst/>
          </a:prstGeom>
        </p:spPr>
      </p:pic>
      <p:pic>
        <p:nvPicPr>
          <p:cNvPr id="57" name="Content Placeholder 11" descr="Closed book outline">
            <a:extLst>
              <a:ext uri="{FF2B5EF4-FFF2-40B4-BE49-F238E27FC236}">
                <a16:creationId xmlns:a16="http://schemas.microsoft.com/office/drawing/2014/main" id="{5AB1A249-36FB-A79B-FD83-4626B12923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439333"/>
            <a:ext cx="393700" cy="393700"/>
          </a:xfrm>
          <a:prstGeom prst="rect">
            <a:avLst/>
          </a:prstGeom>
        </p:spPr>
      </p:pic>
      <p:pic>
        <p:nvPicPr>
          <p:cNvPr id="58" name="Content Placeholder 11" descr="Closed book outline">
            <a:extLst>
              <a:ext uri="{FF2B5EF4-FFF2-40B4-BE49-F238E27FC236}">
                <a16:creationId xmlns:a16="http://schemas.microsoft.com/office/drawing/2014/main" id="{FFC5FE7F-AD13-47EF-BBFB-25C1D48FEC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439333"/>
            <a:ext cx="393700" cy="393700"/>
          </a:xfrm>
          <a:prstGeom prst="rect">
            <a:avLst/>
          </a:prstGeom>
        </p:spPr>
      </p:pic>
      <p:pic>
        <p:nvPicPr>
          <p:cNvPr id="59" name="Content Placeholder 11" descr="Closed book outline">
            <a:extLst>
              <a:ext uri="{FF2B5EF4-FFF2-40B4-BE49-F238E27FC236}">
                <a16:creationId xmlns:a16="http://schemas.microsoft.com/office/drawing/2014/main" id="{022825BA-DB3C-954B-E5C4-18C8F98E56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439333"/>
            <a:ext cx="393700" cy="393700"/>
          </a:xfrm>
          <a:prstGeom prst="rect">
            <a:avLst/>
          </a:prstGeom>
        </p:spPr>
      </p:pic>
      <p:pic>
        <p:nvPicPr>
          <p:cNvPr id="60" name="Content Placeholder 11" descr="Closed book outline">
            <a:extLst>
              <a:ext uri="{FF2B5EF4-FFF2-40B4-BE49-F238E27FC236}">
                <a16:creationId xmlns:a16="http://schemas.microsoft.com/office/drawing/2014/main" id="{AC55504F-CA9C-A38E-47DC-5121FD1C5C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845733"/>
            <a:ext cx="393700" cy="393700"/>
          </a:xfrm>
          <a:prstGeom prst="rect">
            <a:avLst/>
          </a:prstGeom>
        </p:spPr>
      </p:pic>
      <p:pic>
        <p:nvPicPr>
          <p:cNvPr id="61" name="Content Placeholder 11" descr="Closed book outline">
            <a:extLst>
              <a:ext uri="{FF2B5EF4-FFF2-40B4-BE49-F238E27FC236}">
                <a16:creationId xmlns:a16="http://schemas.microsoft.com/office/drawing/2014/main" id="{1D28744D-7214-819A-1B69-F6B8F3EF6B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845733"/>
            <a:ext cx="393700" cy="393700"/>
          </a:xfrm>
          <a:prstGeom prst="rect">
            <a:avLst/>
          </a:prstGeom>
        </p:spPr>
      </p:pic>
      <p:pic>
        <p:nvPicPr>
          <p:cNvPr id="62" name="Content Placeholder 11" descr="Closed book outline">
            <a:extLst>
              <a:ext uri="{FF2B5EF4-FFF2-40B4-BE49-F238E27FC236}">
                <a16:creationId xmlns:a16="http://schemas.microsoft.com/office/drawing/2014/main" id="{8DC743FB-95BE-C194-61A7-2E00A608D2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845733"/>
            <a:ext cx="393700" cy="393700"/>
          </a:xfrm>
          <a:prstGeom prst="rect">
            <a:avLst/>
          </a:prstGeom>
        </p:spPr>
      </p:pic>
      <p:pic>
        <p:nvPicPr>
          <p:cNvPr id="63" name="Content Placeholder 11" descr="Closed book outline">
            <a:extLst>
              <a:ext uri="{FF2B5EF4-FFF2-40B4-BE49-F238E27FC236}">
                <a16:creationId xmlns:a16="http://schemas.microsoft.com/office/drawing/2014/main" id="{A83807B7-BF70-7699-82CD-881066E2F2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845733"/>
            <a:ext cx="393700" cy="393700"/>
          </a:xfrm>
          <a:prstGeom prst="rect">
            <a:avLst/>
          </a:prstGeom>
        </p:spPr>
      </p:pic>
      <p:pic>
        <p:nvPicPr>
          <p:cNvPr id="64" name="Content Placeholder 11" descr="Closed book outline">
            <a:extLst>
              <a:ext uri="{FF2B5EF4-FFF2-40B4-BE49-F238E27FC236}">
                <a16:creationId xmlns:a16="http://schemas.microsoft.com/office/drawing/2014/main" id="{D881D94B-A7F6-922B-81C2-D4F5D2D643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846527"/>
            <a:ext cx="393700" cy="393700"/>
          </a:xfrm>
          <a:prstGeom prst="rect">
            <a:avLst/>
          </a:prstGeom>
        </p:spPr>
      </p:pic>
      <p:pic>
        <p:nvPicPr>
          <p:cNvPr id="65" name="Content Placeholder 11" descr="Closed book outline">
            <a:extLst>
              <a:ext uri="{FF2B5EF4-FFF2-40B4-BE49-F238E27FC236}">
                <a16:creationId xmlns:a16="http://schemas.microsoft.com/office/drawing/2014/main" id="{4217723F-A223-5CE0-D795-CBED087F0F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846527"/>
            <a:ext cx="393700" cy="393700"/>
          </a:xfrm>
          <a:prstGeom prst="rect">
            <a:avLst/>
          </a:prstGeom>
        </p:spPr>
      </p:pic>
      <p:pic>
        <p:nvPicPr>
          <p:cNvPr id="66" name="Content Placeholder 11" descr="Closed book outline">
            <a:extLst>
              <a:ext uri="{FF2B5EF4-FFF2-40B4-BE49-F238E27FC236}">
                <a16:creationId xmlns:a16="http://schemas.microsoft.com/office/drawing/2014/main" id="{09FEBC3E-6869-D971-8EB4-5ACDFEB1AE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845733"/>
            <a:ext cx="393700" cy="393700"/>
          </a:xfrm>
          <a:prstGeom prst="rect">
            <a:avLst/>
          </a:prstGeom>
        </p:spPr>
      </p:pic>
      <p:pic>
        <p:nvPicPr>
          <p:cNvPr id="67" name="Content Placeholder 11" descr="Closed book outline">
            <a:extLst>
              <a:ext uri="{FF2B5EF4-FFF2-40B4-BE49-F238E27FC236}">
                <a16:creationId xmlns:a16="http://schemas.microsoft.com/office/drawing/2014/main" id="{4AE79249-746A-5C13-A331-BBA271E15C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845733"/>
            <a:ext cx="393700" cy="393700"/>
          </a:xfrm>
          <a:prstGeom prst="rect">
            <a:avLst/>
          </a:prstGeom>
        </p:spPr>
      </p:pic>
      <p:pic>
        <p:nvPicPr>
          <p:cNvPr id="68" name="Content Placeholder 11" descr="Closed book outline">
            <a:extLst>
              <a:ext uri="{FF2B5EF4-FFF2-40B4-BE49-F238E27FC236}">
                <a16:creationId xmlns:a16="http://schemas.microsoft.com/office/drawing/2014/main" id="{C68D18EB-8542-E90B-449C-81BEDE1335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845733"/>
            <a:ext cx="393700" cy="393700"/>
          </a:xfrm>
          <a:prstGeom prst="rect">
            <a:avLst/>
          </a:prstGeom>
        </p:spPr>
      </p:pic>
      <p:pic>
        <p:nvPicPr>
          <p:cNvPr id="69" name="Content Placeholder 11" descr="Closed book outline">
            <a:extLst>
              <a:ext uri="{FF2B5EF4-FFF2-40B4-BE49-F238E27FC236}">
                <a16:creationId xmlns:a16="http://schemas.microsoft.com/office/drawing/2014/main" id="{656857DC-AA22-8DCD-B218-784C7C2AEC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845733"/>
            <a:ext cx="393700" cy="393700"/>
          </a:xfrm>
          <a:prstGeom prst="rect">
            <a:avLst/>
          </a:prstGeom>
        </p:spPr>
      </p:pic>
      <p:pic>
        <p:nvPicPr>
          <p:cNvPr id="70" name="Content Placeholder 11" descr="Closed book outline">
            <a:extLst>
              <a:ext uri="{FF2B5EF4-FFF2-40B4-BE49-F238E27FC236}">
                <a16:creationId xmlns:a16="http://schemas.microsoft.com/office/drawing/2014/main" id="{A6DACA54-E0B9-71EF-3C3B-4016A01A8C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3225146"/>
            <a:ext cx="393700" cy="393700"/>
          </a:xfrm>
          <a:prstGeom prst="rect">
            <a:avLst/>
          </a:prstGeom>
        </p:spPr>
      </p:pic>
      <p:pic>
        <p:nvPicPr>
          <p:cNvPr id="71" name="Content Placeholder 11" descr="Closed book outline">
            <a:extLst>
              <a:ext uri="{FF2B5EF4-FFF2-40B4-BE49-F238E27FC236}">
                <a16:creationId xmlns:a16="http://schemas.microsoft.com/office/drawing/2014/main" id="{E915A1A8-593C-32A5-830F-0B6FCC4EDB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3225146"/>
            <a:ext cx="393700" cy="393700"/>
          </a:xfrm>
          <a:prstGeom prst="rect">
            <a:avLst/>
          </a:prstGeom>
        </p:spPr>
      </p:pic>
      <p:pic>
        <p:nvPicPr>
          <p:cNvPr id="72" name="Content Placeholder 11" descr="Closed book outline">
            <a:extLst>
              <a:ext uri="{FF2B5EF4-FFF2-40B4-BE49-F238E27FC236}">
                <a16:creationId xmlns:a16="http://schemas.microsoft.com/office/drawing/2014/main" id="{DC57A7F9-8523-6E28-E767-A178480306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3225146"/>
            <a:ext cx="393700" cy="393700"/>
          </a:xfrm>
          <a:prstGeom prst="rect">
            <a:avLst/>
          </a:prstGeom>
        </p:spPr>
      </p:pic>
      <p:pic>
        <p:nvPicPr>
          <p:cNvPr id="73" name="Content Placeholder 11" descr="Closed book outline">
            <a:extLst>
              <a:ext uri="{FF2B5EF4-FFF2-40B4-BE49-F238E27FC236}">
                <a16:creationId xmlns:a16="http://schemas.microsoft.com/office/drawing/2014/main" id="{EF9D466A-90F7-58C1-6CD2-BAED4FD476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3225146"/>
            <a:ext cx="393700" cy="393700"/>
          </a:xfrm>
          <a:prstGeom prst="rect">
            <a:avLst/>
          </a:prstGeom>
        </p:spPr>
      </p:pic>
      <p:pic>
        <p:nvPicPr>
          <p:cNvPr id="74" name="Content Placeholder 11" descr="Closed book outline">
            <a:extLst>
              <a:ext uri="{FF2B5EF4-FFF2-40B4-BE49-F238E27FC236}">
                <a16:creationId xmlns:a16="http://schemas.microsoft.com/office/drawing/2014/main" id="{793B7806-C966-D0E3-7F24-4F8E025536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3225940"/>
            <a:ext cx="393700" cy="393700"/>
          </a:xfrm>
          <a:prstGeom prst="rect">
            <a:avLst/>
          </a:prstGeom>
        </p:spPr>
      </p:pic>
      <p:pic>
        <p:nvPicPr>
          <p:cNvPr id="75" name="Content Placeholder 11" descr="Closed book outline">
            <a:extLst>
              <a:ext uri="{FF2B5EF4-FFF2-40B4-BE49-F238E27FC236}">
                <a16:creationId xmlns:a16="http://schemas.microsoft.com/office/drawing/2014/main" id="{73257C8A-B1C4-6A50-8E25-6A8A00CD0B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3225940"/>
            <a:ext cx="393700" cy="393700"/>
          </a:xfrm>
          <a:prstGeom prst="rect">
            <a:avLst/>
          </a:prstGeom>
        </p:spPr>
      </p:pic>
      <p:pic>
        <p:nvPicPr>
          <p:cNvPr id="76" name="Content Placeholder 11" descr="Closed book outline">
            <a:extLst>
              <a:ext uri="{FF2B5EF4-FFF2-40B4-BE49-F238E27FC236}">
                <a16:creationId xmlns:a16="http://schemas.microsoft.com/office/drawing/2014/main" id="{7099667B-7607-592B-98A2-606982C386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3225146"/>
            <a:ext cx="393700" cy="393700"/>
          </a:xfrm>
          <a:prstGeom prst="rect">
            <a:avLst/>
          </a:prstGeom>
        </p:spPr>
      </p:pic>
      <p:pic>
        <p:nvPicPr>
          <p:cNvPr id="77" name="Content Placeholder 11" descr="Closed book outline">
            <a:extLst>
              <a:ext uri="{FF2B5EF4-FFF2-40B4-BE49-F238E27FC236}">
                <a16:creationId xmlns:a16="http://schemas.microsoft.com/office/drawing/2014/main" id="{0021745C-B35B-1BE0-91AB-04BEB7F620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3225146"/>
            <a:ext cx="393700" cy="393700"/>
          </a:xfrm>
          <a:prstGeom prst="rect">
            <a:avLst/>
          </a:prstGeom>
        </p:spPr>
      </p:pic>
      <p:pic>
        <p:nvPicPr>
          <p:cNvPr id="78" name="Content Placeholder 11" descr="Closed book outline">
            <a:extLst>
              <a:ext uri="{FF2B5EF4-FFF2-40B4-BE49-F238E27FC236}">
                <a16:creationId xmlns:a16="http://schemas.microsoft.com/office/drawing/2014/main" id="{4EF8DAC8-858C-38AD-C839-50A3B817BD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3225146"/>
            <a:ext cx="393700" cy="393700"/>
          </a:xfrm>
          <a:prstGeom prst="rect">
            <a:avLst/>
          </a:prstGeom>
        </p:spPr>
      </p:pic>
      <p:pic>
        <p:nvPicPr>
          <p:cNvPr id="79" name="Content Placeholder 11" descr="Closed book outline">
            <a:extLst>
              <a:ext uri="{FF2B5EF4-FFF2-40B4-BE49-F238E27FC236}">
                <a16:creationId xmlns:a16="http://schemas.microsoft.com/office/drawing/2014/main" id="{948CE1CD-3F7C-95C8-76EE-9DDEF605DA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3225146"/>
            <a:ext cx="393700" cy="393700"/>
          </a:xfrm>
          <a:prstGeom prst="rect">
            <a:avLst/>
          </a:prstGeom>
        </p:spPr>
      </p:pic>
      <p:pic>
        <p:nvPicPr>
          <p:cNvPr id="80" name="Content Placeholder 11" descr="Closed book outline">
            <a:extLst>
              <a:ext uri="{FF2B5EF4-FFF2-40B4-BE49-F238E27FC236}">
                <a16:creationId xmlns:a16="http://schemas.microsoft.com/office/drawing/2014/main" id="{0376F352-BB25-0937-8D4D-02DA6FDC40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3631546"/>
            <a:ext cx="393700" cy="393700"/>
          </a:xfrm>
          <a:prstGeom prst="rect">
            <a:avLst/>
          </a:prstGeom>
        </p:spPr>
      </p:pic>
      <p:pic>
        <p:nvPicPr>
          <p:cNvPr id="81" name="Content Placeholder 11" descr="Closed book outline">
            <a:extLst>
              <a:ext uri="{FF2B5EF4-FFF2-40B4-BE49-F238E27FC236}">
                <a16:creationId xmlns:a16="http://schemas.microsoft.com/office/drawing/2014/main" id="{D7ED3A0D-71C7-F92E-B4D9-1FABE15446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3631546"/>
            <a:ext cx="393700" cy="393700"/>
          </a:xfrm>
          <a:prstGeom prst="rect">
            <a:avLst/>
          </a:prstGeom>
        </p:spPr>
      </p:pic>
      <p:pic>
        <p:nvPicPr>
          <p:cNvPr id="82" name="Content Placeholder 11" descr="Closed book outline">
            <a:extLst>
              <a:ext uri="{FF2B5EF4-FFF2-40B4-BE49-F238E27FC236}">
                <a16:creationId xmlns:a16="http://schemas.microsoft.com/office/drawing/2014/main" id="{733E1BAC-DD6D-D20E-6914-AF02A8E4D3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3631546"/>
            <a:ext cx="393700" cy="393700"/>
          </a:xfrm>
          <a:prstGeom prst="rect">
            <a:avLst/>
          </a:prstGeom>
        </p:spPr>
      </p:pic>
      <p:pic>
        <p:nvPicPr>
          <p:cNvPr id="83" name="Content Placeholder 11" descr="Closed book outline">
            <a:extLst>
              <a:ext uri="{FF2B5EF4-FFF2-40B4-BE49-F238E27FC236}">
                <a16:creationId xmlns:a16="http://schemas.microsoft.com/office/drawing/2014/main" id="{8C2CA119-8A25-24BD-C75A-AD7F9E9EFD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3631546"/>
            <a:ext cx="393700" cy="393700"/>
          </a:xfrm>
          <a:prstGeom prst="rect">
            <a:avLst/>
          </a:prstGeom>
        </p:spPr>
      </p:pic>
      <p:pic>
        <p:nvPicPr>
          <p:cNvPr id="84" name="Content Placeholder 11" descr="Closed book outline">
            <a:extLst>
              <a:ext uri="{FF2B5EF4-FFF2-40B4-BE49-F238E27FC236}">
                <a16:creationId xmlns:a16="http://schemas.microsoft.com/office/drawing/2014/main" id="{BC952AF3-980E-D895-3D8F-0846AFDB52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3632340"/>
            <a:ext cx="393700" cy="393700"/>
          </a:xfrm>
          <a:prstGeom prst="rect">
            <a:avLst/>
          </a:prstGeom>
        </p:spPr>
      </p:pic>
      <p:pic>
        <p:nvPicPr>
          <p:cNvPr id="85" name="Content Placeholder 11" descr="Closed book outline">
            <a:extLst>
              <a:ext uri="{FF2B5EF4-FFF2-40B4-BE49-F238E27FC236}">
                <a16:creationId xmlns:a16="http://schemas.microsoft.com/office/drawing/2014/main" id="{095294B3-6EEC-373B-2368-2A5F9FE105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3632340"/>
            <a:ext cx="393700" cy="393700"/>
          </a:xfrm>
          <a:prstGeom prst="rect">
            <a:avLst/>
          </a:prstGeom>
        </p:spPr>
      </p:pic>
      <p:pic>
        <p:nvPicPr>
          <p:cNvPr id="86" name="Content Placeholder 11" descr="Closed book outline">
            <a:extLst>
              <a:ext uri="{FF2B5EF4-FFF2-40B4-BE49-F238E27FC236}">
                <a16:creationId xmlns:a16="http://schemas.microsoft.com/office/drawing/2014/main" id="{5C0AFDE4-F683-7672-243E-5F01807BB8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3631546"/>
            <a:ext cx="393700" cy="393700"/>
          </a:xfrm>
          <a:prstGeom prst="rect">
            <a:avLst/>
          </a:prstGeom>
        </p:spPr>
      </p:pic>
      <p:pic>
        <p:nvPicPr>
          <p:cNvPr id="87" name="Content Placeholder 11" descr="Closed book outline">
            <a:extLst>
              <a:ext uri="{FF2B5EF4-FFF2-40B4-BE49-F238E27FC236}">
                <a16:creationId xmlns:a16="http://schemas.microsoft.com/office/drawing/2014/main" id="{8C9023AB-CA1C-9B68-6907-ECE8D6884F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3631546"/>
            <a:ext cx="393700" cy="393700"/>
          </a:xfrm>
          <a:prstGeom prst="rect">
            <a:avLst/>
          </a:prstGeom>
        </p:spPr>
      </p:pic>
      <p:pic>
        <p:nvPicPr>
          <p:cNvPr id="88" name="Content Placeholder 11" descr="Closed book outline">
            <a:extLst>
              <a:ext uri="{FF2B5EF4-FFF2-40B4-BE49-F238E27FC236}">
                <a16:creationId xmlns:a16="http://schemas.microsoft.com/office/drawing/2014/main" id="{BCF4490B-ADA0-F2E7-CB83-D1C3BD157D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3631546"/>
            <a:ext cx="393700" cy="393700"/>
          </a:xfrm>
          <a:prstGeom prst="rect">
            <a:avLst/>
          </a:prstGeom>
        </p:spPr>
      </p:pic>
      <p:pic>
        <p:nvPicPr>
          <p:cNvPr id="89" name="Content Placeholder 11" descr="Closed book outline">
            <a:extLst>
              <a:ext uri="{FF2B5EF4-FFF2-40B4-BE49-F238E27FC236}">
                <a16:creationId xmlns:a16="http://schemas.microsoft.com/office/drawing/2014/main" id="{BA798936-D56D-6A0A-525F-2789747DDB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3631546"/>
            <a:ext cx="393700" cy="393700"/>
          </a:xfrm>
          <a:prstGeom prst="rect">
            <a:avLst/>
          </a:prstGeom>
        </p:spPr>
      </p:pic>
      <p:pic>
        <p:nvPicPr>
          <p:cNvPr id="90" name="Content Placeholder 11" descr="Closed book outline">
            <a:extLst>
              <a:ext uri="{FF2B5EF4-FFF2-40B4-BE49-F238E27FC236}">
                <a16:creationId xmlns:a16="http://schemas.microsoft.com/office/drawing/2014/main" id="{44339C57-062C-A9BA-2E4E-E0F54F314E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049852"/>
            <a:ext cx="393700" cy="393700"/>
          </a:xfrm>
          <a:prstGeom prst="rect">
            <a:avLst/>
          </a:prstGeom>
        </p:spPr>
      </p:pic>
      <p:pic>
        <p:nvPicPr>
          <p:cNvPr id="91" name="Content Placeholder 11" descr="Closed book outline">
            <a:extLst>
              <a:ext uri="{FF2B5EF4-FFF2-40B4-BE49-F238E27FC236}">
                <a16:creationId xmlns:a16="http://schemas.microsoft.com/office/drawing/2014/main" id="{C7C60B2A-39E6-E88F-71A8-D29EEC39AB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049852"/>
            <a:ext cx="393700" cy="393700"/>
          </a:xfrm>
          <a:prstGeom prst="rect">
            <a:avLst/>
          </a:prstGeom>
        </p:spPr>
      </p:pic>
      <p:pic>
        <p:nvPicPr>
          <p:cNvPr id="92" name="Content Placeholder 11" descr="Closed book outline">
            <a:extLst>
              <a:ext uri="{FF2B5EF4-FFF2-40B4-BE49-F238E27FC236}">
                <a16:creationId xmlns:a16="http://schemas.microsoft.com/office/drawing/2014/main" id="{E514E8AC-D0D8-8AEE-1E48-89D65CD151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049852"/>
            <a:ext cx="393700" cy="393700"/>
          </a:xfrm>
          <a:prstGeom prst="rect">
            <a:avLst/>
          </a:prstGeom>
        </p:spPr>
      </p:pic>
      <p:pic>
        <p:nvPicPr>
          <p:cNvPr id="93" name="Content Placeholder 11" descr="Closed book outline">
            <a:extLst>
              <a:ext uri="{FF2B5EF4-FFF2-40B4-BE49-F238E27FC236}">
                <a16:creationId xmlns:a16="http://schemas.microsoft.com/office/drawing/2014/main" id="{B866DF60-6C82-E53E-F32A-830CBC31D9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049852"/>
            <a:ext cx="393700" cy="393700"/>
          </a:xfrm>
          <a:prstGeom prst="rect">
            <a:avLst/>
          </a:prstGeom>
        </p:spPr>
      </p:pic>
      <p:pic>
        <p:nvPicPr>
          <p:cNvPr id="94" name="Content Placeholder 11" descr="Closed book outline">
            <a:extLst>
              <a:ext uri="{FF2B5EF4-FFF2-40B4-BE49-F238E27FC236}">
                <a16:creationId xmlns:a16="http://schemas.microsoft.com/office/drawing/2014/main" id="{B936498D-47E3-DDA7-C557-8EBBF9080F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050646"/>
            <a:ext cx="393700" cy="393700"/>
          </a:xfrm>
          <a:prstGeom prst="rect">
            <a:avLst/>
          </a:prstGeom>
        </p:spPr>
      </p:pic>
      <p:pic>
        <p:nvPicPr>
          <p:cNvPr id="95" name="Content Placeholder 11" descr="Closed book outline">
            <a:extLst>
              <a:ext uri="{FF2B5EF4-FFF2-40B4-BE49-F238E27FC236}">
                <a16:creationId xmlns:a16="http://schemas.microsoft.com/office/drawing/2014/main" id="{0575A13B-3F3E-FCB2-3EC2-E99E01CE2F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050646"/>
            <a:ext cx="393700" cy="393700"/>
          </a:xfrm>
          <a:prstGeom prst="rect">
            <a:avLst/>
          </a:prstGeom>
        </p:spPr>
      </p:pic>
      <p:pic>
        <p:nvPicPr>
          <p:cNvPr id="96" name="Content Placeholder 11" descr="Closed book outline">
            <a:extLst>
              <a:ext uri="{FF2B5EF4-FFF2-40B4-BE49-F238E27FC236}">
                <a16:creationId xmlns:a16="http://schemas.microsoft.com/office/drawing/2014/main" id="{A6655755-CA26-3584-0A3E-478A5EE88B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049852"/>
            <a:ext cx="393700" cy="393700"/>
          </a:xfrm>
          <a:prstGeom prst="rect">
            <a:avLst/>
          </a:prstGeom>
        </p:spPr>
      </p:pic>
      <p:pic>
        <p:nvPicPr>
          <p:cNvPr id="97" name="Content Placeholder 11" descr="Closed book outline">
            <a:extLst>
              <a:ext uri="{FF2B5EF4-FFF2-40B4-BE49-F238E27FC236}">
                <a16:creationId xmlns:a16="http://schemas.microsoft.com/office/drawing/2014/main" id="{E8565435-4526-F53D-00D8-2B0EDA04EC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049852"/>
            <a:ext cx="393700" cy="393700"/>
          </a:xfrm>
          <a:prstGeom prst="rect">
            <a:avLst/>
          </a:prstGeom>
        </p:spPr>
      </p:pic>
      <p:pic>
        <p:nvPicPr>
          <p:cNvPr id="98" name="Content Placeholder 11" descr="Closed book outline">
            <a:extLst>
              <a:ext uri="{FF2B5EF4-FFF2-40B4-BE49-F238E27FC236}">
                <a16:creationId xmlns:a16="http://schemas.microsoft.com/office/drawing/2014/main" id="{22874584-2FD0-C592-DB72-0F7DC96FB6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049852"/>
            <a:ext cx="393700" cy="393700"/>
          </a:xfrm>
          <a:prstGeom prst="rect">
            <a:avLst/>
          </a:prstGeom>
        </p:spPr>
      </p:pic>
      <p:pic>
        <p:nvPicPr>
          <p:cNvPr id="99" name="Content Placeholder 11" descr="Closed book outline">
            <a:extLst>
              <a:ext uri="{FF2B5EF4-FFF2-40B4-BE49-F238E27FC236}">
                <a16:creationId xmlns:a16="http://schemas.microsoft.com/office/drawing/2014/main" id="{F0D830BB-459C-77C4-A029-6251BCBDC2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049852"/>
            <a:ext cx="393700" cy="393700"/>
          </a:xfrm>
          <a:prstGeom prst="rect">
            <a:avLst/>
          </a:prstGeom>
        </p:spPr>
      </p:pic>
      <p:pic>
        <p:nvPicPr>
          <p:cNvPr id="100" name="Content Placeholder 11" descr="Closed book outline">
            <a:extLst>
              <a:ext uri="{FF2B5EF4-FFF2-40B4-BE49-F238E27FC236}">
                <a16:creationId xmlns:a16="http://schemas.microsoft.com/office/drawing/2014/main" id="{9F98D8C5-FC20-E5BA-5356-6E5D112F3F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456252"/>
            <a:ext cx="393700" cy="393700"/>
          </a:xfrm>
          <a:prstGeom prst="rect">
            <a:avLst/>
          </a:prstGeom>
        </p:spPr>
      </p:pic>
      <p:pic>
        <p:nvPicPr>
          <p:cNvPr id="101" name="Content Placeholder 11" descr="Closed book outline">
            <a:extLst>
              <a:ext uri="{FF2B5EF4-FFF2-40B4-BE49-F238E27FC236}">
                <a16:creationId xmlns:a16="http://schemas.microsoft.com/office/drawing/2014/main" id="{FAC7A069-BD06-6B93-F8CB-EA5F9DA963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456252"/>
            <a:ext cx="393700" cy="393700"/>
          </a:xfrm>
          <a:prstGeom prst="rect">
            <a:avLst/>
          </a:prstGeom>
        </p:spPr>
      </p:pic>
      <p:pic>
        <p:nvPicPr>
          <p:cNvPr id="102" name="Content Placeholder 11" descr="Closed book outline">
            <a:extLst>
              <a:ext uri="{FF2B5EF4-FFF2-40B4-BE49-F238E27FC236}">
                <a16:creationId xmlns:a16="http://schemas.microsoft.com/office/drawing/2014/main" id="{D3CD3014-A180-8D39-5D80-A9948839D2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456252"/>
            <a:ext cx="393700" cy="393700"/>
          </a:xfrm>
          <a:prstGeom prst="rect">
            <a:avLst/>
          </a:prstGeom>
        </p:spPr>
      </p:pic>
      <p:pic>
        <p:nvPicPr>
          <p:cNvPr id="103" name="Content Placeholder 11" descr="Closed book outline">
            <a:extLst>
              <a:ext uri="{FF2B5EF4-FFF2-40B4-BE49-F238E27FC236}">
                <a16:creationId xmlns:a16="http://schemas.microsoft.com/office/drawing/2014/main" id="{C22B1517-6E8C-F277-4488-63B33CB617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456252"/>
            <a:ext cx="393700" cy="393700"/>
          </a:xfrm>
          <a:prstGeom prst="rect">
            <a:avLst/>
          </a:prstGeom>
        </p:spPr>
      </p:pic>
      <p:pic>
        <p:nvPicPr>
          <p:cNvPr id="104" name="Content Placeholder 11" descr="Closed book outline">
            <a:extLst>
              <a:ext uri="{FF2B5EF4-FFF2-40B4-BE49-F238E27FC236}">
                <a16:creationId xmlns:a16="http://schemas.microsoft.com/office/drawing/2014/main" id="{EB12AC63-F2BA-A497-A540-7817C4E53F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457046"/>
            <a:ext cx="393700" cy="393700"/>
          </a:xfrm>
          <a:prstGeom prst="rect">
            <a:avLst/>
          </a:prstGeom>
        </p:spPr>
      </p:pic>
      <p:pic>
        <p:nvPicPr>
          <p:cNvPr id="105" name="Content Placeholder 11" descr="Closed book outline">
            <a:extLst>
              <a:ext uri="{FF2B5EF4-FFF2-40B4-BE49-F238E27FC236}">
                <a16:creationId xmlns:a16="http://schemas.microsoft.com/office/drawing/2014/main" id="{CBF17B51-E956-D5CE-9AB7-B1D9D2C616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457046"/>
            <a:ext cx="393700" cy="393700"/>
          </a:xfrm>
          <a:prstGeom prst="rect">
            <a:avLst/>
          </a:prstGeom>
        </p:spPr>
      </p:pic>
      <p:pic>
        <p:nvPicPr>
          <p:cNvPr id="106" name="Content Placeholder 11" descr="Closed book outline">
            <a:extLst>
              <a:ext uri="{FF2B5EF4-FFF2-40B4-BE49-F238E27FC236}">
                <a16:creationId xmlns:a16="http://schemas.microsoft.com/office/drawing/2014/main" id="{371165A8-5C22-785C-4203-F6542657A3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456252"/>
            <a:ext cx="393700" cy="393700"/>
          </a:xfrm>
          <a:prstGeom prst="rect">
            <a:avLst/>
          </a:prstGeom>
        </p:spPr>
      </p:pic>
      <p:pic>
        <p:nvPicPr>
          <p:cNvPr id="107" name="Content Placeholder 11" descr="Closed book outline">
            <a:extLst>
              <a:ext uri="{FF2B5EF4-FFF2-40B4-BE49-F238E27FC236}">
                <a16:creationId xmlns:a16="http://schemas.microsoft.com/office/drawing/2014/main" id="{DAF3722D-AB63-A279-18CD-20F2156B59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456252"/>
            <a:ext cx="393700" cy="393700"/>
          </a:xfrm>
          <a:prstGeom prst="rect">
            <a:avLst/>
          </a:prstGeom>
        </p:spPr>
      </p:pic>
      <p:pic>
        <p:nvPicPr>
          <p:cNvPr id="108" name="Content Placeholder 11" descr="Closed book outline">
            <a:extLst>
              <a:ext uri="{FF2B5EF4-FFF2-40B4-BE49-F238E27FC236}">
                <a16:creationId xmlns:a16="http://schemas.microsoft.com/office/drawing/2014/main" id="{8722765F-0555-57D4-F472-B90047BD40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456252"/>
            <a:ext cx="393700" cy="393700"/>
          </a:xfrm>
          <a:prstGeom prst="rect">
            <a:avLst/>
          </a:prstGeom>
        </p:spPr>
      </p:pic>
      <p:pic>
        <p:nvPicPr>
          <p:cNvPr id="109" name="Content Placeholder 11" descr="Closed book outline">
            <a:extLst>
              <a:ext uri="{FF2B5EF4-FFF2-40B4-BE49-F238E27FC236}">
                <a16:creationId xmlns:a16="http://schemas.microsoft.com/office/drawing/2014/main" id="{5074681D-0967-DE21-62CF-EAD0339D9F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456252"/>
            <a:ext cx="393700" cy="393700"/>
          </a:xfrm>
          <a:prstGeom prst="rect">
            <a:avLst/>
          </a:prstGeom>
        </p:spPr>
      </p:pic>
      <p:pic>
        <p:nvPicPr>
          <p:cNvPr id="110" name="Content Placeholder 11" descr="Closed book outline">
            <a:extLst>
              <a:ext uri="{FF2B5EF4-FFF2-40B4-BE49-F238E27FC236}">
                <a16:creationId xmlns:a16="http://schemas.microsoft.com/office/drawing/2014/main" id="{597C3B47-86BE-055A-5FD8-E757FF68F5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875352"/>
            <a:ext cx="393700" cy="393700"/>
          </a:xfrm>
          <a:prstGeom prst="rect">
            <a:avLst/>
          </a:prstGeom>
        </p:spPr>
      </p:pic>
      <p:pic>
        <p:nvPicPr>
          <p:cNvPr id="111" name="Content Placeholder 11" descr="Closed book outline">
            <a:extLst>
              <a:ext uri="{FF2B5EF4-FFF2-40B4-BE49-F238E27FC236}">
                <a16:creationId xmlns:a16="http://schemas.microsoft.com/office/drawing/2014/main" id="{6290263E-3843-EF05-64F2-7E908EEB30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875352"/>
            <a:ext cx="393700" cy="393700"/>
          </a:xfrm>
          <a:prstGeom prst="rect">
            <a:avLst/>
          </a:prstGeom>
        </p:spPr>
      </p:pic>
      <p:pic>
        <p:nvPicPr>
          <p:cNvPr id="112" name="Content Placeholder 11" descr="Closed book outline">
            <a:extLst>
              <a:ext uri="{FF2B5EF4-FFF2-40B4-BE49-F238E27FC236}">
                <a16:creationId xmlns:a16="http://schemas.microsoft.com/office/drawing/2014/main" id="{91118E67-8765-57A3-B29E-A8811AB2A0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875352"/>
            <a:ext cx="393700" cy="393700"/>
          </a:xfrm>
          <a:prstGeom prst="rect">
            <a:avLst/>
          </a:prstGeom>
        </p:spPr>
      </p:pic>
      <p:pic>
        <p:nvPicPr>
          <p:cNvPr id="113" name="Content Placeholder 11" descr="Closed book outline">
            <a:extLst>
              <a:ext uri="{FF2B5EF4-FFF2-40B4-BE49-F238E27FC236}">
                <a16:creationId xmlns:a16="http://schemas.microsoft.com/office/drawing/2014/main" id="{300BF5E9-757D-1F40-0FAA-A8BB39B25E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875352"/>
            <a:ext cx="393700" cy="393700"/>
          </a:xfrm>
          <a:prstGeom prst="rect">
            <a:avLst/>
          </a:prstGeom>
        </p:spPr>
      </p:pic>
      <p:pic>
        <p:nvPicPr>
          <p:cNvPr id="114" name="Content Placeholder 11" descr="Closed book outline">
            <a:extLst>
              <a:ext uri="{FF2B5EF4-FFF2-40B4-BE49-F238E27FC236}">
                <a16:creationId xmlns:a16="http://schemas.microsoft.com/office/drawing/2014/main" id="{BC9C4894-A1BD-DAE5-7221-56EE1AEB7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876146"/>
            <a:ext cx="393700" cy="393700"/>
          </a:xfrm>
          <a:prstGeom prst="rect">
            <a:avLst/>
          </a:prstGeom>
        </p:spPr>
      </p:pic>
      <p:pic>
        <p:nvPicPr>
          <p:cNvPr id="115" name="Content Placeholder 11" descr="Closed book outline">
            <a:extLst>
              <a:ext uri="{FF2B5EF4-FFF2-40B4-BE49-F238E27FC236}">
                <a16:creationId xmlns:a16="http://schemas.microsoft.com/office/drawing/2014/main" id="{DA31AAF7-F769-881A-1AC3-6E4C3291AC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876146"/>
            <a:ext cx="393700" cy="393700"/>
          </a:xfrm>
          <a:prstGeom prst="rect">
            <a:avLst/>
          </a:prstGeom>
        </p:spPr>
      </p:pic>
      <p:pic>
        <p:nvPicPr>
          <p:cNvPr id="116" name="Content Placeholder 11" descr="Closed book outline">
            <a:extLst>
              <a:ext uri="{FF2B5EF4-FFF2-40B4-BE49-F238E27FC236}">
                <a16:creationId xmlns:a16="http://schemas.microsoft.com/office/drawing/2014/main" id="{601E7AD7-119C-414A-B8EF-DFF1980A62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875352"/>
            <a:ext cx="393700" cy="393700"/>
          </a:xfrm>
          <a:prstGeom prst="rect">
            <a:avLst/>
          </a:prstGeom>
        </p:spPr>
      </p:pic>
      <p:pic>
        <p:nvPicPr>
          <p:cNvPr id="117" name="Content Placeholder 11" descr="Closed book outline">
            <a:extLst>
              <a:ext uri="{FF2B5EF4-FFF2-40B4-BE49-F238E27FC236}">
                <a16:creationId xmlns:a16="http://schemas.microsoft.com/office/drawing/2014/main" id="{C9D22E62-8552-D339-7003-3826B47C7B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875352"/>
            <a:ext cx="393700" cy="393700"/>
          </a:xfrm>
          <a:prstGeom prst="rect">
            <a:avLst/>
          </a:prstGeom>
        </p:spPr>
      </p:pic>
      <p:pic>
        <p:nvPicPr>
          <p:cNvPr id="118" name="Content Placeholder 11" descr="Closed book outline">
            <a:extLst>
              <a:ext uri="{FF2B5EF4-FFF2-40B4-BE49-F238E27FC236}">
                <a16:creationId xmlns:a16="http://schemas.microsoft.com/office/drawing/2014/main" id="{73017894-A7D8-3D6A-93D5-0AD49B0602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875352"/>
            <a:ext cx="393700" cy="393700"/>
          </a:xfrm>
          <a:prstGeom prst="rect">
            <a:avLst/>
          </a:prstGeom>
        </p:spPr>
      </p:pic>
      <p:pic>
        <p:nvPicPr>
          <p:cNvPr id="119" name="Content Placeholder 11" descr="Closed book outline">
            <a:extLst>
              <a:ext uri="{FF2B5EF4-FFF2-40B4-BE49-F238E27FC236}">
                <a16:creationId xmlns:a16="http://schemas.microsoft.com/office/drawing/2014/main" id="{F0B358D8-7096-C45F-DC67-DEAC2D1C60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875352"/>
            <a:ext cx="393700" cy="393700"/>
          </a:xfrm>
          <a:prstGeom prst="rect">
            <a:avLst/>
          </a:prstGeom>
        </p:spPr>
      </p:pic>
      <p:pic>
        <p:nvPicPr>
          <p:cNvPr id="120" name="Content Placeholder 11" descr="Closed book outline">
            <a:extLst>
              <a:ext uri="{FF2B5EF4-FFF2-40B4-BE49-F238E27FC236}">
                <a16:creationId xmlns:a16="http://schemas.microsoft.com/office/drawing/2014/main" id="{157F3D1F-2D1C-7DBE-25B5-FC2A5E49AB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9300" y="5281752"/>
            <a:ext cx="393700" cy="393700"/>
          </a:xfrm>
          <a:prstGeom prst="rect">
            <a:avLst/>
          </a:prstGeom>
        </p:spPr>
      </p:pic>
      <p:pic>
        <p:nvPicPr>
          <p:cNvPr id="121" name="Content Placeholder 11" descr="Closed book outline">
            <a:extLst>
              <a:ext uri="{FF2B5EF4-FFF2-40B4-BE49-F238E27FC236}">
                <a16:creationId xmlns:a16="http://schemas.microsoft.com/office/drawing/2014/main" id="{D4FDF97A-775C-E620-ED7C-75A21551CC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1400" y="5281752"/>
            <a:ext cx="393700" cy="393700"/>
          </a:xfrm>
          <a:prstGeom prst="rect">
            <a:avLst/>
          </a:prstGeom>
        </p:spPr>
      </p:pic>
      <p:pic>
        <p:nvPicPr>
          <p:cNvPr id="122" name="Content Placeholder 11" descr="Closed book outline">
            <a:extLst>
              <a:ext uri="{FF2B5EF4-FFF2-40B4-BE49-F238E27FC236}">
                <a16:creationId xmlns:a16="http://schemas.microsoft.com/office/drawing/2014/main" id="{F1F135E1-AED2-9CDE-663E-AAA8999F07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20800" y="5281752"/>
            <a:ext cx="393700" cy="393700"/>
          </a:xfrm>
          <a:prstGeom prst="rect">
            <a:avLst/>
          </a:prstGeom>
        </p:spPr>
      </p:pic>
      <p:pic>
        <p:nvPicPr>
          <p:cNvPr id="123" name="Content Placeholder 11" descr="Closed book outline">
            <a:extLst>
              <a:ext uri="{FF2B5EF4-FFF2-40B4-BE49-F238E27FC236}">
                <a16:creationId xmlns:a16="http://schemas.microsoft.com/office/drawing/2014/main" id="{9DC6F753-2194-2E88-1F4E-E97BC40131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5600" y="5281752"/>
            <a:ext cx="393700" cy="393700"/>
          </a:xfrm>
          <a:prstGeom prst="rect">
            <a:avLst/>
          </a:prstGeom>
        </p:spPr>
      </p:pic>
      <p:pic>
        <p:nvPicPr>
          <p:cNvPr id="124" name="Content Placeholder 11" descr="Closed book outline">
            <a:extLst>
              <a:ext uri="{FF2B5EF4-FFF2-40B4-BE49-F238E27FC236}">
                <a16:creationId xmlns:a16="http://schemas.microsoft.com/office/drawing/2014/main" id="{04F88225-153C-4B57-2B5D-F475EA1FC7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17700" y="5282546"/>
            <a:ext cx="393700" cy="393700"/>
          </a:xfrm>
          <a:prstGeom prst="rect">
            <a:avLst/>
          </a:prstGeom>
        </p:spPr>
      </p:pic>
      <p:pic>
        <p:nvPicPr>
          <p:cNvPr id="125" name="Content Placeholder 11" descr="Closed book outline">
            <a:extLst>
              <a:ext uri="{FF2B5EF4-FFF2-40B4-BE49-F238E27FC236}">
                <a16:creationId xmlns:a16="http://schemas.microsoft.com/office/drawing/2014/main" id="{051F2106-2409-81A1-B058-AD7E0305A6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5282546"/>
            <a:ext cx="393700" cy="393700"/>
          </a:xfrm>
          <a:prstGeom prst="rect">
            <a:avLst/>
          </a:prstGeom>
        </p:spPr>
      </p:pic>
      <p:pic>
        <p:nvPicPr>
          <p:cNvPr id="126" name="Content Placeholder 11" descr="Closed book outline">
            <a:extLst>
              <a:ext uri="{FF2B5EF4-FFF2-40B4-BE49-F238E27FC236}">
                <a16:creationId xmlns:a16="http://schemas.microsoft.com/office/drawing/2014/main" id="{AD8D4242-95BC-FC56-1C40-335E34666E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5281752"/>
            <a:ext cx="393700" cy="393700"/>
          </a:xfrm>
          <a:prstGeom prst="rect">
            <a:avLst/>
          </a:prstGeom>
        </p:spPr>
      </p:pic>
      <p:pic>
        <p:nvPicPr>
          <p:cNvPr id="127" name="Content Placeholder 11" descr="Closed book outline">
            <a:extLst>
              <a:ext uri="{FF2B5EF4-FFF2-40B4-BE49-F238E27FC236}">
                <a16:creationId xmlns:a16="http://schemas.microsoft.com/office/drawing/2014/main" id="{183FA411-4292-AE5B-FA2A-600FB54B86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5281752"/>
            <a:ext cx="393700" cy="393700"/>
          </a:xfrm>
          <a:prstGeom prst="rect">
            <a:avLst/>
          </a:prstGeom>
        </p:spPr>
      </p:pic>
      <p:pic>
        <p:nvPicPr>
          <p:cNvPr id="128" name="Content Placeholder 11" descr="Closed book outline">
            <a:extLst>
              <a:ext uri="{FF2B5EF4-FFF2-40B4-BE49-F238E27FC236}">
                <a16:creationId xmlns:a16="http://schemas.microsoft.com/office/drawing/2014/main" id="{DAE7F134-E76D-5C06-A15A-2A79266C00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5281752"/>
            <a:ext cx="393700" cy="393700"/>
          </a:xfrm>
          <a:prstGeom prst="rect">
            <a:avLst/>
          </a:prstGeom>
        </p:spPr>
      </p:pic>
      <p:pic>
        <p:nvPicPr>
          <p:cNvPr id="129" name="Content Placeholder 11" descr="Closed book outline">
            <a:extLst>
              <a:ext uri="{FF2B5EF4-FFF2-40B4-BE49-F238E27FC236}">
                <a16:creationId xmlns:a16="http://schemas.microsoft.com/office/drawing/2014/main" id="{BF616784-4318-D974-9CE9-9FBBD29C48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5281752"/>
            <a:ext cx="393700" cy="393700"/>
          </a:xfrm>
          <a:prstGeom prst="rect">
            <a:avLst/>
          </a:prstGeom>
        </p:spPr>
      </p:pic>
      <p:sp>
        <p:nvSpPr>
          <p:cNvPr id="150" name="TextBox 149">
            <a:extLst>
              <a:ext uri="{FF2B5EF4-FFF2-40B4-BE49-F238E27FC236}">
                <a16:creationId xmlns:a16="http://schemas.microsoft.com/office/drawing/2014/main" id="{4DCAC0CF-67A3-2B1C-4F0A-43AD0A46DE41}"/>
              </a:ext>
            </a:extLst>
          </p:cNvPr>
          <p:cNvSpPr txBox="1"/>
          <p:nvPr/>
        </p:nvSpPr>
        <p:spPr>
          <a:xfrm>
            <a:off x="493519" y="5678194"/>
            <a:ext cx="3851662" cy="1015663"/>
          </a:xfrm>
          <a:prstGeom prst="rect">
            <a:avLst/>
          </a:prstGeom>
          <a:noFill/>
        </p:spPr>
        <p:txBody>
          <a:bodyPr wrap="square" rtlCol="0">
            <a:spAutoFit/>
          </a:bodyPr>
          <a:lstStyle/>
          <a:p>
            <a:r>
              <a:rPr lang="en-CA" sz="2000" dirty="0"/>
              <a:t>Out of 519 clinical studies of LLMs, between 2022-2024, </a:t>
            </a:r>
            <a:r>
              <a:rPr lang="en-CA" sz="2000" b="1" dirty="0">
                <a:solidFill>
                  <a:srgbClr val="FF0000"/>
                </a:solidFill>
              </a:rPr>
              <a:t>only 5%</a:t>
            </a:r>
            <a:r>
              <a:rPr lang="en-CA" sz="2000" dirty="0"/>
              <a:t> used real patient data</a:t>
            </a:r>
          </a:p>
        </p:txBody>
      </p:sp>
    </p:spTree>
    <p:extLst>
      <p:ext uri="{BB962C8B-B14F-4D97-AF65-F5344CB8AC3E}">
        <p14:creationId xmlns:p14="http://schemas.microsoft.com/office/powerpoint/2010/main" val="28882123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8DA13-8433-6B20-BD7C-15097B01CA11}"/>
            </a:ext>
          </a:extLst>
        </p:cNvPr>
        <p:cNvGrpSpPr/>
        <p:nvPr/>
      </p:nvGrpSpPr>
      <p:grpSpPr>
        <a:xfrm>
          <a:off x="0" y="0"/>
          <a:ext cx="0" cy="0"/>
          <a:chOff x="0" y="0"/>
          <a:chExt cx="0" cy="0"/>
        </a:xfrm>
      </p:grpSpPr>
      <p:pic>
        <p:nvPicPr>
          <p:cNvPr id="12" name="Content Placeholder 11" descr="Closed book outline">
            <a:extLst>
              <a:ext uri="{FF2B5EF4-FFF2-40B4-BE49-F238E27FC236}">
                <a16:creationId xmlns:a16="http://schemas.microsoft.com/office/drawing/2014/main" id="{B13D60EA-7572-016F-7CE9-FC0ABF0508F2}"/>
              </a:ext>
            </a:extLst>
          </p:cNvPr>
          <p:cNvPicPr>
            <a:picLocks noGrp="1" noChangeAspect="1"/>
          </p:cNvPicPr>
          <p:nvPr>
            <p:ph idx="4294967295"/>
          </p:nvPr>
        </p:nvPicPr>
        <p:blipFill>
          <a:blip r:embed="rId3">
            <a:extLst>
              <a:ext uri="{96DAC541-7B7A-43D3-8B79-37D633B846F1}">
                <asvg:svgBlip xmlns:asvg="http://schemas.microsoft.com/office/drawing/2016/SVG/main" r:embed="rId4"/>
              </a:ext>
            </a:extLst>
          </a:blip>
          <a:stretch>
            <a:fillRect/>
          </a:stretch>
        </p:blipFill>
        <p:spPr>
          <a:xfrm>
            <a:off x="749300" y="1627327"/>
            <a:ext cx="393700" cy="393700"/>
          </a:xfrm>
        </p:spPr>
      </p:pic>
      <p:pic>
        <p:nvPicPr>
          <p:cNvPr id="13" name="Content Placeholder 11" descr="Closed book outline">
            <a:extLst>
              <a:ext uri="{FF2B5EF4-FFF2-40B4-BE49-F238E27FC236}">
                <a16:creationId xmlns:a16="http://schemas.microsoft.com/office/drawing/2014/main" id="{2CC5E021-F8AB-BC31-F97D-AC7A5FCCF8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1614627"/>
            <a:ext cx="393700" cy="393700"/>
          </a:xfrm>
          <a:prstGeom prst="rect">
            <a:avLst/>
          </a:prstGeom>
        </p:spPr>
      </p:pic>
      <p:pic>
        <p:nvPicPr>
          <p:cNvPr id="14" name="Content Placeholder 11" descr="Closed book outline">
            <a:extLst>
              <a:ext uri="{FF2B5EF4-FFF2-40B4-BE49-F238E27FC236}">
                <a16:creationId xmlns:a16="http://schemas.microsoft.com/office/drawing/2014/main" id="{EF822A28-ED5F-F090-39F2-D7AEC2A010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1614627"/>
            <a:ext cx="393700" cy="393700"/>
          </a:xfrm>
          <a:prstGeom prst="rect">
            <a:avLst/>
          </a:prstGeom>
        </p:spPr>
      </p:pic>
      <p:pic>
        <p:nvPicPr>
          <p:cNvPr id="15" name="Content Placeholder 11" descr="Closed book outline">
            <a:extLst>
              <a:ext uri="{FF2B5EF4-FFF2-40B4-BE49-F238E27FC236}">
                <a16:creationId xmlns:a16="http://schemas.microsoft.com/office/drawing/2014/main" id="{5A7917D9-6A93-D39E-9BDA-7F428C8B36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1614627"/>
            <a:ext cx="393700" cy="393700"/>
          </a:xfrm>
          <a:prstGeom prst="rect">
            <a:avLst/>
          </a:prstGeom>
        </p:spPr>
      </p:pic>
      <p:pic>
        <p:nvPicPr>
          <p:cNvPr id="16" name="Content Placeholder 11" descr="Closed book outline">
            <a:extLst>
              <a:ext uri="{FF2B5EF4-FFF2-40B4-BE49-F238E27FC236}">
                <a16:creationId xmlns:a16="http://schemas.microsoft.com/office/drawing/2014/main" id="{D0C8A9EF-E7A8-1934-06D2-EECCCDB97D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1615421"/>
            <a:ext cx="393700" cy="393700"/>
          </a:xfrm>
          <a:prstGeom prst="rect">
            <a:avLst/>
          </a:prstGeom>
        </p:spPr>
      </p:pic>
      <p:pic>
        <p:nvPicPr>
          <p:cNvPr id="17" name="Content Placeholder 11" descr="Closed book outline">
            <a:extLst>
              <a:ext uri="{FF2B5EF4-FFF2-40B4-BE49-F238E27FC236}">
                <a16:creationId xmlns:a16="http://schemas.microsoft.com/office/drawing/2014/main" id="{41AA57D4-83B3-5E55-7C9C-BD56F03791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1615421"/>
            <a:ext cx="393700" cy="393700"/>
          </a:xfrm>
          <a:prstGeom prst="rect">
            <a:avLst/>
          </a:prstGeom>
        </p:spPr>
      </p:pic>
      <p:pic>
        <p:nvPicPr>
          <p:cNvPr id="18" name="Content Placeholder 11" descr="Closed book outline">
            <a:extLst>
              <a:ext uri="{FF2B5EF4-FFF2-40B4-BE49-F238E27FC236}">
                <a16:creationId xmlns:a16="http://schemas.microsoft.com/office/drawing/2014/main" id="{B9BAFE29-02C5-F364-9A1F-2732BF743C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1614627"/>
            <a:ext cx="393700" cy="393700"/>
          </a:xfrm>
          <a:prstGeom prst="rect">
            <a:avLst/>
          </a:prstGeom>
        </p:spPr>
      </p:pic>
      <p:pic>
        <p:nvPicPr>
          <p:cNvPr id="19" name="Content Placeholder 11" descr="Closed book outline">
            <a:extLst>
              <a:ext uri="{FF2B5EF4-FFF2-40B4-BE49-F238E27FC236}">
                <a16:creationId xmlns:a16="http://schemas.microsoft.com/office/drawing/2014/main" id="{03F14D6E-6812-624D-3E7D-6B78B645CB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1614627"/>
            <a:ext cx="393700" cy="393700"/>
          </a:xfrm>
          <a:prstGeom prst="rect">
            <a:avLst/>
          </a:prstGeom>
        </p:spPr>
      </p:pic>
      <p:pic>
        <p:nvPicPr>
          <p:cNvPr id="20" name="Content Placeholder 11" descr="Closed book outline">
            <a:extLst>
              <a:ext uri="{FF2B5EF4-FFF2-40B4-BE49-F238E27FC236}">
                <a16:creationId xmlns:a16="http://schemas.microsoft.com/office/drawing/2014/main" id="{7AC55D76-9A0C-D970-07A2-1FBDBE9769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1614627"/>
            <a:ext cx="393700" cy="393700"/>
          </a:xfrm>
          <a:prstGeom prst="rect">
            <a:avLst/>
          </a:prstGeom>
        </p:spPr>
      </p:pic>
      <p:pic>
        <p:nvPicPr>
          <p:cNvPr id="21" name="Content Placeholder 11" descr="Closed book outline">
            <a:extLst>
              <a:ext uri="{FF2B5EF4-FFF2-40B4-BE49-F238E27FC236}">
                <a16:creationId xmlns:a16="http://schemas.microsoft.com/office/drawing/2014/main" id="{E14A4640-056C-D527-C07E-7ECD5B3D09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1614627"/>
            <a:ext cx="393700" cy="393700"/>
          </a:xfrm>
          <a:prstGeom prst="rect">
            <a:avLst/>
          </a:prstGeom>
        </p:spPr>
      </p:pic>
      <p:pic>
        <p:nvPicPr>
          <p:cNvPr id="22" name="Content Placeholder 11" descr="Closed book outline">
            <a:extLst>
              <a:ext uri="{FF2B5EF4-FFF2-40B4-BE49-F238E27FC236}">
                <a16:creationId xmlns:a16="http://schemas.microsoft.com/office/drawing/2014/main" id="{F78521A6-A1F7-C1E8-D023-BD3335C13D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021027"/>
            <a:ext cx="393700" cy="393700"/>
          </a:xfrm>
          <a:prstGeom prst="rect">
            <a:avLst/>
          </a:prstGeom>
        </p:spPr>
      </p:pic>
      <p:pic>
        <p:nvPicPr>
          <p:cNvPr id="23" name="Content Placeholder 11" descr="Closed book outline">
            <a:extLst>
              <a:ext uri="{FF2B5EF4-FFF2-40B4-BE49-F238E27FC236}">
                <a16:creationId xmlns:a16="http://schemas.microsoft.com/office/drawing/2014/main" id="{0B9607DD-BCEA-A781-56B8-31A71C9D7B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021027"/>
            <a:ext cx="393700" cy="393700"/>
          </a:xfrm>
          <a:prstGeom prst="rect">
            <a:avLst/>
          </a:prstGeom>
        </p:spPr>
      </p:pic>
      <p:pic>
        <p:nvPicPr>
          <p:cNvPr id="24" name="Content Placeholder 11" descr="Closed book outline">
            <a:extLst>
              <a:ext uri="{FF2B5EF4-FFF2-40B4-BE49-F238E27FC236}">
                <a16:creationId xmlns:a16="http://schemas.microsoft.com/office/drawing/2014/main" id="{3A9C4648-07D0-2E22-7051-00329A5023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021027"/>
            <a:ext cx="393700" cy="393700"/>
          </a:xfrm>
          <a:prstGeom prst="rect">
            <a:avLst/>
          </a:prstGeom>
        </p:spPr>
      </p:pic>
      <p:pic>
        <p:nvPicPr>
          <p:cNvPr id="25" name="Content Placeholder 11" descr="Closed book outline">
            <a:extLst>
              <a:ext uri="{FF2B5EF4-FFF2-40B4-BE49-F238E27FC236}">
                <a16:creationId xmlns:a16="http://schemas.microsoft.com/office/drawing/2014/main" id="{59986D47-884B-8892-5C68-489AFB966A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021027"/>
            <a:ext cx="393700" cy="393700"/>
          </a:xfrm>
          <a:prstGeom prst="rect">
            <a:avLst/>
          </a:prstGeom>
        </p:spPr>
      </p:pic>
      <p:pic>
        <p:nvPicPr>
          <p:cNvPr id="26" name="Content Placeholder 11" descr="Closed book outline">
            <a:extLst>
              <a:ext uri="{FF2B5EF4-FFF2-40B4-BE49-F238E27FC236}">
                <a16:creationId xmlns:a16="http://schemas.microsoft.com/office/drawing/2014/main" id="{83E7D30C-BD64-11EE-F454-F0EFD2CBCF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021821"/>
            <a:ext cx="393700" cy="393700"/>
          </a:xfrm>
          <a:prstGeom prst="rect">
            <a:avLst/>
          </a:prstGeom>
        </p:spPr>
      </p:pic>
      <p:pic>
        <p:nvPicPr>
          <p:cNvPr id="27" name="Content Placeholder 11" descr="Closed book outline">
            <a:extLst>
              <a:ext uri="{FF2B5EF4-FFF2-40B4-BE49-F238E27FC236}">
                <a16:creationId xmlns:a16="http://schemas.microsoft.com/office/drawing/2014/main" id="{FF882BAB-7ECD-5AB1-EC02-34579DB903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021821"/>
            <a:ext cx="393700" cy="393700"/>
          </a:xfrm>
          <a:prstGeom prst="rect">
            <a:avLst/>
          </a:prstGeom>
        </p:spPr>
      </p:pic>
      <p:pic>
        <p:nvPicPr>
          <p:cNvPr id="28" name="Content Placeholder 11" descr="Closed book outline">
            <a:extLst>
              <a:ext uri="{FF2B5EF4-FFF2-40B4-BE49-F238E27FC236}">
                <a16:creationId xmlns:a16="http://schemas.microsoft.com/office/drawing/2014/main" id="{0BE469A4-CE8C-2809-82EE-1758F5CED9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021027"/>
            <a:ext cx="393700" cy="393700"/>
          </a:xfrm>
          <a:prstGeom prst="rect">
            <a:avLst/>
          </a:prstGeom>
        </p:spPr>
      </p:pic>
      <p:pic>
        <p:nvPicPr>
          <p:cNvPr id="29" name="Content Placeholder 11" descr="Closed book outline">
            <a:extLst>
              <a:ext uri="{FF2B5EF4-FFF2-40B4-BE49-F238E27FC236}">
                <a16:creationId xmlns:a16="http://schemas.microsoft.com/office/drawing/2014/main" id="{DD8EF810-DDCA-017A-6EC5-2B3C575C0F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021027"/>
            <a:ext cx="393700" cy="393700"/>
          </a:xfrm>
          <a:prstGeom prst="rect">
            <a:avLst/>
          </a:prstGeom>
        </p:spPr>
      </p:pic>
      <p:pic>
        <p:nvPicPr>
          <p:cNvPr id="30" name="Content Placeholder 11" descr="Closed book outline">
            <a:extLst>
              <a:ext uri="{FF2B5EF4-FFF2-40B4-BE49-F238E27FC236}">
                <a16:creationId xmlns:a16="http://schemas.microsoft.com/office/drawing/2014/main" id="{9B52AFEF-84B5-C761-1A83-FFABC95B0C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021027"/>
            <a:ext cx="393700" cy="393700"/>
          </a:xfrm>
          <a:prstGeom prst="rect">
            <a:avLst/>
          </a:prstGeom>
        </p:spPr>
      </p:pic>
      <p:pic>
        <p:nvPicPr>
          <p:cNvPr id="31" name="Content Placeholder 11" descr="Closed book outline">
            <a:extLst>
              <a:ext uri="{FF2B5EF4-FFF2-40B4-BE49-F238E27FC236}">
                <a16:creationId xmlns:a16="http://schemas.microsoft.com/office/drawing/2014/main" id="{FEFA8949-E9F3-C6F1-95BE-B0C6342168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021027"/>
            <a:ext cx="393700" cy="393700"/>
          </a:xfrm>
          <a:prstGeom prst="rect">
            <a:avLst/>
          </a:prstGeom>
        </p:spPr>
      </p:pic>
      <p:pic>
        <p:nvPicPr>
          <p:cNvPr id="50" name="Content Placeholder 11" descr="Closed book outline">
            <a:extLst>
              <a:ext uri="{FF2B5EF4-FFF2-40B4-BE49-F238E27FC236}">
                <a16:creationId xmlns:a16="http://schemas.microsoft.com/office/drawing/2014/main" id="{45D0A353-C2DE-34EF-96D2-3FCAAE7EC5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439333"/>
            <a:ext cx="393700" cy="393700"/>
          </a:xfrm>
          <a:prstGeom prst="rect">
            <a:avLst/>
          </a:prstGeom>
        </p:spPr>
      </p:pic>
      <p:pic>
        <p:nvPicPr>
          <p:cNvPr id="51" name="Content Placeholder 11" descr="Closed book outline">
            <a:extLst>
              <a:ext uri="{FF2B5EF4-FFF2-40B4-BE49-F238E27FC236}">
                <a16:creationId xmlns:a16="http://schemas.microsoft.com/office/drawing/2014/main" id="{B0947D3D-0BE7-85AD-141B-3A1D85DA5F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439333"/>
            <a:ext cx="393700" cy="393700"/>
          </a:xfrm>
          <a:prstGeom prst="rect">
            <a:avLst/>
          </a:prstGeom>
        </p:spPr>
      </p:pic>
      <p:pic>
        <p:nvPicPr>
          <p:cNvPr id="52" name="Content Placeholder 11" descr="Closed book outline">
            <a:extLst>
              <a:ext uri="{FF2B5EF4-FFF2-40B4-BE49-F238E27FC236}">
                <a16:creationId xmlns:a16="http://schemas.microsoft.com/office/drawing/2014/main" id="{606A9CF5-AEE7-9618-8FE1-59EC9F4E97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439333"/>
            <a:ext cx="393700" cy="393700"/>
          </a:xfrm>
          <a:prstGeom prst="rect">
            <a:avLst/>
          </a:prstGeom>
        </p:spPr>
      </p:pic>
      <p:pic>
        <p:nvPicPr>
          <p:cNvPr id="53" name="Content Placeholder 11" descr="Closed book outline">
            <a:extLst>
              <a:ext uri="{FF2B5EF4-FFF2-40B4-BE49-F238E27FC236}">
                <a16:creationId xmlns:a16="http://schemas.microsoft.com/office/drawing/2014/main" id="{D0A13463-C32F-0786-2271-56C9D69345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439333"/>
            <a:ext cx="393700" cy="393700"/>
          </a:xfrm>
          <a:prstGeom prst="rect">
            <a:avLst/>
          </a:prstGeom>
        </p:spPr>
      </p:pic>
      <p:pic>
        <p:nvPicPr>
          <p:cNvPr id="54" name="Content Placeholder 11" descr="Closed book outline">
            <a:extLst>
              <a:ext uri="{FF2B5EF4-FFF2-40B4-BE49-F238E27FC236}">
                <a16:creationId xmlns:a16="http://schemas.microsoft.com/office/drawing/2014/main" id="{89A641BD-872B-5DB4-0EA2-F9A788E7F9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440127"/>
            <a:ext cx="393700" cy="393700"/>
          </a:xfrm>
          <a:prstGeom prst="rect">
            <a:avLst/>
          </a:prstGeom>
        </p:spPr>
      </p:pic>
      <p:pic>
        <p:nvPicPr>
          <p:cNvPr id="55" name="Content Placeholder 11" descr="Closed book outline">
            <a:extLst>
              <a:ext uri="{FF2B5EF4-FFF2-40B4-BE49-F238E27FC236}">
                <a16:creationId xmlns:a16="http://schemas.microsoft.com/office/drawing/2014/main" id="{D45EDD54-576E-FB92-5958-6F7E025ECA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440127"/>
            <a:ext cx="393700" cy="393700"/>
          </a:xfrm>
          <a:prstGeom prst="rect">
            <a:avLst/>
          </a:prstGeom>
        </p:spPr>
      </p:pic>
      <p:pic>
        <p:nvPicPr>
          <p:cNvPr id="56" name="Content Placeholder 11" descr="Closed book outline">
            <a:extLst>
              <a:ext uri="{FF2B5EF4-FFF2-40B4-BE49-F238E27FC236}">
                <a16:creationId xmlns:a16="http://schemas.microsoft.com/office/drawing/2014/main" id="{20DA1789-12C9-56FB-425D-32ACD9B128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439333"/>
            <a:ext cx="393700" cy="393700"/>
          </a:xfrm>
          <a:prstGeom prst="rect">
            <a:avLst/>
          </a:prstGeom>
        </p:spPr>
      </p:pic>
      <p:pic>
        <p:nvPicPr>
          <p:cNvPr id="57" name="Content Placeholder 11" descr="Closed book outline">
            <a:extLst>
              <a:ext uri="{FF2B5EF4-FFF2-40B4-BE49-F238E27FC236}">
                <a16:creationId xmlns:a16="http://schemas.microsoft.com/office/drawing/2014/main" id="{52F8CB4C-DB8B-F139-50AB-1AA23846F2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439333"/>
            <a:ext cx="393700" cy="393700"/>
          </a:xfrm>
          <a:prstGeom prst="rect">
            <a:avLst/>
          </a:prstGeom>
        </p:spPr>
      </p:pic>
      <p:pic>
        <p:nvPicPr>
          <p:cNvPr id="58" name="Content Placeholder 11" descr="Closed book outline">
            <a:extLst>
              <a:ext uri="{FF2B5EF4-FFF2-40B4-BE49-F238E27FC236}">
                <a16:creationId xmlns:a16="http://schemas.microsoft.com/office/drawing/2014/main" id="{56A272C8-6BE4-8495-57F5-8499EB345D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439333"/>
            <a:ext cx="393700" cy="393700"/>
          </a:xfrm>
          <a:prstGeom prst="rect">
            <a:avLst/>
          </a:prstGeom>
        </p:spPr>
      </p:pic>
      <p:pic>
        <p:nvPicPr>
          <p:cNvPr id="59" name="Content Placeholder 11" descr="Closed book outline">
            <a:extLst>
              <a:ext uri="{FF2B5EF4-FFF2-40B4-BE49-F238E27FC236}">
                <a16:creationId xmlns:a16="http://schemas.microsoft.com/office/drawing/2014/main" id="{A690BA81-B561-5B0F-35BA-E049B14960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439333"/>
            <a:ext cx="393700" cy="393700"/>
          </a:xfrm>
          <a:prstGeom prst="rect">
            <a:avLst/>
          </a:prstGeom>
        </p:spPr>
      </p:pic>
      <p:pic>
        <p:nvPicPr>
          <p:cNvPr id="60" name="Content Placeholder 11" descr="Closed book outline">
            <a:extLst>
              <a:ext uri="{FF2B5EF4-FFF2-40B4-BE49-F238E27FC236}">
                <a16:creationId xmlns:a16="http://schemas.microsoft.com/office/drawing/2014/main" id="{AE0E8209-7220-3AA7-BC48-A22C32A69D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845733"/>
            <a:ext cx="393700" cy="393700"/>
          </a:xfrm>
          <a:prstGeom prst="rect">
            <a:avLst/>
          </a:prstGeom>
        </p:spPr>
      </p:pic>
      <p:pic>
        <p:nvPicPr>
          <p:cNvPr id="61" name="Content Placeholder 11" descr="Closed book outline">
            <a:extLst>
              <a:ext uri="{FF2B5EF4-FFF2-40B4-BE49-F238E27FC236}">
                <a16:creationId xmlns:a16="http://schemas.microsoft.com/office/drawing/2014/main" id="{278DB723-9B4F-34F7-6DE8-80B93C407B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845733"/>
            <a:ext cx="393700" cy="393700"/>
          </a:xfrm>
          <a:prstGeom prst="rect">
            <a:avLst/>
          </a:prstGeom>
        </p:spPr>
      </p:pic>
      <p:pic>
        <p:nvPicPr>
          <p:cNvPr id="62" name="Content Placeholder 11" descr="Closed book outline">
            <a:extLst>
              <a:ext uri="{FF2B5EF4-FFF2-40B4-BE49-F238E27FC236}">
                <a16:creationId xmlns:a16="http://schemas.microsoft.com/office/drawing/2014/main" id="{5240FBDB-62A0-E89A-8763-125B79BD0B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845733"/>
            <a:ext cx="393700" cy="393700"/>
          </a:xfrm>
          <a:prstGeom prst="rect">
            <a:avLst/>
          </a:prstGeom>
        </p:spPr>
      </p:pic>
      <p:pic>
        <p:nvPicPr>
          <p:cNvPr id="63" name="Content Placeholder 11" descr="Closed book outline">
            <a:extLst>
              <a:ext uri="{FF2B5EF4-FFF2-40B4-BE49-F238E27FC236}">
                <a16:creationId xmlns:a16="http://schemas.microsoft.com/office/drawing/2014/main" id="{04608DF7-9DCB-8B11-F84D-F865827331D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845733"/>
            <a:ext cx="393700" cy="393700"/>
          </a:xfrm>
          <a:prstGeom prst="rect">
            <a:avLst/>
          </a:prstGeom>
        </p:spPr>
      </p:pic>
      <p:pic>
        <p:nvPicPr>
          <p:cNvPr id="64" name="Content Placeholder 11" descr="Closed book outline">
            <a:extLst>
              <a:ext uri="{FF2B5EF4-FFF2-40B4-BE49-F238E27FC236}">
                <a16:creationId xmlns:a16="http://schemas.microsoft.com/office/drawing/2014/main" id="{3A3866C0-1AD5-EE1F-F6D9-01DBA45C90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846527"/>
            <a:ext cx="393700" cy="393700"/>
          </a:xfrm>
          <a:prstGeom prst="rect">
            <a:avLst/>
          </a:prstGeom>
        </p:spPr>
      </p:pic>
      <p:pic>
        <p:nvPicPr>
          <p:cNvPr id="65" name="Content Placeholder 11" descr="Closed book outline">
            <a:extLst>
              <a:ext uri="{FF2B5EF4-FFF2-40B4-BE49-F238E27FC236}">
                <a16:creationId xmlns:a16="http://schemas.microsoft.com/office/drawing/2014/main" id="{04E15A0D-7C4A-9F1E-674F-283674A674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846527"/>
            <a:ext cx="393700" cy="393700"/>
          </a:xfrm>
          <a:prstGeom prst="rect">
            <a:avLst/>
          </a:prstGeom>
        </p:spPr>
      </p:pic>
      <p:pic>
        <p:nvPicPr>
          <p:cNvPr id="66" name="Content Placeholder 11" descr="Closed book outline">
            <a:extLst>
              <a:ext uri="{FF2B5EF4-FFF2-40B4-BE49-F238E27FC236}">
                <a16:creationId xmlns:a16="http://schemas.microsoft.com/office/drawing/2014/main" id="{AD9D4CC3-D3D1-9B9B-1BD9-874D1A3B43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845733"/>
            <a:ext cx="393700" cy="393700"/>
          </a:xfrm>
          <a:prstGeom prst="rect">
            <a:avLst/>
          </a:prstGeom>
        </p:spPr>
      </p:pic>
      <p:pic>
        <p:nvPicPr>
          <p:cNvPr id="67" name="Content Placeholder 11" descr="Closed book outline">
            <a:extLst>
              <a:ext uri="{FF2B5EF4-FFF2-40B4-BE49-F238E27FC236}">
                <a16:creationId xmlns:a16="http://schemas.microsoft.com/office/drawing/2014/main" id="{B773984D-1CDA-5D08-161A-711334FB41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845733"/>
            <a:ext cx="393700" cy="393700"/>
          </a:xfrm>
          <a:prstGeom prst="rect">
            <a:avLst/>
          </a:prstGeom>
        </p:spPr>
      </p:pic>
      <p:pic>
        <p:nvPicPr>
          <p:cNvPr id="68" name="Content Placeholder 11" descr="Closed book outline">
            <a:extLst>
              <a:ext uri="{FF2B5EF4-FFF2-40B4-BE49-F238E27FC236}">
                <a16:creationId xmlns:a16="http://schemas.microsoft.com/office/drawing/2014/main" id="{ED8F41D9-06B9-3C2D-6E13-FE37FC933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845733"/>
            <a:ext cx="393700" cy="393700"/>
          </a:xfrm>
          <a:prstGeom prst="rect">
            <a:avLst/>
          </a:prstGeom>
        </p:spPr>
      </p:pic>
      <p:pic>
        <p:nvPicPr>
          <p:cNvPr id="69" name="Content Placeholder 11" descr="Closed book outline">
            <a:extLst>
              <a:ext uri="{FF2B5EF4-FFF2-40B4-BE49-F238E27FC236}">
                <a16:creationId xmlns:a16="http://schemas.microsoft.com/office/drawing/2014/main" id="{E5C8626C-14E7-1FA6-DA14-DA8CD633D9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845733"/>
            <a:ext cx="393700" cy="393700"/>
          </a:xfrm>
          <a:prstGeom prst="rect">
            <a:avLst/>
          </a:prstGeom>
        </p:spPr>
      </p:pic>
      <p:pic>
        <p:nvPicPr>
          <p:cNvPr id="70" name="Content Placeholder 11" descr="Closed book outline">
            <a:extLst>
              <a:ext uri="{FF2B5EF4-FFF2-40B4-BE49-F238E27FC236}">
                <a16:creationId xmlns:a16="http://schemas.microsoft.com/office/drawing/2014/main" id="{23B36A50-AA3D-4EDC-1129-8BD8C34432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3225146"/>
            <a:ext cx="393700" cy="393700"/>
          </a:xfrm>
          <a:prstGeom prst="rect">
            <a:avLst/>
          </a:prstGeom>
        </p:spPr>
      </p:pic>
      <p:pic>
        <p:nvPicPr>
          <p:cNvPr id="71" name="Content Placeholder 11" descr="Closed book outline">
            <a:extLst>
              <a:ext uri="{FF2B5EF4-FFF2-40B4-BE49-F238E27FC236}">
                <a16:creationId xmlns:a16="http://schemas.microsoft.com/office/drawing/2014/main" id="{1418EA66-CC32-FF8F-C04A-A0258D171C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3225146"/>
            <a:ext cx="393700" cy="393700"/>
          </a:xfrm>
          <a:prstGeom prst="rect">
            <a:avLst/>
          </a:prstGeom>
        </p:spPr>
      </p:pic>
      <p:pic>
        <p:nvPicPr>
          <p:cNvPr id="72" name="Content Placeholder 11" descr="Closed book outline">
            <a:extLst>
              <a:ext uri="{FF2B5EF4-FFF2-40B4-BE49-F238E27FC236}">
                <a16:creationId xmlns:a16="http://schemas.microsoft.com/office/drawing/2014/main" id="{9C76AADF-51D6-F46E-E2B7-53F71FA470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3225146"/>
            <a:ext cx="393700" cy="393700"/>
          </a:xfrm>
          <a:prstGeom prst="rect">
            <a:avLst/>
          </a:prstGeom>
        </p:spPr>
      </p:pic>
      <p:pic>
        <p:nvPicPr>
          <p:cNvPr id="73" name="Content Placeholder 11" descr="Closed book outline">
            <a:extLst>
              <a:ext uri="{FF2B5EF4-FFF2-40B4-BE49-F238E27FC236}">
                <a16:creationId xmlns:a16="http://schemas.microsoft.com/office/drawing/2014/main" id="{288CDD36-F939-9251-2133-513EF49B0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3225146"/>
            <a:ext cx="393700" cy="393700"/>
          </a:xfrm>
          <a:prstGeom prst="rect">
            <a:avLst/>
          </a:prstGeom>
        </p:spPr>
      </p:pic>
      <p:pic>
        <p:nvPicPr>
          <p:cNvPr id="74" name="Content Placeholder 11" descr="Closed book outline">
            <a:extLst>
              <a:ext uri="{FF2B5EF4-FFF2-40B4-BE49-F238E27FC236}">
                <a16:creationId xmlns:a16="http://schemas.microsoft.com/office/drawing/2014/main" id="{ADFB15FB-3606-AD33-1E8B-FA5AE945E8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3225940"/>
            <a:ext cx="393700" cy="393700"/>
          </a:xfrm>
          <a:prstGeom prst="rect">
            <a:avLst/>
          </a:prstGeom>
        </p:spPr>
      </p:pic>
      <p:pic>
        <p:nvPicPr>
          <p:cNvPr id="75" name="Content Placeholder 11" descr="Closed book outline">
            <a:extLst>
              <a:ext uri="{FF2B5EF4-FFF2-40B4-BE49-F238E27FC236}">
                <a16:creationId xmlns:a16="http://schemas.microsoft.com/office/drawing/2014/main" id="{E52E45E4-8B8F-C11E-DE92-0128C02911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3225940"/>
            <a:ext cx="393700" cy="393700"/>
          </a:xfrm>
          <a:prstGeom prst="rect">
            <a:avLst/>
          </a:prstGeom>
        </p:spPr>
      </p:pic>
      <p:pic>
        <p:nvPicPr>
          <p:cNvPr id="76" name="Content Placeholder 11" descr="Closed book outline">
            <a:extLst>
              <a:ext uri="{FF2B5EF4-FFF2-40B4-BE49-F238E27FC236}">
                <a16:creationId xmlns:a16="http://schemas.microsoft.com/office/drawing/2014/main" id="{BE0FD0BA-AD2E-DD2E-F7A1-164BA572F1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3225146"/>
            <a:ext cx="393700" cy="393700"/>
          </a:xfrm>
          <a:prstGeom prst="rect">
            <a:avLst/>
          </a:prstGeom>
        </p:spPr>
      </p:pic>
      <p:pic>
        <p:nvPicPr>
          <p:cNvPr id="77" name="Content Placeholder 11" descr="Closed book outline">
            <a:extLst>
              <a:ext uri="{FF2B5EF4-FFF2-40B4-BE49-F238E27FC236}">
                <a16:creationId xmlns:a16="http://schemas.microsoft.com/office/drawing/2014/main" id="{E5125A45-A3EA-F9EE-A137-09DD3FCF7A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3225146"/>
            <a:ext cx="393700" cy="393700"/>
          </a:xfrm>
          <a:prstGeom prst="rect">
            <a:avLst/>
          </a:prstGeom>
        </p:spPr>
      </p:pic>
      <p:pic>
        <p:nvPicPr>
          <p:cNvPr id="78" name="Content Placeholder 11" descr="Closed book outline">
            <a:extLst>
              <a:ext uri="{FF2B5EF4-FFF2-40B4-BE49-F238E27FC236}">
                <a16:creationId xmlns:a16="http://schemas.microsoft.com/office/drawing/2014/main" id="{38D8BF71-C79E-B972-ED4A-C274122F9D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3225146"/>
            <a:ext cx="393700" cy="393700"/>
          </a:xfrm>
          <a:prstGeom prst="rect">
            <a:avLst/>
          </a:prstGeom>
        </p:spPr>
      </p:pic>
      <p:pic>
        <p:nvPicPr>
          <p:cNvPr id="79" name="Content Placeholder 11" descr="Closed book outline">
            <a:extLst>
              <a:ext uri="{FF2B5EF4-FFF2-40B4-BE49-F238E27FC236}">
                <a16:creationId xmlns:a16="http://schemas.microsoft.com/office/drawing/2014/main" id="{CC172794-D9EA-A9F0-9E51-22B5C0DEDF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3225146"/>
            <a:ext cx="393700" cy="393700"/>
          </a:xfrm>
          <a:prstGeom prst="rect">
            <a:avLst/>
          </a:prstGeom>
        </p:spPr>
      </p:pic>
      <p:pic>
        <p:nvPicPr>
          <p:cNvPr id="80" name="Content Placeholder 11" descr="Closed book outline">
            <a:extLst>
              <a:ext uri="{FF2B5EF4-FFF2-40B4-BE49-F238E27FC236}">
                <a16:creationId xmlns:a16="http://schemas.microsoft.com/office/drawing/2014/main" id="{F18893BB-0379-94D9-448D-144F06D277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3631546"/>
            <a:ext cx="393700" cy="393700"/>
          </a:xfrm>
          <a:prstGeom prst="rect">
            <a:avLst/>
          </a:prstGeom>
        </p:spPr>
      </p:pic>
      <p:pic>
        <p:nvPicPr>
          <p:cNvPr id="81" name="Content Placeholder 11" descr="Closed book outline">
            <a:extLst>
              <a:ext uri="{FF2B5EF4-FFF2-40B4-BE49-F238E27FC236}">
                <a16:creationId xmlns:a16="http://schemas.microsoft.com/office/drawing/2014/main" id="{CB14ECE3-7BD2-743D-0AD4-C9A566CE61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3631546"/>
            <a:ext cx="393700" cy="393700"/>
          </a:xfrm>
          <a:prstGeom prst="rect">
            <a:avLst/>
          </a:prstGeom>
        </p:spPr>
      </p:pic>
      <p:pic>
        <p:nvPicPr>
          <p:cNvPr id="82" name="Content Placeholder 11" descr="Closed book outline">
            <a:extLst>
              <a:ext uri="{FF2B5EF4-FFF2-40B4-BE49-F238E27FC236}">
                <a16:creationId xmlns:a16="http://schemas.microsoft.com/office/drawing/2014/main" id="{8C47F976-224F-0D11-3F9C-D1E78E9196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3631546"/>
            <a:ext cx="393700" cy="393700"/>
          </a:xfrm>
          <a:prstGeom prst="rect">
            <a:avLst/>
          </a:prstGeom>
        </p:spPr>
      </p:pic>
      <p:pic>
        <p:nvPicPr>
          <p:cNvPr id="83" name="Content Placeholder 11" descr="Closed book outline">
            <a:extLst>
              <a:ext uri="{FF2B5EF4-FFF2-40B4-BE49-F238E27FC236}">
                <a16:creationId xmlns:a16="http://schemas.microsoft.com/office/drawing/2014/main" id="{A65E2C3D-C3A1-A5E2-2759-93B77BDBE9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3631546"/>
            <a:ext cx="393700" cy="393700"/>
          </a:xfrm>
          <a:prstGeom prst="rect">
            <a:avLst/>
          </a:prstGeom>
        </p:spPr>
      </p:pic>
      <p:pic>
        <p:nvPicPr>
          <p:cNvPr id="84" name="Content Placeholder 11" descr="Closed book outline">
            <a:extLst>
              <a:ext uri="{FF2B5EF4-FFF2-40B4-BE49-F238E27FC236}">
                <a16:creationId xmlns:a16="http://schemas.microsoft.com/office/drawing/2014/main" id="{7CA85F81-0165-3E85-D284-9241BE5F32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3632340"/>
            <a:ext cx="393700" cy="393700"/>
          </a:xfrm>
          <a:prstGeom prst="rect">
            <a:avLst/>
          </a:prstGeom>
        </p:spPr>
      </p:pic>
      <p:pic>
        <p:nvPicPr>
          <p:cNvPr id="85" name="Content Placeholder 11" descr="Closed book outline">
            <a:extLst>
              <a:ext uri="{FF2B5EF4-FFF2-40B4-BE49-F238E27FC236}">
                <a16:creationId xmlns:a16="http://schemas.microsoft.com/office/drawing/2014/main" id="{8FF75211-5DD5-A8A9-6B9B-5119C7356B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3632340"/>
            <a:ext cx="393700" cy="393700"/>
          </a:xfrm>
          <a:prstGeom prst="rect">
            <a:avLst/>
          </a:prstGeom>
        </p:spPr>
      </p:pic>
      <p:pic>
        <p:nvPicPr>
          <p:cNvPr id="86" name="Content Placeholder 11" descr="Closed book outline">
            <a:extLst>
              <a:ext uri="{FF2B5EF4-FFF2-40B4-BE49-F238E27FC236}">
                <a16:creationId xmlns:a16="http://schemas.microsoft.com/office/drawing/2014/main" id="{BE2FA3E9-0CC7-E893-83F6-E787EA7D21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3631546"/>
            <a:ext cx="393700" cy="393700"/>
          </a:xfrm>
          <a:prstGeom prst="rect">
            <a:avLst/>
          </a:prstGeom>
        </p:spPr>
      </p:pic>
      <p:pic>
        <p:nvPicPr>
          <p:cNvPr id="87" name="Content Placeholder 11" descr="Closed book outline">
            <a:extLst>
              <a:ext uri="{FF2B5EF4-FFF2-40B4-BE49-F238E27FC236}">
                <a16:creationId xmlns:a16="http://schemas.microsoft.com/office/drawing/2014/main" id="{312921DC-9665-69DB-BAF3-9F1E3F6093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3631546"/>
            <a:ext cx="393700" cy="393700"/>
          </a:xfrm>
          <a:prstGeom prst="rect">
            <a:avLst/>
          </a:prstGeom>
        </p:spPr>
      </p:pic>
      <p:pic>
        <p:nvPicPr>
          <p:cNvPr id="88" name="Content Placeholder 11" descr="Closed book outline">
            <a:extLst>
              <a:ext uri="{FF2B5EF4-FFF2-40B4-BE49-F238E27FC236}">
                <a16:creationId xmlns:a16="http://schemas.microsoft.com/office/drawing/2014/main" id="{0AE50242-9F0B-A7E1-7C01-5A2389ECA7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3631546"/>
            <a:ext cx="393700" cy="393700"/>
          </a:xfrm>
          <a:prstGeom prst="rect">
            <a:avLst/>
          </a:prstGeom>
        </p:spPr>
      </p:pic>
      <p:pic>
        <p:nvPicPr>
          <p:cNvPr id="89" name="Content Placeholder 11" descr="Closed book outline">
            <a:extLst>
              <a:ext uri="{FF2B5EF4-FFF2-40B4-BE49-F238E27FC236}">
                <a16:creationId xmlns:a16="http://schemas.microsoft.com/office/drawing/2014/main" id="{4C69908A-D520-84A5-2AAD-385A567E63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3631546"/>
            <a:ext cx="393700" cy="393700"/>
          </a:xfrm>
          <a:prstGeom prst="rect">
            <a:avLst/>
          </a:prstGeom>
        </p:spPr>
      </p:pic>
      <p:pic>
        <p:nvPicPr>
          <p:cNvPr id="90" name="Content Placeholder 11" descr="Closed book outline">
            <a:extLst>
              <a:ext uri="{FF2B5EF4-FFF2-40B4-BE49-F238E27FC236}">
                <a16:creationId xmlns:a16="http://schemas.microsoft.com/office/drawing/2014/main" id="{4346A683-5FA9-33E8-430C-CD2A1451FA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049852"/>
            <a:ext cx="393700" cy="393700"/>
          </a:xfrm>
          <a:prstGeom prst="rect">
            <a:avLst/>
          </a:prstGeom>
        </p:spPr>
      </p:pic>
      <p:pic>
        <p:nvPicPr>
          <p:cNvPr id="91" name="Content Placeholder 11" descr="Closed book outline">
            <a:extLst>
              <a:ext uri="{FF2B5EF4-FFF2-40B4-BE49-F238E27FC236}">
                <a16:creationId xmlns:a16="http://schemas.microsoft.com/office/drawing/2014/main" id="{C26A78C4-1958-DA3A-EB18-26BA784A7B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049852"/>
            <a:ext cx="393700" cy="393700"/>
          </a:xfrm>
          <a:prstGeom prst="rect">
            <a:avLst/>
          </a:prstGeom>
        </p:spPr>
      </p:pic>
      <p:pic>
        <p:nvPicPr>
          <p:cNvPr id="92" name="Content Placeholder 11" descr="Closed book outline">
            <a:extLst>
              <a:ext uri="{FF2B5EF4-FFF2-40B4-BE49-F238E27FC236}">
                <a16:creationId xmlns:a16="http://schemas.microsoft.com/office/drawing/2014/main" id="{4BF27BF5-F57C-BD13-437C-24C46E4F39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049852"/>
            <a:ext cx="393700" cy="393700"/>
          </a:xfrm>
          <a:prstGeom prst="rect">
            <a:avLst/>
          </a:prstGeom>
        </p:spPr>
      </p:pic>
      <p:pic>
        <p:nvPicPr>
          <p:cNvPr id="93" name="Content Placeholder 11" descr="Closed book outline">
            <a:extLst>
              <a:ext uri="{FF2B5EF4-FFF2-40B4-BE49-F238E27FC236}">
                <a16:creationId xmlns:a16="http://schemas.microsoft.com/office/drawing/2014/main" id="{C0B6793B-7588-9EC2-748F-7377BC3342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049852"/>
            <a:ext cx="393700" cy="393700"/>
          </a:xfrm>
          <a:prstGeom prst="rect">
            <a:avLst/>
          </a:prstGeom>
        </p:spPr>
      </p:pic>
      <p:pic>
        <p:nvPicPr>
          <p:cNvPr id="94" name="Content Placeholder 11" descr="Closed book outline">
            <a:extLst>
              <a:ext uri="{FF2B5EF4-FFF2-40B4-BE49-F238E27FC236}">
                <a16:creationId xmlns:a16="http://schemas.microsoft.com/office/drawing/2014/main" id="{81B91574-001D-95EC-60D8-48F4B25E06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050646"/>
            <a:ext cx="393700" cy="393700"/>
          </a:xfrm>
          <a:prstGeom prst="rect">
            <a:avLst/>
          </a:prstGeom>
        </p:spPr>
      </p:pic>
      <p:pic>
        <p:nvPicPr>
          <p:cNvPr id="95" name="Content Placeholder 11" descr="Closed book outline">
            <a:extLst>
              <a:ext uri="{FF2B5EF4-FFF2-40B4-BE49-F238E27FC236}">
                <a16:creationId xmlns:a16="http://schemas.microsoft.com/office/drawing/2014/main" id="{F09FFA08-0DCC-E18A-4249-566269FF98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050646"/>
            <a:ext cx="393700" cy="393700"/>
          </a:xfrm>
          <a:prstGeom prst="rect">
            <a:avLst/>
          </a:prstGeom>
        </p:spPr>
      </p:pic>
      <p:pic>
        <p:nvPicPr>
          <p:cNvPr id="96" name="Content Placeholder 11" descr="Closed book outline">
            <a:extLst>
              <a:ext uri="{FF2B5EF4-FFF2-40B4-BE49-F238E27FC236}">
                <a16:creationId xmlns:a16="http://schemas.microsoft.com/office/drawing/2014/main" id="{AF1CC0F2-3ED7-E053-CFC0-4ABABC7186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049852"/>
            <a:ext cx="393700" cy="393700"/>
          </a:xfrm>
          <a:prstGeom prst="rect">
            <a:avLst/>
          </a:prstGeom>
        </p:spPr>
      </p:pic>
      <p:pic>
        <p:nvPicPr>
          <p:cNvPr id="97" name="Content Placeholder 11" descr="Closed book outline">
            <a:extLst>
              <a:ext uri="{FF2B5EF4-FFF2-40B4-BE49-F238E27FC236}">
                <a16:creationId xmlns:a16="http://schemas.microsoft.com/office/drawing/2014/main" id="{BFB844BC-E670-6C05-0639-ED150A4EB2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049852"/>
            <a:ext cx="393700" cy="393700"/>
          </a:xfrm>
          <a:prstGeom prst="rect">
            <a:avLst/>
          </a:prstGeom>
        </p:spPr>
      </p:pic>
      <p:pic>
        <p:nvPicPr>
          <p:cNvPr id="98" name="Content Placeholder 11" descr="Closed book outline">
            <a:extLst>
              <a:ext uri="{FF2B5EF4-FFF2-40B4-BE49-F238E27FC236}">
                <a16:creationId xmlns:a16="http://schemas.microsoft.com/office/drawing/2014/main" id="{8A8A7498-019F-EDE3-709D-102F0434C0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049852"/>
            <a:ext cx="393700" cy="393700"/>
          </a:xfrm>
          <a:prstGeom prst="rect">
            <a:avLst/>
          </a:prstGeom>
        </p:spPr>
      </p:pic>
      <p:pic>
        <p:nvPicPr>
          <p:cNvPr id="99" name="Content Placeholder 11" descr="Closed book outline">
            <a:extLst>
              <a:ext uri="{FF2B5EF4-FFF2-40B4-BE49-F238E27FC236}">
                <a16:creationId xmlns:a16="http://schemas.microsoft.com/office/drawing/2014/main" id="{A61B9218-26C6-BF51-BA15-BB3C468DF5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049852"/>
            <a:ext cx="393700" cy="393700"/>
          </a:xfrm>
          <a:prstGeom prst="rect">
            <a:avLst/>
          </a:prstGeom>
        </p:spPr>
      </p:pic>
      <p:pic>
        <p:nvPicPr>
          <p:cNvPr id="100" name="Content Placeholder 11" descr="Closed book outline">
            <a:extLst>
              <a:ext uri="{FF2B5EF4-FFF2-40B4-BE49-F238E27FC236}">
                <a16:creationId xmlns:a16="http://schemas.microsoft.com/office/drawing/2014/main" id="{FB7E7B2C-A30F-2295-035E-7DF3278AE0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456252"/>
            <a:ext cx="393700" cy="393700"/>
          </a:xfrm>
          <a:prstGeom prst="rect">
            <a:avLst/>
          </a:prstGeom>
        </p:spPr>
      </p:pic>
      <p:pic>
        <p:nvPicPr>
          <p:cNvPr id="101" name="Content Placeholder 11" descr="Closed book outline">
            <a:extLst>
              <a:ext uri="{FF2B5EF4-FFF2-40B4-BE49-F238E27FC236}">
                <a16:creationId xmlns:a16="http://schemas.microsoft.com/office/drawing/2014/main" id="{925DE0B5-4908-0C88-04E0-8502DAD3C7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456252"/>
            <a:ext cx="393700" cy="393700"/>
          </a:xfrm>
          <a:prstGeom prst="rect">
            <a:avLst/>
          </a:prstGeom>
        </p:spPr>
      </p:pic>
      <p:pic>
        <p:nvPicPr>
          <p:cNvPr id="102" name="Content Placeholder 11" descr="Closed book outline">
            <a:extLst>
              <a:ext uri="{FF2B5EF4-FFF2-40B4-BE49-F238E27FC236}">
                <a16:creationId xmlns:a16="http://schemas.microsoft.com/office/drawing/2014/main" id="{17C67F50-D7F8-E3D6-342C-791A83A7F6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456252"/>
            <a:ext cx="393700" cy="393700"/>
          </a:xfrm>
          <a:prstGeom prst="rect">
            <a:avLst/>
          </a:prstGeom>
        </p:spPr>
      </p:pic>
      <p:pic>
        <p:nvPicPr>
          <p:cNvPr id="103" name="Content Placeholder 11" descr="Closed book outline">
            <a:extLst>
              <a:ext uri="{FF2B5EF4-FFF2-40B4-BE49-F238E27FC236}">
                <a16:creationId xmlns:a16="http://schemas.microsoft.com/office/drawing/2014/main" id="{CF38058C-A6FC-A79B-644F-74E062CBEF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456252"/>
            <a:ext cx="393700" cy="393700"/>
          </a:xfrm>
          <a:prstGeom prst="rect">
            <a:avLst/>
          </a:prstGeom>
        </p:spPr>
      </p:pic>
      <p:pic>
        <p:nvPicPr>
          <p:cNvPr id="104" name="Content Placeholder 11" descr="Closed book outline">
            <a:extLst>
              <a:ext uri="{FF2B5EF4-FFF2-40B4-BE49-F238E27FC236}">
                <a16:creationId xmlns:a16="http://schemas.microsoft.com/office/drawing/2014/main" id="{F8A33AB3-C3B1-3D3C-FB43-B4DE7E6EFD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457046"/>
            <a:ext cx="393700" cy="393700"/>
          </a:xfrm>
          <a:prstGeom prst="rect">
            <a:avLst/>
          </a:prstGeom>
        </p:spPr>
      </p:pic>
      <p:pic>
        <p:nvPicPr>
          <p:cNvPr id="105" name="Content Placeholder 11" descr="Closed book outline">
            <a:extLst>
              <a:ext uri="{FF2B5EF4-FFF2-40B4-BE49-F238E27FC236}">
                <a16:creationId xmlns:a16="http://schemas.microsoft.com/office/drawing/2014/main" id="{7F8C8EA4-7D2C-E540-54C3-3A2442E922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457046"/>
            <a:ext cx="393700" cy="393700"/>
          </a:xfrm>
          <a:prstGeom prst="rect">
            <a:avLst/>
          </a:prstGeom>
        </p:spPr>
      </p:pic>
      <p:pic>
        <p:nvPicPr>
          <p:cNvPr id="106" name="Content Placeholder 11" descr="Closed book outline">
            <a:extLst>
              <a:ext uri="{FF2B5EF4-FFF2-40B4-BE49-F238E27FC236}">
                <a16:creationId xmlns:a16="http://schemas.microsoft.com/office/drawing/2014/main" id="{2066E716-596E-0591-DE82-E487ADC603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456252"/>
            <a:ext cx="393700" cy="393700"/>
          </a:xfrm>
          <a:prstGeom prst="rect">
            <a:avLst/>
          </a:prstGeom>
        </p:spPr>
      </p:pic>
      <p:pic>
        <p:nvPicPr>
          <p:cNvPr id="107" name="Content Placeholder 11" descr="Closed book outline">
            <a:extLst>
              <a:ext uri="{FF2B5EF4-FFF2-40B4-BE49-F238E27FC236}">
                <a16:creationId xmlns:a16="http://schemas.microsoft.com/office/drawing/2014/main" id="{89CB68B6-4D34-7394-B906-FC84A263FB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456252"/>
            <a:ext cx="393700" cy="393700"/>
          </a:xfrm>
          <a:prstGeom prst="rect">
            <a:avLst/>
          </a:prstGeom>
        </p:spPr>
      </p:pic>
      <p:pic>
        <p:nvPicPr>
          <p:cNvPr id="108" name="Content Placeholder 11" descr="Closed book outline">
            <a:extLst>
              <a:ext uri="{FF2B5EF4-FFF2-40B4-BE49-F238E27FC236}">
                <a16:creationId xmlns:a16="http://schemas.microsoft.com/office/drawing/2014/main" id="{88ECB07F-6BC9-C1FA-C9FB-FEDB94E3A0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456252"/>
            <a:ext cx="393700" cy="393700"/>
          </a:xfrm>
          <a:prstGeom prst="rect">
            <a:avLst/>
          </a:prstGeom>
        </p:spPr>
      </p:pic>
      <p:pic>
        <p:nvPicPr>
          <p:cNvPr id="109" name="Content Placeholder 11" descr="Closed book outline">
            <a:extLst>
              <a:ext uri="{FF2B5EF4-FFF2-40B4-BE49-F238E27FC236}">
                <a16:creationId xmlns:a16="http://schemas.microsoft.com/office/drawing/2014/main" id="{9F3A858F-7C08-19C0-178B-9E008C9837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456252"/>
            <a:ext cx="393700" cy="393700"/>
          </a:xfrm>
          <a:prstGeom prst="rect">
            <a:avLst/>
          </a:prstGeom>
        </p:spPr>
      </p:pic>
      <p:pic>
        <p:nvPicPr>
          <p:cNvPr id="110" name="Content Placeholder 11" descr="Closed book outline">
            <a:extLst>
              <a:ext uri="{FF2B5EF4-FFF2-40B4-BE49-F238E27FC236}">
                <a16:creationId xmlns:a16="http://schemas.microsoft.com/office/drawing/2014/main" id="{B0B9E861-03B5-863A-2CAA-D204821CE0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875352"/>
            <a:ext cx="393700" cy="393700"/>
          </a:xfrm>
          <a:prstGeom prst="rect">
            <a:avLst/>
          </a:prstGeom>
        </p:spPr>
      </p:pic>
      <p:pic>
        <p:nvPicPr>
          <p:cNvPr id="111" name="Content Placeholder 11" descr="Closed book outline">
            <a:extLst>
              <a:ext uri="{FF2B5EF4-FFF2-40B4-BE49-F238E27FC236}">
                <a16:creationId xmlns:a16="http://schemas.microsoft.com/office/drawing/2014/main" id="{16CE081F-0905-BBA1-A0A9-551D09D4EF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875352"/>
            <a:ext cx="393700" cy="393700"/>
          </a:xfrm>
          <a:prstGeom prst="rect">
            <a:avLst/>
          </a:prstGeom>
        </p:spPr>
      </p:pic>
      <p:pic>
        <p:nvPicPr>
          <p:cNvPr id="112" name="Content Placeholder 11" descr="Closed book outline">
            <a:extLst>
              <a:ext uri="{FF2B5EF4-FFF2-40B4-BE49-F238E27FC236}">
                <a16:creationId xmlns:a16="http://schemas.microsoft.com/office/drawing/2014/main" id="{9410CE4C-7D6F-1640-9764-7ED9413098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875352"/>
            <a:ext cx="393700" cy="393700"/>
          </a:xfrm>
          <a:prstGeom prst="rect">
            <a:avLst/>
          </a:prstGeom>
        </p:spPr>
      </p:pic>
      <p:pic>
        <p:nvPicPr>
          <p:cNvPr id="113" name="Content Placeholder 11" descr="Closed book outline">
            <a:extLst>
              <a:ext uri="{FF2B5EF4-FFF2-40B4-BE49-F238E27FC236}">
                <a16:creationId xmlns:a16="http://schemas.microsoft.com/office/drawing/2014/main" id="{B111480F-5DE6-E9CA-76C9-FDAEDF826B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875352"/>
            <a:ext cx="393700" cy="393700"/>
          </a:xfrm>
          <a:prstGeom prst="rect">
            <a:avLst/>
          </a:prstGeom>
        </p:spPr>
      </p:pic>
      <p:pic>
        <p:nvPicPr>
          <p:cNvPr id="114" name="Content Placeholder 11" descr="Closed book outline">
            <a:extLst>
              <a:ext uri="{FF2B5EF4-FFF2-40B4-BE49-F238E27FC236}">
                <a16:creationId xmlns:a16="http://schemas.microsoft.com/office/drawing/2014/main" id="{B7392EFE-EB68-DF47-DCEF-D0924F3C8E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876146"/>
            <a:ext cx="393700" cy="393700"/>
          </a:xfrm>
          <a:prstGeom prst="rect">
            <a:avLst/>
          </a:prstGeom>
        </p:spPr>
      </p:pic>
      <p:pic>
        <p:nvPicPr>
          <p:cNvPr id="115" name="Content Placeholder 11" descr="Closed book outline">
            <a:extLst>
              <a:ext uri="{FF2B5EF4-FFF2-40B4-BE49-F238E27FC236}">
                <a16:creationId xmlns:a16="http://schemas.microsoft.com/office/drawing/2014/main" id="{0CB2BF9C-A6C6-077F-D2DB-6F318FE0FA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876146"/>
            <a:ext cx="393700" cy="393700"/>
          </a:xfrm>
          <a:prstGeom prst="rect">
            <a:avLst/>
          </a:prstGeom>
        </p:spPr>
      </p:pic>
      <p:pic>
        <p:nvPicPr>
          <p:cNvPr id="116" name="Content Placeholder 11" descr="Closed book outline">
            <a:extLst>
              <a:ext uri="{FF2B5EF4-FFF2-40B4-BE49-F238E27FC236}">
                <a16:creationId xmlns:a16="http://schemas.microsoft.com/office/drawing/2014/main" id="{1F54C5F1-A901-E69D-ADF8-0A5F03071A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875352"/>
            <a:ext cx="393700" cy="393700"/>
          </a:xfrm>
          <a:prstGeom prst="rect">
            <a:avLst/>
          </a:prstGeom>
        </p:spPr>
      </p:pic>
      <p:pic>
        <p:nvPicPr>
          <p:cNvPr id="117" name="Content Placeholder 11" descr="Closed book outline">
            <a:extLst>
              <a:ext uri="{FF2B5EF4-FFF2-40B4-BE49-F238E27FC236}">
                <a16:creationId xmlns:a16="http://schemas.microsoft.com/office/drawing/2014/main" id="{A3C5BF87-254F-83E2-3004-487B7E51D7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875352"/>
            <a:ext cx="393700" cy="393700"/>
          </a:xfrm>
          <a:prstGeom prst="rect">
            <a:avLst/>
          </a:prstGeom>
        </p:spPr>
      </p:pic>
      <p:pic>
        <p:nvPicPr>
          <p:cNvPr id="118" name="Content Placeholder 11" descr="Closed book outline">
            <a:extLst>
              <a:ext uri="{FF2B5EF4-FFF2-40B4-BE49-F238E27FC236}">
                <a16:creationId xmlns:a16="http://schemas.microsoft.com/office/drawing/2014/main" id="{56177008-394B-7B69-9064-32AE0F21CF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875352"/>
            <a:ext cx="393700" cy="393700"/>
          </a:xfrm>
          <a:prstGeom prst="rect">
            <a:avLst/>
          </a:prstGeom>
        </p:spPr>
      </p:pic>
      <p:pic>
        <p:nvPicPr>
          <p:cNvPr id="119" name="Content Placeholder 11" descr="Closed book outline">
            <a:extLst>
              <a:ext uri="{FF2B5EF4-FFF2-40B4-BE49-F238E27FC236}">
                <a16:creationId xmlns:a16="http://schemas.microsoft.com/office/drawing/2014/main" id="{6068C623-E54A-9977-423F-9D1AF67986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875352"/>
            <a:ext cx="393700" cy="393700"/>
          </a:xfrm>
          <a:prstGeom prst="rect">
            <a:avLst/>
          </a:prstGeom>
        </p:spPr>
      </p:pic>
      <p:pic>
        <p:nvPicPr>
          <p:cNvPr id="120" name="Content Placeholder 11" descr="Closed book outline">
            <a:extLst>
              <a:ext uri="{FF2B5EF4-FFF2-40B4-BE49-F238E27FC236}">
                <a16:creationId xmlns:a16="http://schemas.microsoft.com/office/drawing/2014/main" id="{1FE50658-39E8-AD1C-3777-534C1CCD94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9300" y="5281752"/>
            <a:ext cx="393700" cy="393700"/>
          </a:xfrm>
          <a:prstGeom prst="rect">
            <a:avLst/>
          </a:prstGeom>
        </p:spPr>
      </p:pic>
      <p:pic>
        <p:nvPicPr>
          <p:cNvPr id="121" name="Content Placeholder 11" descr="Closed book outline">
            <a:extLst>
              <a:ext uri="{FF2B5EF4-FFF2-40B4-BE49-F238E27FC236}">
                <a16:creationId xmlns:a16="http://schemas.microsoft.com/office/drawing/2014/main" id="{909E5983-2A10-AD8E-B717-ADF774B213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1400" y="5281752"/>
            <a:ext cx="393700" cy="393700"/>
          </a:xfrm>
          <a:prstGeom prst="rect">
            <a:avLst/>
          </a:prstGeom>
        </p:spPr>
      </p:pic>
      <p:pic>
        <p:nvPicPr>
          <p:cNvPr id="122" name="Content Placeholder 11" descr="Closed book outline">
            <a:extLst>
              <a:ext uri="{FF2B5EF4-FFF2-40B4-BE49-F238E27FC236}">
                <a16:creationId xmlns:a16="http://schemas.microsoft.com/office/drawing/2014/main" id="{4D17ECFB-2F9A-9B57-23AD-BD9CAB06E1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20800" y="5281752"/>
            <a:ext cx="393700" cy="393700"/>
          </a:xfrm>
          <a:prstGeom prst="rect">
            <a:avLst/>
          </a:prstGeom>
        </p:spPr>
      </p:pic>
      <p:pic>
        <p:nvPicPr>
          <p:cNvPr id="123" name="Content Placeholder 11" descr="Closed book outline">
            <a:extLst>
              <a:ext uri="{FF2B5EF4-FFF2-40B4-BE49-F238E27FC236}">
                <a16:creationId xmlns:a16="http://schemas.microsoft.com/office/drawing/2014/main" id="{13276FEE-43EA-EA18-CF93-E4B1C1380E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5600" y="5281752"/>
            <a:ext cx="393700" cy="393700"/>
          </a:xfrm>
          <a:prstGeom prst="rect">
            <a:avLst/>
          </a:prstGeom>
        </p:spPr>
      </p:pic>
      <p:pic>
        <p:nvPicPr>
          <p:cNvPr id="124" name="Content Placeholder 11" descr="Closed book outline">
            <a:extLst>
              <a:ext uri="{FF2B5EF4-FFF2-40B4-BE49-F238E27FC236}">
                <a16:creationId xmlns:a16="http://schemas.microsoft.com/office/drawing/2014/main" id="{2FD27248-6E2C-68D2-947C-5730DA082E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17700" y="5282546"/>
            <a:ext cx="393700" cy="393700"/>
          </a:xfrm>
          <a:prstGeom prst="rect">
            <a:avLst/>
          </a:prstGeom>
        </p:spPr>
      </p:pic>
      <p:pic>
        <p:nvPicPr>
          <p:cNvPr id="125" name="Content Placeholder 11" descr="Closed book outline">
            <a:extLst>
              <a:ext uri="{FF2B5EF4-FFF2-40B4-BE49-F238E27FC236}">
                <a16:creationId xmlns:a16="http://schemas.microsoft.com/office/drawing/2014/main" id="{C7057F85-7AF9-1DAA-1DB0-69717C2A85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5282546"/>
            <a:ext cx="393700" cy="393700"/>
          </a:xfrm>
          <a:prstGeom prst="rect">
            <a:avLst/>
          </a:prstGeom>
        </p:spPr>
      </p:pic>
      <p:pic>
        <p:nvPicPr>
          <p:cNvPr id="126" name="Content Placeholder 11" descr="Closed book outline">
            <a:extLst>
              <a:ext uri="{FF2B5EF4-FFF2-40B4-BE49-F238E27FC236}">
                <a16:creationId xmlns:a16="http://schemas.microsoft.com/office/drawing/2014/main" id="{B7571BEA-D722-7ADB-1370-8F9F4606F3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5281752"/>
            <a:ext cx="393700" cy="393700"/>
          </a:xfrm>
          <a:prstGeom prst="rect">
            <a:avLst/>
          </a:prstGeom>
        </p:spPr>
      </p:pic>
      <p:pic>
        <p:nvPicPr>
          <p:cNvPr id="127" name="Content Placeholder 11" descr="Closed book outline">
            <a:extLst>
              <a:ext uri="{FF2B5EF4-FFF2-40B4-BE49-F238E27FC236}">
                <a16:creationId xmlns:a16="http://schemas.microsoft.com/office/drawing/2014/main" id="{AA0AE40F-4A58-A553-429A-14138CF13F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5281752"/>
            <a:ext cx="393700" cy="393700"/>
          </a:xfrm>
          <a:prstGeom prst="rect">
            <a:avLst/>
          </a:prstGeom>
        </p:spPr>
      </p:pic>
      <p:pic>
        <p:nvPicPr>
          <p:cNvPr id="128" name="Content Placeholder 11" descr="Closed book outline">
            <a:extLst>
              <a:ext uri="{FF2B5EF4-FFF2-40B4-BE49-F238E27FC236}">
                <a16:creationId xmlns:a16="http://schemas.microsoft.com/office/drawing/2014/main" id="{F8969055-7F8B-B1E6-E977-E75F3B4E32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5281752"/>
            <a:ext cx="393700" cy="393700"/>
          </a:xfrm>
          <a:prstGeom prst="rect">
            <a:avLst/>
          </a:prstGeom>
        </p:spPr>
      </p:pic>
      <p:pic>
        <p:nvPicPr>
          <p:cNvPr id="129" name="Content Placeholder 11" descr="Closed book outline">
            <a:extLst>
              <a:ext uri="{FF2B5EF4-FFF2-40B4-BE49-F238E27FC236}">
                <a16:creationId xmlns:a16="http://schemas.microsoft.com/office/drawing/2014/main" id="{E1CA0445-5871-B217-A87C-DEFF669A5B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5281752"/>
            <a:ext cx="393700" cy="393700"/>
          </a:xfrm>
          <a:prstGeom prst="rect">
            <a:avLst/>
          </a:prstGeom>
        </p:spPr>
      </p:pic>
      <p:sp>
        <p:nvSpPr>
          <p:cNvPr id="150" name="TextBox 149">
            <a:extLst>
              <a:ext uri="{FF2B5EF4-FFF2-40B4-BE49-F238E27FC236}">
                <a16:creationId xmlns:a16="http://schemas.microsoft.com/office/drawing/2014/main" id="{081840A3-8F96-6327-11D2-AB536D26EF9F}"/>
              </a:ext>
            </a:extLst>
          </p:cNvPr>
          <p:cNvSpPr txBox="1"/>
          <p:nvPr/>
        </p:nvSpPr>
        <p:spPr>
          <a:xfrm>
            <a:off x="493519" y="5678194"/>
            <a:ext cx="3851662" cy="1015663"/>
          </a:xfrm>
          <a:prstGeom prst="rect">
            <a:avLst/>
          </a:prstGeom>
          <a:noFill/>
        </p:spPr>
        <p:txBody>
          <a:bodyPr wrap="square" rtlCol="0">
            <a:spAutoFit/>
          </a:bodyPr>
          <a:lstStyle/>
          <a:p>
            <a:r>
              <a:rPr lang="en-CA" sz="2000" dirty="0"/>
              <a:t>Out of 519 clinical studies of LLMs, between 2022-2024, </a:t>
            </a:r>
            <a:r>
              <a:rPr lang="en-CA" sz="2000" b="1" dirty="0">
                <a:solidFill>
                  <a:srgbClr val="FF0000"/>
                </a:solidFill>
              </a:rPr>
              <a:t>only 5%</a:t>
            </a:r>
            <a:r>
              <a:rPr lang="en-CA" sz="2000" dirty="0"/>
              <a:t> used real patient data</a:t>
            </a:r>
          </a:p>
        </p:txBody>
      </p:sp>
      <p:pic>
        <p:nvPicPr>
          <p:cNvPr id="2" name="Picture 1">
            <a:extLst>
              <a:ext uri="{FF2B5EF4-FFF2-40B4-BE49-F238E27FC236}">
                <a16:creationId xmlns:a16="http://schemas.microsoft.com/office/drawing/2014/main" id="{867F80B2-2565-8B8C-3667-6936BD5FD0EA}"/>
              </a:ext>
            </a:extLst>
          </p:cNvPr>
          <p:cNvPicPr>
            <a:picLocks noChangeAspect="1"/>
          </p:cNvPicPr>
          <p:nvPr/>
        </p:nvPicPr>
        <p:blipFill>
          <a:blip r:embed="rId7"/>
          <a:stretch>
            <a:fillRect/>
          </a:stretch>
        </p:blipFill>
        <p:spPr>
          <a:xfrm>
            <a:off x="5999357" y="1620203"/>
            <a:ext cx="4994870" cy="3855485"/>
          </a:xfrm>
          <a:prstGeom prst="rect">
            <a:avLst/>
          </a:prstGeom>
        </p:spPr>
      </p:pic>
      <p:sp>
        <p:nvSpPr>
          <p:cNvPr id="3" name="TextBox 2">
            <a:extLst>
              <a:ext uri="{FF2B5EF4-FFF2-40B4-BE49-F238E27FC236}">
                <a16:creationId xmlns:a16="http://schemas.microsoft.com/office/drawing/2014/main" id="{948E49FB-FF14-AADE-25B9-2AE758CAB84A}"/>
              </a:ext>
            </a:extLst>
          </p:cNvPr>
          <p:cNvSpPr txBox="1"/>
          <p:nvPr/>
        </p:nvSpPr>
        <p:spPr>
          <a:xfrm>
            <a:off x="5987352" y="5618721"/>
            <a:ext cx="5366447" cy="707886"/>
          </a:xfrm>
          <a:prstGeom prst="rect">
            <a:avLst/>
          </a:prstGeom>
          <a:noFill/>
        </p:spPr>
        <p:txBody>
          <a:bodyPr wrap="square" rtlCol="0">
            <a:spAutoFit/>
          </a:bodyPr>
          <a:lstStyle/>
          <a:p>
            <a:r>
              <a:rPr lang="en-CA" sz="2000" dirty="0"/>
              <a:t>Between 2018-2023, ~ 100,000 RCTs of medications</a:t>
            </a:r>
          </a:p>
        </p:txBody>
      </p:sp>
      <p:sp>
        <p:nvSpPr>
          <p:cNvPr id="9" name="Title 7">
            <a:extLst>
              <a:ext uri="{FF2B5EF4-FFF2-40B4-BE49-F238E27FC236}">
                <a16:creationId xmlns:a16="http://schemas.microsoft.com/office/drawing/2014/main" id="{FFCD5DF0-8980-2831-8D7E-699B4E072E0E}"/>
              </a:ext>
            </a:extLst>
          </p:cNvPr>
          <p:cNvSpPr>
            <a:spLocks noGrp="1"/>
          </p:cNvSpPr>
          <p:nvPr>
            <p:ph type="title"/>
          </p:nvPr>
        </p:nvSpPr>
        <p:spPr>
          <a:xfrm>
            <a:off x="480000" y="72000"/>
            <a:ext cx="10668164" cy="900000"/>
          </a:xfrm>
        </p:spPr>
        <p:txBody>
          <a:bodyPr/>
          <a:lstStyle/>
          <a:p>
            <a:r>
              <a:rPr lang="en-CA" dirty="0"/>
              <a:t>What is the evidence base for real-world clinical use of AI?</a:t>
            </a:r>
          </a:p>
        </p:txBody>
      </p:sp>
    </p:spTree>
    <p:extLst>
      <p:ext uri="{BB962C8B-B14F-4D97-AF65-F5344CB8AC3E}">
        <p14:creationId xmlns:p14="http://schemas.microsoft.com/office/powerpoint/2010/main" val="7915855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8A1DA-2DD4-5F14-6C12-07236B88D98F}"/>
            </a:ext>
          </a:extLst>
        </p:cNvPr>
        <p:cNvGrpSpPr/>
        <p:nvPr/>
      </p:nvGrpSpPr>
      <p:grpSpPr>
        <a:xfrm>
          <a:off x="0" y="0"/>
          <a:ext cx="0" cy="0"/>
          <a:chOff x="0" y="0"/>
          <a:chExt cx="0" cy="0"/>
        </a:xfrm>
      </p:grpSpPr>
      <p:pic>
        <p:nvPicPr>
          <p:cNvPr id="12" name="Content Placeholder 11" descr="Closed book outline">
            <a:extLst>
              <a:ext uri="{FF2B5EF4-FFF2-40B4-BE49-F238E27FC236}">
                <a16:creationId xmlns:a16="http://schemas.microsoft.com/office/drawing/2014/main" id="{C8480ECA-8CB8-6209-DB05-235DB7E263F2}"/>
              </a:ext>
            </a:extLst>
          </p:cNvPr>
          <p:cNvPicPr>
            <a:picLocks noGrp="1" noChangeAspect="1"/>
          </p:cNvPicPr>
          <p:nvPr>
            <p:ph idx="4294967295"/>
          </p:nvPr>
        </p:nvPicPr>
        <p:blipFill>
          <a:blip r:embed="rId3">
            <a:extLst>
              <a:ext uri="{96DAC541-7B7A-43D3-8B79-37D633B846F1}">
                <asvg:svgBlip xmlns:asvg="http://schemas.microsoft.com/office/drawing/2016/SVG/main" r:embed="rId4"/>
              </a:ext>
            </a:extLst>
          </a:blip>
          <a:stretch>
            <a:fillRect/>
          </a:stretch>
        </p:blipFill>
        <p:spPr>
          <a:xfrm>
            <a:off x="749300" y="1627327"/>
            <a:ext cx="393700" cy="393700"/>
          </a:xfrm>
        </p:spPr>
      </p:pic>
      <p:pic>
        <p:nvPicPr>
          <p:cNvPr id="13" name="Content Placeholder 11" descr="Closed book outline">
            <a:extLst>
              <a:ext uri="{FF2B5EF4-FFF2-40B4-BE49-F238E27FC236}">
                <a16:creationId xmlns:a16="http://schemas.microsoft.com/office/drawing/2014/main" id="{F810EB5C-0E1E-543F-633D-C3522D3AD2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1614627"/>
            <a:ext cx="393700" cy="393700"/>
          </a:xfrm>
          <a:prstGeom prst="rect">
            <a:avLst/>
          </a:prstGeom>
        </p:spPr>
      </p:pic>
      <p:pic>
        <p:nvPicPr>
          <p:cNvPr id="14" name="Content Placeholder 11" descr="Closed book outline">
            <a:extLst>
              <a:ext uri="{FF2B5EF4-FFF2-40B4-BE49-F238E27FC236}">
                <a16:creationId xmlns:a16="http://schemas.microsoft.com/office/drawing/2014/main" id="{4A023689-9EF9-AB8F-B058-88C9998125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1614627"/>
            <a:ext cx="393700" cy="393700"/>
          </a:xfrm>
          <a:prstGeom prst="rect">
            <a:avLst/>
          </a:prstGeom>
        </p:spPr>
      </p:pic>
      <p:pic>
        <p:nvPicPr>
          <p:cNvPr id="15" name="Content Placeholder 11" descr="Closed book outline">
            <a:extLst>
              <a:ext uri="{FF2B5EF4-FFF2-40B4-BE49-F238E27FC236}">
                <a16:creationId xmlns:a16="http://schemas.microsoft.com/office/drawing/2014/main" id="{D9F94A00-6581-ECBF-5E45-A1832A8205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1614627"/>
            <a:ext cx="393700" cy="393700"/>
          </a:xfrm>
          <a:prstGeom prst="rect">
            <a:avLst/>
          </a:prstGeom>
        </p:spPr>
      </p:pic>
      <p:pic>
        <p:nvPicPr>
          <p:cNvPr id="16" name="Content Placeholder 11" descr="Closed book outline">
            <a:extLst>
              <a:ext uri="{FF2B5EF4-FFF2-40B4-BE49-F238E27FC236}">
                <a16:creationId xmlns:a16="http://schemas.microsoft.com/office/drawing/2014/main" id="{D04F52C5-3300-08A6-F415-447BDBF9DC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1615421"/>
            <a:ext cx="393700" cy="393700"/>
          </a:xfrm>
          <a:prstGeom prst="rect">
            <a:avLst/>
          </a:prstGeom>
        </p:spPr>
      </p:pic>
      <p:pic>
        <p:nvPicPr>
          <p:cNvPr id="17" name="Content Placeholder 11" descr="Closed book outline">
            <a:extLst>
              <a:ext uri="{FF2B5EF4-FFF2-40B4-BE49-F238E27FC236}">
                <a16:creationId xmlns:a16="http://schemas.microsoft.com/office/drawing/2014/main" id="{45E41A5E-5C98-29C4-50E7-74DEAB01AC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1615421"/>
            <a:ext cx="393700" cy="393700"/>
          </a:xfrm>
          <a:prstGeom prst="rect">
            <a:avLst/>
          </a:prstGeom>
        </p:spPr>
      </p:pic>
      <p:pic>
        <p:nvPicPr>
          <p:cNvPr id="18" name="Content Placeholder 11" descr="Closed book outline">
            <a:extLst>
              <a:ext uri="{FF2B5EF4-FFF2-40B4-BE49-F238E27FC236}">
                <a16:creationId xmlns:a16="http://schemas.microsoft.com/office/drawing/2014/main" id="{3B6D49E3-F489-2CEA-8C9C-7C08560C6D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1614627"/>
            <a:ext cx="393700" cy="393700"/>
          </a:xfrm>
          <a:prstGeom prst="rect">
            <a:avLst/>
          </a:prstGeom>
        </p:spPr>
      </p:pic>
      <p:pic>
        <p:nvPicPr>
          <p:cNvPr id="19" name="Content Placeholder 11" descr="Closed book outline">
            <a:extLst>
              <a:ext uri="{FF2B5EF4-FFF2-40B4-BE49-F238E27FC236}">
                <a16:creationId xmlns:a16="http://schemas.microsoft.com/office/drawing/2014/main" id="{7DAF7A2C-5436-38A0-6CEB-6AF73A59D9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1614627"/>
            <a:ext cx="393700" cy="393700"/>
          </a:xfrm>
          <a:prstGeom prst="rect">
            <a:avLst/>
          </a:prstGeom>
        </p:spPr>
      </p:pic>
      <p:pic>
        <p:nvPicPr>
          <p:cNvPr id="20" name="Content Placeholder 11" descr="Closed book outline">
            <a:extLst>
              <a:ext uri="{FF2B5EF4-FFF2-40B4-BE49-F238E27FC236}">
                <a16:creationId xmlns:a16="http://schemas.microsoft.com/office/drawing/2014/main" id="{F37A5B21-41F1-2D2C-639B-2643346A5F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1614627"/>
            <a:ext cx="393700" cy="393700"/>
          </a:xfrm>
          <a:prstGeom prst="rect">
            <a:avLst/>
          </a:prstGeom>
        </p:spPr>
      </p:pic>
      <p:pic>
        <p:nvPicPr>
          <p:cNvPr id="21" name="Content Placeholder 11" descr="Closed book outline">
            <a:extLst>
              <a:ext uri="{FF2B5EF4-FFF2-40B4-BE49-F238E27FC236}">
                <a16:creationId xmlns:a16="http://schemas.microsoft.com/office/drawing/2014/main" id="{19B2A0D2-9327-4DE5-5489-03F74581EF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1614627"/>
            <a:ext cx="393700" cy="393700"/>
          </a:xfrm>
          <a:prstGeom prst="rect">
            <a:avLst/>
          </a:prstGeom>
        </p:spPr>
      </p:pic>
      <p:pic>
        <p:nvPicPr>
          <p:cNvPr id="22" name="Content Placeholder 11" descr="Closed book outline">
            <a:extLst>
              <a:ext uri="{FF2B5EF4-FFF2-40B4-BE49-F238E27FC236}">
                <a16:creationId xmlns:a16="http://schemas.microsoft.com/office/drawing/2014/main" id="{7EFCFC85-4130-D4CD-AB04-AD5FCA0264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021027"/>
            <a:ext cx="393700" cy="393700"/>
          </a:xfrm>
          <a:prstGeom prst="rect">
            <a:avLst/>
          </a:prstGeom>
        </p:spPr>
      </p:pic>
      <p:pic>
        <p:nvPicPr>
          <p:cNvPr id="23" name="Content Placeholder 11" descr="Closed book outline">
            <a:extLst>
              <a:ext uri="{FF2B5EF4-FFF2-40B4-BE49-F238E27FC236}">
                <a16:creationId xmlns:a16="http://schemas.microsoft.com/office/drawing/2014/main" id="{751763C7-BE79-49EE-22B5-AA45D5877C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021027"/>
            <a:ext cx="393700" cy="393700"/>
          </a:xfrm>
          <a:prstGeom prst="rect">
            <a:avLst/>
          </a:prstGeom>
        </p:spPr>
      </p:pic>
      <p:pic>
        <p:nvPicPr>
          <p:cNvPr id="24" name="Content Placeholder 11" descr="Closed book outline">
            <a:extLst>
              <a:ext uri="{FF2B5EF4-FFF2-40B4-BE49-F238E27FC236}">
                <a16:creationId xmlns:a16="http://schemas.microsoft.com/office/drawing/2014/main" id="{5AA28918-8C9E-E9E4-422E-C607844E66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021027"/>
            <a:ext cx="393700" cy="393700"/>
          </a:xfrm>
          <a:prstGeom prst="rect">
            <a:avLst/>
          </a:prstGeom>
        </p:spPr>
      </p:pic>
      <p:pic>
        <p:nvPicPr>
          <p:cNvPr id="25" name="Content Placeholder 11" descr="Closed book outline">
            <a:extLst>
              <a:ext uri="{FF2B5EF4-FFF2-40B4-BE49-F238E27FC236}">
                <a16:creationId xmlns:a16="http://schemas.microsoft.com/office/drawing/2014/main" id="{245DACA9-5FB5-445A-9855-9E257EFF9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021027"/>
            <a:ext cx="393700" cy="393700"/>
          </a:xfrm>
          <a:prstGeom prst="rect">
            <a:avLst/>
          </a:prstGeom>
        </p:spPr>
      </p:pic>
      <p:pic>
        <p:nvPicPr>
          <p:cNvPr id="26" name="Content Placeholder 11" descr="Closed book outline">
            <a:extLst>
              <a:ext uri="{FF2B5EF4-FFF2-40B4-BE49-F238E27FC236}">
                <a16:creationId xmlns:a16="http://schemas.microsoft.com/office/drawing/2014/main" id="{D8F4DE18-42F6-0BB7-C63A-BC6F4509D0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021821"/>
            <a:ext cx="393700" cy="393700"/>
          </a:xfrm>
          <a:prstGeom prst="rect">
            <a:avLst/>
          </a:prstGeom>
        </p:spPr>
      </p:pic>
      <p:pic>
        <p:nvPicPr>
          <p:cNvPr id="27" name="Content Placeholder 11" descr="Closed book outline">
            <a:extLst>
              <a:ext uri="{FF2B5EF4-FFF2-40B4-BE49-F238E27FC236}">
                <a16:creationId xmlns:a16="http://schemas.microsoft.com/office/drawing/2014/main" id="{C118D6A4-2FDB-7D39-A924-312A059750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021821"/>
            <a:ext cx="393700" cy="393700"/>
          </a:xfrm>
          <a:prstGeom prst="rect">
            <a:avLst/>
          </a:prstGeom>
        </p:spPr>
      </p:pic>
      <p:pic>
        <p:nvPicPr>
          <p:cNvPr id="28" name="Content Placeholder 11" descr="Closed book outline">
            <a:extLst>
              <a:ext uri="{FF2B5EF4-FFF2-40B4-BE49-F238E27FC236}">
                <a16:creationId xmlns:a16="http://schemas.microsoft.com/office/drawing/2014/main" id="{A421E78A-E2BB-C907-16CE-02CE9B3EC0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021027"/>
            <a:ext cx="393700" cy="393700"/>
          </a:xfrm>
          <a:prstGeom prst="rect">
            <a:avLst/>
          </a:prstGeom>
        </p:spPr>
      </p:pic>
      <p:pic>
        <p:nvPicPr>
          <p:cNvPr id="29" name="Content Placeholder 11" descr="Closed book outline">
            <a:extLst>
              <a:ext uri="{FF2B5EF4-FFF2-40B4-BE49-F238E27FC236}">
                <a16:creationId xmlns:a16="http://schemas.microsoft.com/office/drawing/2014/main" id="{C8669D82-BA42-1128-4AD2-E848902DD6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021027"/>
            <a:ext cx="393700" cy="393700"/>
          </a:xfrm>
          <a:prstGeom prst="rect">
            <a:avLst/>
          </a:prstGeom>
        </p:spPr>
      </p:pic>
      <p:pic>
        <p:nvPicPr>
          <p:cNvPr id="30" name="Content Placeholder 11" descr="Closed book outline">
            <a:extLst>
              <a:ext uri="{FF2B5EF4-FFF2-40B4-BE49-F238E27FC236}">
                <a16:creationId xmlns:a16="http://schemas.microsoft.com/office/drawing/2014/main" id="{A7AFFE81-48A8-37C8-D995-92546B7AD5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021027"/>
            <a:ext cx="393700" cy="393700"/>
          </a:xfrm>
          <a:prstGeom prst="rect">
            <a:avLst/>
          </a:prstGeom>
        </p:spPr>
      </p:pic>
      <p:pic>
        <p:nvPicPr>
          <p:cNvPr id="31" name="Content Placeholder 11" descr="Closed book outline">
            <a:extLst>
              <a:ext uri="{FF2B5EF4-FFF2-40B4-BE49-F238E27FC236}">
                <a16:creationId xmlns:a16="http://schemas.microsoft.com/office/drawing/2014/main" id="{F492BAA7-29E1-5E68-A207-50B3CF4CD1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021027"/>
            <a:ext cx="393700" cy="393700"/>
          </a:xfrm>
          <a:prstGeom prst="rect">
            <a:avLst/>
          </a:prstGeom>
        </p:spPr>
      </p:pic>
      <p:pic>
        <p:nvPicPr>
          <p:cNvPr id="50" name="Content Placeholder 11" descr="Closed book outline">
            <a:extLst>
              <a:ext uri="{FF2B5EF4-FFF2-40B4-BE49-F238E27FC236}">
                <a16:creationId xmlns:a16="http://schemas.microsoft.com/office/drawing/2014/main" id="{F4ADFF95-18EA-FE69-42B5-D7FA649073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439333"/>
            <a:ext cx="393700" cy="393700"/>
          </a:xfrm>
          <a:prstGeom prst="rect">
            <a:avLst/>
          </a:prstGeom>
        </p:spPr>
      </p:pic>
      <p:pic>
        <p:nvPicPr>
          <p:cNvPr id="51" name="Content Placeholder 11" descr="Closed book outline">
            <a:extLst>
              <a:ext uri="{FF2B5EF4-FFF2-40B4-BE49-F238E27FC236}">
                <a16:creationId xmlns:a16="http://schemas.microsoft.com/office/drawing/2014/main" id="{9C71CE5D-2971-A455-C48F-A0C32106F6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439333"/>
            <a:ext cx="393700" cy="393700"/>
          </a:xfrm>
          <a:prstGeom prst="rect">
            <a:avLst/>
          </a:prstGeom>
        </p:spPr>
      </p:pic>
      <p:pic>
        <p:nvPicPr>
          <p:cNvPr id="52" name="Content Placeholder 11" descr="Closed book outline">
            <a:extLst>
              <a:ext uri="{FF2B5EF4-FFF2-40B4-BE49-F238E27FC236}">
                <a16:creationId xmlns:a16="http://schemas.microsoft.com/office/drawing/2014/main" id="{E94F7C0E-76BF-B857-7DDC-F08A6B87F6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439333"/>
            <a:ext cx="393700" cy="393700"/>
          </a:xfrm>
          <a:prstGeom prst="rect">
            <a:avLst/>
          </a:prstGeom>
        </p:spPr>
      </p:pic>
      <p:pic>
        <p:nvPicPr>
          <p:cNvPr id="53" name="Content Placeholder 11" descr="Closed book outline">
            <a:extLst>
              <a:ext uri="{FF2B5EF4-FFF2-40B4-BE49-F238E27FC236}">
                <a16:creationId xmlns:a16="http://schemas.microsoft.com/office/drawing/2014/main" id="{44D11AA8-1567-C240-77E7-55734A61B5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439333"/>
            <a:ext cx="393700" cy="393700"/>
          </a:xfrm>
          <a:prstGeom prst="rect">
            <a:avLst/>
          </a:prstGeom>
        </p:spPr>
      </p:pic>
      <p:pic>
        <p:nvPicPr>
          <p:cNvPr id="54" name="Content Placeholder 11" descr="Closed book outline">
            <a:extLst>
              <a:ext uri="{FF2B5EF4-FFF2-40B4-BE49-F238E27FC236}">
                <a16:creationId xmlns:a16="http://schemas.microsoft.com/office/drawing/2014/main" id="{3C0AEFE2-2734-CB66-9C58-E4455B6376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440127"/>
            <a:ext cx="393700" cy="393700"/>
          </a:xfrm>
          <a:prstGeom prst="rect">
            <a:avLst/>
          </a:prstGeom>
        </p:spPr>
      </p:pic>
      <p:pic>
        <p:nvPicPr>
          <p:cNvPr id="55" name="Content Placeholder 11" descr="Closed book outline">
            <a:extLst>
              <a:ext uri="{FF2B5EF4-FFF2-40B4-BE49-F238E27FC236}">
                <a16:creationId xmlns:a16="http://schemas.microsoft.com/office/drawing/2014/main" id="{D4CF60C0-6EE9-E9E3-22F5-8FC6A484EC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440127"/>
            <a:ext cx="393700" cy="393700"/>
          </a:xfrm>
          <a:prstGeom prst="rect">
            <a:avLst/>
          </a:prstGeom>
        </p:spPr>
      </p:pic>
      <p:pic>
        <p:nvPicPr>
          <p:cNvPr id="56" name="Content Placeholder 11" descr="Closed book outline">
            <a:extLst>
              <a:ext uri="{FF2B5EF4-FFF2-40B4-BE49-F238E27FC236}">
                <a16:creationId xmlns:a16="http://schemas.microsoft.com/office/drawing/2014/main" id="{7CD26031-C36D-576C-7F94-D337170A81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439333"/>
            <a:ext cx="393700" cy="393700"/>
          </a:xfrm>
          <a:prstGeom prst="rect">
            <a:avLst/>
          </a:prstGeom>
        </p:spPr>
      </p:pic>
      <p:pic>
        <p:nvPicPr>
          <p:cNvPr id="57" name="Content Placeholder 11" descr="Closed book outline">
            <a:extLst>
              <a:ext uri="{FF2B5EF4-FFF2-40B4-BE49-F238E27FC236}">
                <a16:creationId xmlns:a16="http://schemas.microsoft.com/office/drawing/2014/main" id="{9935DC3A-A76B-0221-6C0F-1909CC8E41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439333"/>
            <a:ext cx="393700" cy="393700"/>
          </a:xfrm>
          <a:prstGeom prst="rect">
            <a:avLst/>
          </a:prstGeom>
        </p:spPr>
      </p:pic>
      <p:pic>
        <p:nvPicPr>
          <p:cNvPr id="58" name="Content Placeholder 11" descr="Closed book outline">
            <a:extLst>
              <a:ext uri="{FF2B5EF4-FFF2-40B4-BE49-F238E27FC236}">
                <a16:creationId xmlns:a16="http://schemas.microsoft.com/office/drawing/2014/main" id="{D80FC3B6-EC99-7B11-60A8-D39397FCA6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439333"/>
            <a:ext cx="393700" cy="393700"/>
          </a:xfrm>
          <a:prstGeom prst="rect">
            <a:avLst/>
          </a:prstGeom>
        </p:spPr>
      </p:pic>
      <p:pic>
        <p:nvPicPr>
          <p:cNvPr id="59" name="Content Placeholder 11" descr="Closed book outline">
            <a:extLst>
              <a:ext uri="{FF2B5EF4-FFF2-40B4-BE49-F238E27FC236}">
                <a16:creationId xmlns:a16="http://schemas.microsoft.com/office/drawing/2014/main" id="{9AFE0AFD-0194-8318-4268-7D4E946BF2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439333"/>
            <a:ext cx="393700" cy="393700"/>
          </a:xfrm>
          <a:prstGeom prst="rect">
            <a:avLst/>
          </a:prstGeom>
        </p:spPr>
      </p:pic>
      <p:pic>
        <p:nvPicPr>
          <p:cNvPr id="60" name="Content Placeholder 11" descr="Closed book outline">
            <a:extLst>
              <a:ext uri="{FF2B5EF4-FFF2-40B4-BE49-F238E27FC236}">
                <a16:creationId xmlns:a16="http://schemas.microsoft.com/office/drawing/2014/main" id="{A5AC852A-D368-0EAD-939F-78FBF97E28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2845733"/>
            <a:ext cx="393700" cy="393700"/>
          </a:xfrm>
          <a:prstGeom prst="rect">
            <a:avLst/>
          </a:prstGeom>
        </p:spPr>
      </p:pic>
      <p:pic>
        <p:nvPicPr>
          <p:cNvPr id="61" name="Content Placeholder 11" descr="Closed book outline">
            <a:extLst>
              <a:ext uri="{FF2B5EF4-FFF2-40B4-BE49-F238E27FC236}">
                <a16:creationId xmlns:a16="http://schemas.microsoft.com/office/drawing/2014/main" id="{E9099820-3232-3951-BB35-9EFC306173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2845733"/>
            <a:ext cx="393700" cy="393700"/>
          </a:xfrm>
          <a:prstGeom prst="rect">
            <a:avLst/>
          </a:prstGeom>
        </p:spPr>
      </p:pic>
      <p:pic>
        <p:nvPicPr>
          <p:cNvPr id="62" name="Content Placeholder 11" descr="Closed book outline">
            <a:extLst>
              <a:ext uri="{FF2B5EF4-FFF2-40B4-BE49-F238E27FC236}">
                <a16:creationId xmlns:a16="http://schemas.microsoft.com/office/drawing/2014/main" id="{66FACC57-E0BC-D364-974A-467113F420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2845733"/>
            <a:ext cx="393700" cy="393700"/>
          </a:xfrm>
          <a:prstGeom prst="rect">
            <a:avLst/>
          </a:prstGeom>
        </p:spPr>
      </p:pic>
      <p:pic>
        <p:nvPicPr>
          <p:cNvPr id="63" name="Content Placeholder 11" descr="Closed book outline">
            <a:extLst>
              <a:ext uri="{FF2B5EF4-FFF2-40B4-BE49-F238E27FC236}">
                <a16:creationId xmlns:a16="http://schemas.microsoft.com/office/drawing/2014/main" id="{392E9C42-ED03-7558-88D4-EBBE7A4798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2845733"/>
            <a:ext cx="393700" cy="393700"/>
          </a:xfrm>
          <a:prstGeom prst="rect">
            <a:avLst/>
          </a:prstGeom>
        </p:spPr>
      </p:pic>
      <p:pic>
        <p:nvPicPr>
          <p:cNvPr id="64" name="Content Placeholder 11" descr="Closed book outline">
            <a:extLst>
              <a:ext uri="{FF2B5EF4-FFF2-40B4-BE49-F238E27FC236}">
                <a16:creationId xmlns:a16="http://schemas.microsoft.com/office/drawing/2014/main" id="{6135E66C-7254-1153-1F87-7DEE01B07D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2846527"/>
            <a:ext cx="393700" cy="393700"/>
          </a:xfrm>
          <a:prstGeom prst="rect">
            <a:avLst/>
          </a:prstGeom>
        </p:spPr>
      </p:pic>
      <p:pic>
        <p:nvPicPr>
          <p:cNvPr id="65" name="Content Placeholder 11" descr="Closed book outline">
            <a:extLst>
              <a:ext uri="{FF2B5EF4-FFF2-40B4-BE49-F238E27FC236}">
                <a16:creationId xmlns:a16="http://schemas.microsoft.com/office/drawing/2014/main" id="{6715AA4A-7754-0749-AD4C-6814A30872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2846527"/>
            <a:ext cx="393700" cy="393700"/>
          </a:xfrm>
          <a:prstGeom prst="rect">
            <a:avLst/>
          </a:prstGeom>
        </p:spPr>
      </p:pic>
      <p:pic>
        <p:nvPicPr>
          <p:cNvPr id="66" name="Content Placeholder 11" descr="Closed book outline">
            <a:extLst>
              <a:ext uri="{FF2B5EF4-FFF2-40B4-BE49-F238E27FC236}">
                <a16:creationId xmlns:a16="http://schemas.microsoft.com/office/drawing/2014/main" id="{694D5790-4018-1A68-3B4E-5DDBC9E78D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2845733"/>
            <a:ext cx="393700" cy="393700"/>
          </a:xfrm>
          <a:prstGeom prst="rect">
            <a:avLst/>
          </a:prstGeom>
        </p:spPr>
      </p:pic>
      <p:pic>
        <p:nvPicPr>
          <p:cNvPr id="67" name="Content Placeholder 11" descr="Closed book outline">
            <a:extLst>
              <a:ext uri="{FF2B5EF4-FFF2-40B4-BE49-F238E27FC236}">
                <a16:creationId xmlns:a16="http://schemas.microsoft.com/office/drawing/2014/main" id="{3335AC97-2280-31F4-80F6-82E7D45BA6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2845733"/>
            <a:ext cx="393700" cy="393700"/>
          </a:xfrm>
          <a:prstGeom prst="rect">
            <a:avLst/>
          </a:prstGeom>
        </p:spPr>
      </p:pic>
      <p:pic>
        <p:nvPicPr>
          <p:cNvPr id="68" name="Content Placeholder 11" descr="Closed book outline">
            <a:extLst>
              <a:ext uri="{FF2B5EF4-FFF2-40B4-BE49-F238E27FC236}">
                <a16:creationId xmlns:a16="http://schemas.microsoft.com/office/drawing/2014/main" id="{270DFF8D-C459-5D0A-685F-5782ECD90C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2845733"/>
            <a:ext cx="393700" cy="393700"/>
          </a:xfrm>
          <a:prstGeom prst="rect">
            <a:avLst/>
          </a:prstGeom>
        </p:spPr>
      </p:pic>
      <p:pic>
        <p:nvPicPr>
          <p:cNvPr id="69" name="Content Placeholder 11" descr="Closed book outline">
            <a:extLst>
              <a:ext uri="{FF2B5EF4-FFF2-40B4-BE49-F238E27FC236}">
                <a16:creationId xmlns:a16="http://schemas.microsoft.com/office/drawing/2014/main" id="{145A908F-AF1F-B6EC-1F45-EC555B2584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2845733"/>
            <a:ext cx="393700" cy="393700"/>
          </a:xfrm>
          <a:prstGeom prst="rect">
            <a:avLst/>
          </a:prstGeom>
        </p:spPr>
      </p:pic>
      <p:pic>
        <p:nvPicPr>
          <p:cNvPr id="70" name="Content Placeholder 11" descr="Closed book outline">
            <a:extLst>
              <a:ext uri="{FF2B5EF4-FFF2-40B4-BE49-F238E27FC236}">
                <a16:creationId xmlns:a16="http://schemas.microsoft.com/office/drawing/2014/main" id="{35B5A39E-3A50-657E-63E1-1587F312CC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3225146"/>
            <a:ext cx="393700" cy="393700"/>
          </a:xfrm>
          <a:prstGeom prst="rect">
            <a:avLst/>
          </a:prstGeom>
        </p:spPr>
      </p:pic>
      <p:pic>
        <p:nvPicPr>
          <p:cNvPr id="71" name="Content Placeholder 11" descr="Closed book outline">
            <a:extLst>
              <a:ext uri="{FF2B5EF4-FFF2-40B4-BE49-F238E27FC236}">
                <a16:creationId xmlns:a16="http://schemas.microsoft.com/office/drawing/2014/main" id="{1C3DBBEC-2426-F915-3802-194642C0EB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3225146"/>
            <a:ext cx="393700" cy="393700"/>
          </a:xfrm>
          <a:prstGeom prst="rect">
            <a:avLst/>
          </a:prstGeom>
        </p:spPr>
      </p:pic>
      <p:pic>
        <p:nvPicPr>
          <p:cNvPr id="72" name="Content Placeholder 11" descr="Closed book outline">
            <a:extLst>
              <a:ext uri="{FF2B5EF4-FFF2-40B4-BE49-F238E27FC236}">
                <a16:creationId xmlns:a16="http://schemas.microsoft.com/office/drawing/2014/main" id="{2C90B055-47DD-678D-8905-3E8CE903F9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3225146"/>
            <a:ext cx="393700" cy="393700"/>
          </a:xfrm>
          <a:prstGeom prst="rect">
            <a:avLst/>
          </a:prstGeom>
        </p:spPr>
      </p:pic>
      <p:pic>
        <p:nvPicPr>
          <p:cNvPr id="73" name="Content Placeholder 11" descr="Closed book outline">
            <a:extLst>
              <a:ext uri="{FF2B5EF4-FFF2-40B4-BE49-F238E27FC236}">
                <a16:creationId xmlns:a16="http://schemas.microsoft.com/office/drawing/2014/main" id="{78D76976-C78E-F740-0A11-1389F980A7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3225146"/>
            <a:ext cx="393700" cy="393700"/>
          </a:xfrm>
          <a:prstGeom prst="rect">
            <a:avLst/>
          </a:prstGeom>
        </p:spPr>
      </p:pic>
      <p:pic>
        <p:nvPicPr>
          <p:cNvPr id="74" name="Content Placeholder 11" descr="Closed book outline">
            <a:extLst>
              <a:ext uri="{FF2B5EF4-FFF2-40B4-BE49-F238E27FC236}">
                <a16:creationId xmlns:a16="http://schemas.microsoft.com/office/drawing/2014/main" id="{E03A44CD-E052-31D1-E8D9-62887F09B0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3225940"/>
            <a:ext cx="393700" cy="393700"/>
          </a:xfrm>
          <a:prstGeom prst="rect">
            <a:avLst/>
          </a:prstGeom>
        </p:spPr>
      </p:pic>
      <p:pic>
        <p:nvPicPr>
          <p:cNvPr id="75" name="Content Placeholder 11" descr="Closed book outline">
            <a:extLst>
              <a:ext uri="{FF2B5EF4-FFF2-40B4-BE49-F238E27FC236}">
                <a16:creationId xmlns:a16="http://schemas.microsoft.com/office/drawing/2014/main" id="{6701F20C-B1A5-DB0E-381E-91F41674B3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3225940"/>
            <a:ext cx="393700" cy="393700"/>
          </a:xfrm>
          <a:prstGeom prst="rect">
            <a:avLst/>
          </a:prstGeom>
        </p:spPr>
      </p:pic>
      <p:pic>
        <p:nvPicPr>
          <p:cNvPr id="76" name="Content Placeholder 11" descr="Closed book outline">
            <a:extLst>
              <a:ext uri="{FF2B5EF4-FFF2-40B4-BE49-F238E27FC236}">
                <a16:creationId xmlns:a16="http://schemas.microsoft.com/office/drawing/2014/main" id="{E147B416-F77E-E183-7D37-EDDF52D4C5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3225146"/>
            <a:ext cx="393700" cy="393700"/>
          </a:xfrm>
          <a:prstGeom prst="rect">
            <a:avLst/>
          </a:prstGeom>
        </p:spPr>
      </p:pic>
      <p:pic>
        <p:nvPicPr>
          <p:cNvPr id="77" name="Content Placeholder 11" descr="Closed book outline">
            <a:extLst>
              <a:ext uri="{FF2B5EF4-FFF2-40B4-BE49-F238E27FC236}">
                <a16:creationId xmlns:a16="http://schemas.microsoft.com/office/drawing/2014/main" id="{ACB33748-346E-00BC-398F-C4E1736198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3225146"/>
            <a:ext cx="393700" cy="393700"/>
          </a:xfrm>
          <a:prstGeom prst="rect">
            <a:avLst/>
          </a:prstGeom>
        </p:spPr>
      </p:pic>
      <p:pic>
        <p:nvPicPr>
          <p:cNvPr id="78" name="Content Placeholder 11" descr="Closed book outline">
            <a:extLst>
              <a:ext uri="{FF2B5EF4-FFF2-40B4-BE49-F238E27FC236}">
                <a16:creationId xmlns:a16="http://schemas.microsoft.com/office/drawing/2014/main" id="{F835DB1F-D70B-96AC-9ADC-ECDF92BE7F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3225146"/>
            <a:ext cx="393700" cy="393700"/>
          </a:xfrm>
          <a:prstGeom prst="rect">
            <a:avLst/>
          </a:prstGeom>
        </p:spPr>
      </p:pic>
      <p:pic>
        <p:nvPicPr>
          <p:cNvPr id="79" name="Content Placeholder 11" descr="Closed book outline">
            <a:extLst>
              <a:ext uri="{FF2B5EF4-FFF2-40B4-BE49-F238E27FC236}">
                <a16:creationId xmlns:a16="http://schemas.microsoft.com/office/drawing/2014/main" id="{72EDB8F2-613E-66A3-7ECB-AF20510A53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3225146"/>
            <a:ext cx="393700" cy="393700"/>
          </a:xfrm>
          <a:prstGeom prst="rect">
            <a:avLst/>
          </a:prstGeom>
        </p:spPr>
      </p:pic>
      <p:pic>
        <p:nvPicPr>
          <p:cNvPr id="80" name="Content Placeholder 11" descr="Closed book outline">
            <a:extLst>
              <a:ext uri="{FF2B5EF4-FFF2-40B4-BE49-F238E27FC236}">
                <a16:creationId xmlns:a16="http://schemas.microsoft.com/office/drawing/2014/main" id="{85986289-58EF-F005-EB78-5B1322D188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3631546"/>
            <a:ext cx="393700" cy="393700"/>
          </a:xfrm>
          <a:prstGeom prst="rect">
            <a:avLst/>
          </a:prstGeom>
        </p:spPr>
      </p:pic>
      <p:pic>
        <p:nvPicPr>
          <p:cNvPr id="81" name="Content Placeholder 11" descr="Closed book outline">
            <a:extLst>
              <a:ext uri="{FF2B5EF4-FFF2-40B4-BE49-F238E27FC236}">
                <a16:creationId xmlns:a16="http://schemas.microsoft.com/office/drawing/2014/main" id="{8FCE36C3-0CC6-6442-90EA-56CCDC4B7C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3631546"/>
            <a:ext cx="393700" cy="393700"/>
          </a:xfrm>
          <a:prstGeom prst="rect">
            <a:avLst/>
          </a:prstGeom>
        </p:spPr>
      </p:pic>
      <p:pic>
        <p:nvPicPr>
          <p:cNvPr id="82" name="Content Placeholder 11" descr="Closed book outline">
            <a:extLst>
              <a:ext uri="{FF2B5EF4-FFF2-40B4-BE49-F238E27FC236}">
                <a16:creationId xmlns:a16="http://schemas.microsoft.com/office/drawing/2014/main" id="{95D7DBCD-7547-9440-9505-02E13850C4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3631546"/>
            <a:ext cx="393700" cy="393700"/>
          </a:xfrm>
          <a:prstGeom prst="rect">
            <a:avLst/>
          </a:prstGeom>
        </p:spPr>
      </p:pic>
      <p:pic>
        <p:nvPicPr>
          <p:cNvPr id="83" name="Content Placeholder 11" descr="Closed book outline">
            <a:extLst>
              <a:ext uri="{FF2B5EF4-FFF2-40B4-BE49-F238E27FC236}">
                <a16:creationId xmlns:a16="http://schemas.microsoft.com/office/drawing/2014/main" id="{8250A70A-7EE6-44FA-D282-7F599AB5A6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3631546"/>
            <a:ext cx="393700" cy="393700"/>
          </a:xfrm>
          <a:prstGeom prst="rect">
            <a:avLst/>
          </a:prstGeom>
        </p:spPr>
      </p:pic>
      <p:pic>
        <p:nvPicPr>
          <p:cNvPr id="84" name="Content Placeholder 11" descr="Closed book outline">
            <a:extLst>
              <a:ext uri="{FF2B5EF4-FFF2-40B4-BE49-F238E27FC236}">
                <a16:creationId xmlns:a16="http://schemas.microsoft.com/office/drawing/2014/main" id="{8772491C-8BA6-0D8A-5B32-19C3639F98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3632340"/>
            <a:ext cx="393700" cy="393700"/>
          </a:xfrm>
          <a:prstGeom prst="rect">
            <a:avLst/>
          </a:prstGeom>
        </p:spPr>
      </p:pic>
      <p:pic>
        <p:nvPicPr>
          <p:cNvPr id="85" name="Content Placeholder 11" descr="Closed book outline">
            <a:extLst>
              <a:ext uri="{FF2B5EF4-FFF2-40B4-BE49-F238E27FC236}">
                <a16:creationId xmlns:a16="http://schemas.microsoft.com/office/drawing/2014/main" id="{2E54CE4F-05AD-12C7-BA9E-D2E13812D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3632340"/>
            <a:ext cx="393700" cy="393700"/>
          </a:xfrm>
          <a:prstGeom prst="rect">
            <a:avLst/>
          </a:prstGeom>
        </p:spPr>
      </p:pic>
      <p:pic>
        <p:nvPicPr>
          <p:cNvPr id="86" name="Content Placeholder 11" descr="Closed book outline">
            <a:extLst>
              <a:ext uri="{FF2B5EF4-FFF2-40B4-BE49-F238E27FC236}">
                <a16:creationId xmlns:a16="http://schemas.microsoft.com/office/drawing/2014/main" id="{CF0B8B9C-F00B-AD7D-5F8D-C575F8BD32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3631546"/>
            <a:ext cx="393700" cy="393700"/>
          </a:xfrm>
          <a:prstGeom prst="rect">
            <a:avLst/>
          </a:prstGeom>
        </p:spPr>
      </p:pic>
      <p:pic>
        <p:nvPicPr>
          <p:cNvPr id="87" name="Content Placeholder 11" descr="Closed book outline">
            <a:extLst>
              <a:ext uri="{FF2B5EF4-FFF2-40B4-BE49-F238E27FC236}">
                <a16:creationId xmlns:a16="http://schemas.microsoft.com/office/drawing/2014/main" id="{42DE35CC-1FE9-3496-5D49-DCDE6CA76A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3631546"/>
            <a:ext cx="393700" cy="393700"/>
          </a:xfrm>
          <a:prstGeom prst="rect">
            <a:avLst/>
          </a:prstGeom>
        </p:spPr>
      </p:pic>
      <p:pic>
        <p:nvPicPr>
          <p:cNvPr id="88" name="Content Placeholder 11" descr="Closed book outline">
            <a:extLst>
              <a:ext uri="{FF2B5EF4-FFF2-40B4-BE49-F238E27FC236}">
                <a16:creationId xmlns:a16="http://schemas.microsoft.com/office/drawing/2014/main" id="{9DBD5E6B-28E2-8F9D-3743-9BB0038F40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3631546"/>
            <a:ext cx="393700" cy="393700"/>
          </a:xfrm>
          <a:prstGeom prst="rect">
            <a:avLst/>
          </a:prstGeom>
        </p:spPr>
      </p:pic>
      <p:pic>
        <p:nvPicPr>
          <p:cNvPr id="89" name="Content Placeholder 11" descr="Closed book outline">
            <a:extLst>
              <a:ext uri="{FF2B5EF4-FFF2-40B4-BE49-F238E27FC236}">
                <a16:creationId xmlns:a16="http://schemas.microsoft.com/office/drawing/2014/main" id="{704F7AF1-B0F3-1E4B-265B-73BB1DC611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3631546"/>
            <a:ext cx="393700" cy="393700"/>
          </a:xfrm>
          <a:prstGeom prst="rect">
            <a:avLst/>
          </a:prstGeom>
        </p:spPr>
      </p:pic>
      <p:pic>
        <p:nvPicPr>
          <p:cNvPr id="90" name="Content Placeholder 11" descr="Closed book outline">
            <a:extLst>
              <a:ext uri="{FF2B5EF4-FFF2-40B4-BE49-F238E27FC236}">
                <a16:creationId xmlns:a16="http://schemas.microsoft.com/office/drawing/2014/main" id="{78EC57FF-E5F7-6B2A-0911-2DF294B5B1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049852"/>
            <a:ext cx="393700" cy="393700"/>
          </a:xfrm>
          <a:prstGeom prst="rect">
            <a:avLst/>
          </a:prstGeom>
        </p:spPr>
      </p:pic>
      <p:pic>
        <p:nvPicPr>
          <p:cNvPr id="91" name="Content Placeholder 11" descr="Closed book outline">
            <a:extLst>
              <a:ext uri="{FF2B5EF4-FFF2-40B4-BE49-F238E27FC236}">
                <a16:creationId xmlns:a16="http://schemas.microsoft.com/office/drawing/2014/main" id="{2B8EC92D-B1B9-0D63-A9F5-896C6D52C5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049852"/>
            <a:ext cx="393700" cy="393700"/>
          </a:xfrm>
          <a:prstGeom prst="rect">
            <a:avLst/>
          </a:prstGeom>
        </p:spPr>
      </p:pic>
      <p:pic>
        <p:nvPicPr>
          <p:cNvPr id="92" name="Content Placeholder 11" descr="Closed book outline">
            <a:extLst>
              <a:ext uri="{FF2B5EF4-FFF2-40B4-BE49-F238E27FC236}">
                <a16:creationId xmlns:a16="http://schemas.microsoft.com/office/drawing/2014/main" id="{3E8385FC-489C-B954-CF67-9C8D3F2107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049852"/>
            <a:ext cx="393700" cy="393700"/>
          </a:xfrm>
          <a:prstGeom prst="rect">
            <a:avLst/>
          </a:prstGeom>
        </p:spPr>
      </p:pic>
      <p:pic>
        <p:nvPicPr>
          <p:cNvPr id="93" name="Content Placeholder 11" descr="Closed book outline">
            <a:extLst>
              <a:ext uri="{FF2B5EF4-FFF2-40B4-BE49-F238E27FC236}">
                <a16:creationId xmlns:a16="http://schemas.microsoft.com/office/drawing/2014/main" id="{68B52841-57D9-91DB-1A03-2FE8525737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049852"/>
            <a:ext cx="393700" cy="393700"/>
          </a:xfrm>
          <a:prstGeom prst="rect">
            <a:avLst/>
          </a:prstGeom>
        </p:spPr>
      </p:pic>
      <p:pic>
        <p:nvPicPr>
          <p:cNvPr id="94" name="Content Placeholder 11" descr="Closed book outline">
            <a:extLst>
              <a:ext uri="{FF2B5EF4-FFF2-40B4-BE49-F238E27FC236}">
                <a16:creationId xmlns:a16="http://schemas.microsoft.com/office/drawing/2014/main" id="{ECC40F94-7EF8-C015-83BA-0C02C24704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050646"/>
            <a:ext cx="393700" cy="393700"/>
          </a:xfrm>
          <a:prstGeom prst="rect">
            <a:avLst/>
          </a:prstGeom>
        </p:spPr>
      </p:pic>
      <p:pic>
        <p:nvPicPr>
          <p:cNvPr id="95" name="Content Placeholder 11" descr="Closed book outline">
            <a:extLst>
              <a:ext uri="{FF2B5EF4-FFF2-40B4-BE49-F238E27FC236}">
                <a16:creationId xmlns:a16="http://schemas.microsoft.com/office/drawing/2014/main" id="{2FCB7446-F7BE-8C3B-389B-48FABE4F72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050646"/>
            <a:ext cx="393700" cy="393700"/>
          </a:xfrm>
          <a:prstGeom prst="rect">
            <a:avLst/>
          </a:prstGeom>
        </p:spPr>
      </p:pic>
      <p:pic>
        <p:nvPicPr>
          <p:cNvPr id="96" name="Content Placeholder 11" descr="Closed book outline">
            <a:extLst>
              <a:ext uri="{FF2B5EF4-FFF2-40B4-BE49-F238E27FC236}">
                <a16:creationId xmlns:a16="http://schemas.microsoft.com/office/drawing/2014/main" id="{88763DFD-9149-BB6B-C4A6-F6892FC5BB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049852"/>
            <a:ext cx="393700" cy="393700"/>
          </a:xfrm>
          <a:prstGeom prst="rect">
            <a:avLst/>
          </a:prstGeom>
        </p:spPr>
      </p:pic>
      <p:pic>
        <p:nvPicPr>
          <p:cNvPr id="97" name="Content Placeholder 11" descr="Closed book outline">
            <a:extLst>
              <a:ext uri="{FF2B5EF4-FFF2-40B4-BE49-F238E27FC236}">
                <a16:creationId xmlns:a16="http://schemas.microsoft.com/office/drawing/2014/main" id="{7B1C5600-13BC-CD27-900A-2E25884C55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049852"/>
            <a:ext cx="393700" cy="393700"/>
          </a:xfrm>
          <a:prstGeom prst="rect">
            <a:avLst/>
          </a:prstGeom>
        </p:spPr>
      </p:pic>
      <p:pic>
        <p:nvPicPr>
          <p:cNvPr id="98" name="Content Placeholder 11" descr="Closed book outline">
            <a:extLst>
              <a:ext uri="{FF2B5EF4-FFF2-40B4-BE49-F238E27FC236}">
                <a16:creationId xmlns:a16="http://schemas.microsoft.com/office/drawing/2014/main" id="{E28851C9-D97E-C12D-518C-767382B5A4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049852"/>
            <a:ext cx="393700" cy="393700"/>
          </a:xfrm>
          <a:prstGeom prst="rect">
            <a:avLst/>
          </a:prstGeom>
        </p:spPr>
      </p:pic>
      <p:pic>
        <p:nvPicPr>
          <p:cNvPr id="99" name="Content Placeholder 11" descr="Closed book outline">
            <a:extLst>
              <a:ext uri="{FF2B5EF4-FFF2-40B4-BE49-F238E27FC236}">
                <a16:creationId xmlns:a16="http://schemas.microsoft.com/office/drawing/2014/main" id="{96A9494D-E808-11FE-F283-4F71065B38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049852"/>
            <a:ext cx="393700" cy="393700"/>
          </a:xfrm>
          <a:prstGeom prst="rect">
            <a:avLst/>
          </a:prstGeom>
        </p:spPr>
      </p:pic>
      <p:pic>
        <p:nvPicPr>
          <p:cNvPr id="100" name="Content Placeholder 11" descr="Closed book outline">
            <a:extLst>
              <a:ext uri="{FF2B5EF4-FFF2-40B4-BE49-F238E27FC236}">
                <a16:creationId xmlns:a16="http://schemas.microsoft.com/office/drawing/2014/main" id="{DF17813F-82F0-338D-38AD-17E167312D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456252"/>
            <a:ext cx="393700" cy="393700"/>
          </a:xfrm>
          <a:prstGeom prst="rect">
            <a:avLst/>
          </a:prstGeom>
        </p:spPr>
      </p:pic>
      <p:pic>
        <p:nvPicPr>
          <p:cNvPr id="101" name="Content Placeholder 11" descr="Closed book outline">
            <a:extLst>
              <a:ext uri="{FF2B5EF4-FFF2-40B4-BE49-F238E27FC236}">
                <a16:creationId xmlns:a16="http://schemas.microsoft.com/office/drawing/2014/main" id="{D455E61E-8C24-2A8F-8CD3-05A00F2D98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456252"/>
            <a:ext cx="393700" cy="393700"/>
          </a:xfrm>
          <a:prstGeom prst="rect">
            <a:avLst/>
          </a:prstGeom>
        </p:spPr>
      </p:pic>
      <p:pic>
        <p:nvPicPr>
          <p:cNvPr id="102" name="Content Placeholder 11" descr="Closed book outline">
            <a:extLst>
              <a:ext uri="{FF2B5EF4-FFF2-40B4-BE49-F238E27FC236}">
                <a16:creationId xmlns:a16="http://schemas.microsoft.com/office/drawing/2014/main" id="{DA138616-A45B-883C-825F-4532C790EB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456252"/>
            <a:ext cx="393700" cy="393700"/>
          </a:xfrm>
          <a:prstGeom prst="rect">
            <a:avLst/>
          </a:prstGeom>
        </p:spPr>
      </p:pic>
      <p:pic>
        <p:nvPicPr>
          <p:cNvPr id="103" name="Content Placeholder 11" descr="Closed book outline">
            <a:extLst>
              <a:ext uri="{FF2B5EF4-FFF2-40B4-BE49-F238E27FC236}">
                <a16:creationId xmlns:a16="http://schemas.microsoft.com/office/drawing/2014/main" id="{C3C77F50-3F3C-EA07-55B0-15AF70D21C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456252"/>
            <a:ext cx="393700" cy="393700"/>
          </a:xfrm>
          <a:prstGeom prst="rect">
            <a:avLst/>
          </a:prstGeom>
        </p:spPr>
      </p:pic>
      <p:pic>
        <p:nvPicPr>
          <p:cNvPr id="104" name="Content Placeholder 11" descr="Closed book outline">
            <a:extLst>
              <a:ext uri="{FF2B5EF4-FFF2-40B4-BE49-F238E27FC236}">
                <a16:creationId xmlns:a16="http://schemas.microsoft.com/office/drawing/2014/main" id="{325D4CB4-3DBC-3503-CAA8-A0513A3392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457046"/>
            <a:ext cx="393700" cy="393700"/>
          </a:xfrm>
          <a:prstGeom prst="rect">
            <a:avLst/>
          </a:prstGeom>
        </p:spPr>
      </p:pic>
      <p:pic>
        <p:nvPicPr>
          <p:cNvPr id="105" name="Content Placeholder 11" descr="Closed book outline">
            <a:extLst>
              <a:ext uri="{FF2B5EF4-FFF2-40B4-BE49-F238E27FC236}">
                <a16:creationId xmlns:a16="http://schemas.microsoft.com/office/drawing/2014/main" id="{7C8A231D-1E27-38E3-63F9-F9434CA40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457046"/>
            <a:ext cx="393700" cy="393700"/>
          </a:xfrm>
          <a:prstGeom prst="rect">
            <a:avLst/>
          </a:prstGeom>
        </p:spPr>
      </p:pic>
      <p:pic>
        <p:nvPicPr>
          <p:cNvPr id="106" name="Content Placeholder 11" descr="Closed book outline">
            <a:extLst>
              <a:ext uri="{FF2B5EF4-FFF2-40B4-BE49-F238E27FC236}">
                <a16:creationId xmlns:a16="http://schemas.microsoft.com/office/drawing/2014/main" id="{5EE2B7FB-1E44-0618-0584-8B7B77844C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456252"/>
            <a:ext cx="393700" cy="393700"/>
          </a:xfrm>
          <a:prstGeom prst="rect">
            <a:avLst/>
          </a:prstGeom>
        </p:spPr>
      </p:pic>
      <p:pic>
        <p:nvPicPr>
          <p:cNvPr id="107" name="Content Placeholder 11" descr="Closed book outline">
            <a:extLst>
              <a:ext uri="{FF2B5EF4-FFF2-40B4-BE49-F238E27FC236}">
                <a16:creationId xmlns:a16="http://schemas.microsoft.com/office/drawing/2014/main" id="{9974DEFF-3975-B356-8077-44B245592C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456252"/>
            <a:ext cx="393700" cy="393700"/>
          </a:xfrm>
          <a:prstGeom prst="rect">
            <a:avLst/>
          </a:prstGeom>
        </p:spPr>
      </p:pic>
      <p:pic>
        <p:nvPicPr>
          <p:cNvPr id="108" name="Content Placeholder 11" descr="Closed book outline">
            <a:extLst>
              <a:ext uri="{FF2B5EF4-FFF2-40B4-BE49-F238E27FC236}">
                <a16:creationId xmlns:a16="http://schemas.microsoft.com/office/drawing/2014/main" id="{EA6E6799-A38C-3CA5-82DD-0C547594BE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456252"/>
            <a:ext cx="393700" cy="393700"/>
          </a:xfrm>
          <a:prstGeom prst="rect">
            <a:avLst/>
          </a:prstGeom>
        </p:spPr>
      </p:pic>
      <p:pic>
        <p:nvPicPr>
          <p:cNvPr id="109" name="Content Placeholder 11" descr="Closed book outline">
            <a:extLst>
              <a:ext uri="{FF2B5EF4-FFF2-40B4-BE49-F238E27FC236}">
                <a16:creationId xmlns:a16="http://schemas.microsoft.com/office/drawing/2014/main" id="{A6F9907F-E4DF-EE79-E843-DAA65C0336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456252"/>
            <a:ext cx="393700" cy="393700"/>
          </a:xfrm>
          <a:prstGeom prst="rect">
            <a:avLst/>
          </a:prstGeom>
        </p:spPr>
      </p:pic>
      <p:pic>
        <p:nvPicPr>
          <p:cNvPr id="110" name="Content Placeholder 11" descr="Closed book outline">
            <a:extLst>
              <a:ext uri="{FF2B5EF4-FFF2-40B4-BE49-F238E27FC236}">
                <a16:creationId xmlns:a16="http://schemas.microsoft.com/office/drawing/2014/main" id="{0B923F64-CAF5-0314-1ABD-804FC3D85A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300" y="4875352"/>
            <a:ext cx="393700" cy="393700"/>
          </a:xfrm>
          <a:prstGeom prst="rect">
            <a:avLst/>
          </a:prstGeom>
        </p:spPr>
      </p:pic>
      <p:pic>
        <p:nvPicPr>
          <p:cNvPr id="111" name="Content Placeholder 11" descr="Closed book outline">
            <a:extLst>
              <a:ext uri="{FF2B5EF4-FFF2-40B4-BE49-F238E27FC236}">
                <a16:creationId xmlns:a16="http://schemas.microsoft.com/office/drawing/2014/main" id="{9FCEAA36-CBA2-C350-D8FE-B6F3AA174E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4875352"/>
            <a:ext cx="393700" cy="393700"/>
          </a:xfrm>
          <a:prstGeom prst="rect">
            <a:avLst/>
          </a:prstGeom>
        </p:spPr>
      </p:pic>
      <p:pic>
        <p:nvPicPr>
          <p:cNvPr id="112" name="Content Placeholder 11" descr="Closed book outline">
            <a:extLst>
              <a:ext uri="{FF2B5EF4-FFF2-40B4-BE49-F238E27FC236}">
                <a16:creationId xmlns:a16="http://schemas.microsoft.com/office/drawing/2014/main" id="{B59C8E48-DC90-C687-67E1-950CABAEC2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800" y="4875352"/>
            <a:ext cx="393700" cy="393700"/>
          </a:xfrm>
          <a:prstGeom prst="rect">
            <a:avLst/>
          </a:prstGeom>
        </p:spPr>
      </p:pic>
      <p:pic>
        <p:nvPicPr>
          <p:cNvPr id="113" name="Content Placeholder 11" descr="Closed book outline">
            <a:extLst>
              <a:ext uri="{FF2B5EF4-FFF2-40B4-BE49-F238E27FC236}">
                <a16:creationId xmlns:a16="http://schemas.microsoft.com/office/drawing/2014/main" id="{ACFFD453-20B5-3BC5-DF78-53CD097E39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600" y="4875352"/>
            <a:ext cx="393700" cy="393700"/>
          </a:xfrm>
          <a:prstGeom prst="rect">
            <a:avLst/>
          </a:prstGeom>
        </p:spPr>
      </p:pic>
      <p:pic>
        <p:nvPicPr>
          <p:cNvPr id="114" name="Content Placeholder 11" descr="Closed book outline">
            <a:extLst>
              <a:ext uri="{FF2B5EF4-FFF2-40B4-BE49-F238E27FC236}">
                <a16:creationId xmlns:a16="http://schemas.microsoft.com/office/drawing/2014/main" id="{8134D8D5-3734-0A9A-C05A-432F6AC1B4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7700" y="4876146"/>
            <a:ext cx="393700" cy="393700"/>
          </a:xfrm>
          <a:prstGeom prst="rect">
            <a:avLst/>
          </a:prstGeom>
        </p:spPr>
      </p:pic>
      <p:pic>
        <p:nvPicPr>
          <p:cNvPr id="115" name="Content Placeholder 11" descr="Closed book outline">
            <a:extLst>
              <a:ext uri="{FF2B5EF4-FFF2-40B4-BE49-F238E27FC236}">
                <a16:creationId xmlns:a16="http://schemas.microsoft.com/office/drawing/2014/main" id="{E9138596-55E2-CD3B-D155-46E1CB7F05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4876146"/>
            <a:ext cx="393700" cy="393700"/>
          </a:xfrm>
          <a:prstGeom prst="rect">
            <a:avLst/>
          </a:prstGeom>
        </p:spPr>
      </p:pic>
      <p:pic>
        <p:nvPicPr>
          <p:cNvPr id="116" name="Content Placeholder 11" descr="Closed book outline">
            <a:extLst>
              <a:ext uri="{FF2B5EF4-FFF2-40B4-BE49-F238E27FC236}">
                <a16:creationId xmlns:a16="http://schemas.microsoft.com/office/drawing/2014/main" id="{13BA269B-127D-75E8-FD8C-883511A8B5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4875352"/>
            <a:ext cx="393700" cy="393700"/>
          </a:xfrm>
          <a:prstGeom prst="rect">
            <a:avLst/>
          </a:prstGeom>
        </p:spPr>
      </p:pic>
      <p:pic>
        <p:nvPicPr>
          <p:cNvPr id="117" name="Content Placeholder 11" descr="Closed book outline">
            <a:extLst>
              <a:ext uri="{FF2B5EF4-FFF2-40B4-BE49-F238E27FC236}">
                <a16:creationId xmlns:a16="http://schemas.microsoft.com/office/drawing/2014/main" id="{23DC5EED-7987-04CB-E874-977C45824E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4875352"/>
            <a:ext cx="393700" cy="393700"/>
          </a:xfrm>
          <a:prstGeom prst="rect">
            <a:avLst/>
          </a:prstGeom>
        </p:spPr>
      </p:pic>
      <p:pic>
        <p:nvPicPr>
          <p:cNvPr id="118" name="Content Placeholder 11" descr="Closed book outline">
            <a:extLst>
              <a:ext uri="{FF2B5EF4-FFF2-40B4-BE49-F238E27FC236}">
                <a16:creationId xmlns:a16="http://schemas.microsoft.com/office/drawing/2014/main" id="{00B52EE4-0191-25E1-F5C4-982FCDC42A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4875352"/>
            <a:ext cx="393700" cy="393700"/>
          </a:xfrm>
          <a:prstGeom prst="rect">
            <a:avLst/>
          </a:prstGeom>
        </p:spPr>
      </p:pic>
      <p:pic>
        <p:nvPicPr>
          <p:cNvPr id="119" name="Content Placeholder 11" descr="Closed book outline">
            <a:extLst>
              <a:ext uri="{FF2B5EF4-FFF2-40B4-BE49-F238E27FC236}">
                <a16:creationId xmlns:a16="http://schemas.microsoft.com/office/drawing/2014/main" id="{B9DB812A-3F59-8303-3ACF-A1E57BF8BE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4875352"/>
            <a:ext cx="393700" cy="393700"/>
          </a:xfrm>
          <a:prstGeom prst="rect">
            <a:avLst/>
          </a:prstGeom>
        </p:spPr>
      </p:pic>
      <p:pic>
        <p:nvPicPr>
          <p:cNvPr id="120" name="Content Placeholder 11" descr="Closed book outline">
            <a:extLst>
              <a:ext uri="{FF2B5EF4-FFF2-40B4-BE49-F238E27FC236}">
                <a16:creationId xmlns:a16="http://schemas.microsoft.com/office/drawing/2014/main" id="{AA5F95B0-FBA5-3637-528C-387FA17EDF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9300" y="5281752"/>
            <a:ext cx="393700" cy="393700"/>
          </a:xfrm>
          <a:prstGeom prst="rect">
            <a:avLst/>
          </a:prstGeom>
        </p:spPr>
      </p:pic>
      <p:pic>
        <p:nvPicPr>
          <p:cNvPr id="121" name="Content Placeholder 11" descr="Closed book outline">
            <a:extLst>
              <a:ext uri="{FF2B5EF4-FFF2-40B4-BE49-F238E27FC236}">
                <a16:creationId xmlns:a16="http://schemas.microsoft.com/office/drawing/2014/main" id="{C40B397B-A626-E973-C1F4-0028EB183B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1400" y="5281752"/>
            <a:ext cx="393700" cy="393700"/>
          </a:xfrm>
          <a:prstGeom prst="rect">
            <a:avLst/>
          </a:prstGeom>
        </p:spPr>
      </p:pic>
      <p:pic>
        <p:nvPicPr>
          <p:cNvPr id="122" name="Content Placeholder 11" descr="Closed book outline">
            <a:extLst>
              <a:ext uri="{FF2B5EF4-FFF2-40B4-BE49-F238E27FC236}">
                <a16:creationId xmlns:a16="http://schemas.microsoft.com/office/drawing/2014/main" id="{C3C53A0C-64F5-B464-548C-680A6757C5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20800" y="5281752"/>
            <a:ext cx="393700" cy="393700"/>
          </a:xfrm>
          <a:prstGeom prst="rect">
            <a:avLst/>
          </a:prstGeom>
        </p:spPr>
      </p:pic>
      <p:pic>
        <p:nvPicPr>
          <p:cNvPr id="123" name="Content Placeholder 11" descr="Closed book outline">
            <a:extLst>
              <a:ext uri="{FF2B5EF4-FFF2-40B4-BE49-F238E27FC236}">
                <a16:creationId xmlns:a16="http://schemas.microsoft.com/office/drawing/2014/main" id="{5AD64497-51D4-7B0E-AAF5-D9FE87E49D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5600" y="5281752"/>
            <a:ext cx="393700" cy="393700"/>
          </a:xfrm>
          <a:prstGeom prst="rect">
            <a:avLst/>
          </a:prstGeom>
        </p:spPr>
      </p:pic>
      <p:pic>
        <p:nvPicPr>
          <p:cNvPr id="124" name="Content Placeholder 11" descr="Closed book outline">
            <a:extLst>
              <a:ext uri="{FF2B5EF4-FFF2-40B4-BE49-F238E27FC236}">
                <a16:creationId xmlns:a16="http://schemas.microsoft.com/office/drawing/2014/main" id="{C156C3DF-3E37-3DEC-C8BA-6C6C3753F8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17700" y="5282546"/>
            <a:ext cx="393700" cy="393700"/>
          </a:xfrm>
          <a:prstGeom prst="rect">
            <a:avLst/>
          </a:prstGeom>
        </p:spPr>
      </p:pic>
      <p:pic>
        <p:nvPicPr>
          <p:cNvPr id="125" name="Content Placeholder 11" descr="Closed book outline">
            <a:extLst>
              <a:ext uri="{FF2B5EF4-FFF2-40B4-BE49-F238E27FC236}">
                <a16:creationId xmlns:a16="http://schemas.microsoft.com/office/drawing/2014/main" id="{53240150-9812-21D1-829F-23875DC29E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22500" y="5282546"/>
            <a:ext cx="393700" cy="393700"/>
          </a:xfrm>
          <a:prstGeom prst="rect">
            <a:avLst/>
          </a:prstGeom>
        </p:spPr>
      </p:pic>
      <p:pic>
        <p:nvPicPr>
          <p:cNvPr id="126" name="Content Placeholder 11" descr="Closed book outline">
            <a:extLst>
              <a:ext uri="{FF2B5EF4-FFF2-40B4-BE49-F238E27FC236}">
                <a16:creationId xmlns:a16="http://schemas.microsoft.com/office/drawing/2014/main" id="{F6B62EEE-3C68-2482-076B-5534825BC1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5281752"/>
            <a:ext cx="393700" cy="393700"/>
          </a:xfrm>
          <a:prstGeom prst="rect">
            <a:avLst/>
          </a:prstGeom>
        </p:spPr>
      </p:pic>
      <p:pic>
        <p:nvPicPr>
          <p:cNvPr id="127" name="Content Placeholder 11" descr="Closed book outline">
            <a:extLst>
              <a:ext uri="{FF2B5EF4-FFF2-40B4-BE49-F238E27FC236}">
                <a16:creationId xmlns:a16="http://schemas.microsoft.com/office/drawing/2014/main" id="{5F9024B8-C167-036E-22F7-FBB37E410C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7500" y="5281752"/>
            <a:ext cx="393700" cy="393700"/>
          </a:xfrm>
          <a:prstGeom prst="rect">
            <a:avLst/>
          </a:prstGeom>
        </p:spPr>
      </p:pic>
      <p:pic>
        <p:nvPicPr>
          <p:cNvPr id="128" name="Content Placeholder 11" descr="Closed book outline">
            <a:extLst>
              <a:ext uri="{FF2B5EF4-FFF2-40B4-BE49-F238E27FC236}">
                <a16:creationId xmlns:a16="http://schemas.microsoft.com/office/drawing/2014/main" id="{5B5E96F3-9051-50F2-9EB2-9D85AA69C9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5000" y="5281752"/>
            <a:ext cx="393700" cy="393700"/>
          </a:xfrm>
          <a:prstGeom prst="rect">
            <a:avLst/>
          </a:prstGeom>
        </p:spPr>
      </p:pic>
      <p:pic>
        <p:nvPicPr>
          <p:cNvPr id="129" name="Content Placeholder 11" descr="Closed book outline">
            <a:extLst>
              <a:ext uri="{FF2B5EF4-FFF2-40B4-BE49-F238E27FC236}">
                <a16:creationId xmlns:a16="http://schemas.microsoft.com/office/drawing/2014/main" id="{C2FD296E-9186-37E1-91DE-B0927BBE40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0" y="5281752"/>
            <a:ext cx="393700" cy="393700"/>
          </a:xfrm>
          <a:prstGeom prst="rect">
            <a:avLst/>
          </a:prstGeom>
        </p:spPr>
      </p:pic>
      <p:sp>
        <p:nvSpPr>
          <p:cNvPr id="150" name="TextBox 149">
            <a:extLst>
              <a:ext uri="{FF2B5EF4-FFF2-40B4-BE49-F238E27FC236}">
                <a16:creationId xmlns:a16="http://schemas.microsoft.com/office/drawing/2014/main" id="{FC97DDBB-F998-FE9B-E3E5-9DFFA8170C57}"/>
              </a:ext>
            </a:extLst>
          </p:cNvPr>
          <p:cNvSpPr txBox="1"/>
          <p:nvPr/>
        </p:nvSpPr>
        <p:spPr>
          <a:xfrm>
            <a:off x="493519" y="5678194"/>
            <a:ext cx="3851662" cy="1015663"/>
          </a:xfrm>
          <a:prstGeom prst="rect">
            <a:avLst/>
          </a:prstGeom>
          <a:noFill/>
        </p:spPr>
        <p:txBody>
          <a:bodyPr wrap="square" rtlCol="0">
            <a:spAutoFit/>
          </a:bodyPr>
          <a:lstStyle/>
          <a:p>
            <a:r>
              <a:rPr lang="en-CA" sz="2000" dirty="0"/>
              <a:t>Out of 519 clinical studies of LLMs, between 2022-2024, </a:t>
            </a:r>
            <a:r>
              <a:rPr lang="en-CA" sz="2000" b="1" dirty="0">
                <a:solidFill>
                  <a:srgbClr val="FF0000"/>
                </a:solidFill>
              </a:rPr>
              <a:t>only 5%</a:t>
            </a:r>
            <a:r>
              <a:rPr lang="en-CA" sz="2000" dirty="0"/>
              <a:t> used real patient data</a:t>
            </a:r>
          </a:p>
        </p:txBody>
      </p:sp>
      <p:pic>
        <p:nvPicPr>
          <p:cNvPr id="2" name="Picture 1">
            <a:extLst>
              <a:ext uri="{FF2B5EF4-FFF2-40B4-BE49-F238E27FC236}">
                <a16:creationId xmlns:a16="http://schemas.microsoft.com/office/drawing/2014/main" id="{5CDD37DA-DCEE-F6FD-8C8C-414EF3BAB824}"/>
              </a:ext>
            </a:extLst>
          </p:cNvPr>
          <p:cNvPicPr>
            <a:picLocks noChangeAspect="1"/>
          </p:cNvPicPr>
          <p:nvPr/>
        </p:nvPicPr>
        <p:blipFill>
          <a:blip r:embed="rId7"/>
          <a:stretch>
            <a:fillRect/>
          </a:stretch>
        </p:blipFill>
        <p:spPr>
          <a:xfrm>
            <a:off x="5999357" y="1620203"/>
            <a:ext cx="4994870" cy="3855485"/>
          </a:xfrm>
          <a:prstGeom prst="rect">
            <a:avLst/>
          </a:prstGeom>
        </p:spPr>
      </p:pic>
      <p:sp>
        <p:nvSpPr>
          <p:cNvPr id="3" name="TextBox 2">
            <a:extLst>
              <a:ext uri="{FF2B5EF4-FFF2-40B4-BE49-F238E27FC236}">
                <a16:creationId xmlns:a16="http://schemas.microsoft.com/office/drawing/2014/main" id="{705328E2-E781-FB7B-4AB7-9B98CD89940B}"/>
              </a:ext>
            </a:extLst>
          </p:cNvPr>
          <p:cNvSpPr txBox="1"/>
          <p:nvPr/>
        </p:nvSpPr>
        <p:spPr>
          <a:xfrm>
            <a:off x="5987352" y="5618721"/>
            <a:ext cx="5366447" cy="1015663"/>
          </a:xfrm>
          <a:prstGeom prst="rect">
            <a:avLst/>
          </a:prstGeom>
          <a:noFill/>
        </p:spPr>
        <p:txBody>
          <a:bodyPr wrap="square" rtlCol="0">
            <a:spAutoFit/>
          </a:bodyPr>
          <a:lstStyle/>
          <a:p>
            <a:r>
              <a:rPr lang="en-CA" sz="2000" dirty="0"/>
              <a:t>Between 2018-2023, ~ 100,000 RCTs of medications, and </a:t>
            </a:r>
            <a:r>
              <a:rPr lang="en-CA" sz="2000" b="1" dirty="0">
                <a:solidFill>
                  <a:srgbClr val="FF0000"/>
                </a:solidFill>
              </a:rPr>
              <a:t>only 86 RCTs</a:t>
            </a:r>
            <a:r>
              <a:rPr lang="en-CA" sz="2000" b="1" dirty="0"/>
              <a:t> </a:t>
            </a:r>
            <a:r>
              <a:rPr lang="en-CA" sz="2000" dirty="0"/>
              <a:t>of AI interventions, only 1 in Canada</a:t>
            </a:r>
          </a:p>
        </p:txBody>
      </p:sp>
      <p:sp>
        <p:nvSpPr>
          <p:cNvPr id="6" name="Title 7">
            <a:extLst>
              <a:ext uri="{FF2B5EF4-FFF2-40B4-BE49-F238E27FC236}">
                <a16:creationId xmlns:a16="http://schemas.microsoft.com/office/drawing/2014/main" id="{5A022CA4-53FE-D706-6F0A-242EE4124011}"/>
              </a:ext>
            </a:extLst>
          </p:cNvPr>
          <p:cNvSpPr>
            <a:spLocks noGrp="1"/>
          </p:cNvSpPr>
          <p:nvPr>
            <p:ph type="title"/>
          </p:nvPr>
        </p:nvSpPr>
        <p:spPr>
          <a:xfrm>
            <a:off x="480000" y="72000"/>
            <a:ext cx="10668164" cy="900000"/>
          </a:xfrm>
        </p:spPr>
        <p:txBody>
          <a:bodyPr/>
          <a:lstStyle/>
          <a:p>
            <a:r>
              <a:rPr lang="en-CA" dirty="0"/>
              <a:t>What is the evidence base for real-world clinical use of AI?</a:t>
            </a:r>
          </a:p>
        </p:txBody>
      </p:sp>
    </p:spTree>
    <p:extLst>
      <p:ext uri="{BB962C8B-B14F-4D97-AF65-F5344CB8AC3E}">
        <p14:creationId xmlns:p14="http://schemas.microsoft.com/office/powerpoint/2010/main" val="601002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E842-FC08-990E-E1DF-3B3CA098E403}"/>
              </a:ext>
            </a:extLst>
          </p:cNvPr>
          <p:cNvSpPr>
            <a:spLocks noGrp="1"/>
          </p:cNvSpPr>
          <p:nvPr>
            <p:ph type="title"/>
          </p:nvPr>
        </p:nvSpPr>
        <p:spPr/>
        <p:txBody>
          <a:bodyPr/>
          <a:lstStyle/>
          <a:p>
            <a:r>
              <a:rPr lang="en-CA" dirty="0"/>
              <a:t>AI is at a “tipping point” in U.S. healthcare</a:t>
            </a:r>
          </a:p>
        </p:txBody>
      </p:sp>
      <p:pic>
        <p:nvPicPr>
          <p:cNvPr id="5" name="Picture 4">
            <a:extLst>
              <a:ext uri="{FF2B5EF4-FFF2-40B4-BE49-F238E27FC236}">
                <a16:creationId xmlns:a16="http://schemas.microsoft.com/office/drawing/2014/main" id="{BE829CA1-3100-B51A-27F2-32D2BEB04207}"/>
              </a:ext>
            </a:extLst>
          </p:cNvPr>
          <p:cNvPicPr>
            <a:picLocks noChangeAspect="1"/>
          </p:cNvPicPr>
          <p:nvPr/>
        </p:nvPicPr>
        <p:blipFill>
          <a:blip r:embed="rId2"/>
          <a:stretch>
            <a:fillRect/>
          </a:stretch>
        </p:blipFill>
        <p:spPr>
          <a:xfrm>
            <a:off x="1370360" y="1118206"/>
            <a:ext cx="4277641" cy="3123287"/>
          </a:xfrm>
          <a:prstGeom prst="rect">
            <a:avLst/>
          </a:prstGeom>
          <a:ln>
            <a:solidFill>
              <a:schemeClr val="tx1"/>
            </a:solidFill>
          </a:ln>
        </p:spPr>
      </p:pic>
      <p:pic>
        <p:nvPicPr>
          <p:cNvPr id="7" name="Picture 6">
            <a:extLst>
              <a:ext uri="{FF2B5EF4-FFF2-40B4-BE49-F238E27FC236}">
                <a16:creationId xmlns:a16="http://schemas.microsoft.com/office/drawing/2014/main" id="{EBA9E7AF-95CA-55FD-BD65-E0E28894D9BA}"/>
              </a:ext>
            </a:extLst>
          </p:cNvPr>
          <p:cNvPicPr>
            <a:picLocks noChangeAspect="1"/>
          </p:cNvPicPr>
          <p:nvPr/>
        </p:nvPicPr>
        <p:blipFill>
          <a:blip r:embed="rId3"/>
          <a:srcRect l="3382"/>
          <a:stretch>
            <a:fillRect/>
          </a:stretch>
        </p:blipFill>
        <p:spPr>
          <a:xfrm>
            <a:off x="5786647" y="1118205"/>
            <a:ext cx="5034992" cy="3123287"/>
          </a:xfrm>
          <a:prstGeom prst="rect">
            <a:avLst/>
          </a:prstGeom>
          <a:ln>
            <a:solidFill>
              <a:schemeClr val="tx1"/>
            </a:solidFill>
          </a:ln>
        </p:spPr>
      </p:pic>
      <p:pic>
        <p:nvPicPr>
          <p:cNvPr id="9" name="Picture 8">
            <a:extLst>
              <a:ext uri="{FF2B5EF4-FFF2-40B4-BE49-F238E27FC236}">
                <a16:creationId xmlns:a16="http://schemas.microsoft.com/office/drawing/2014/main" id="{D7E4CFFA-92F5-81CA-40BE-570B7CA0F7BD}"/>
              </a:ext>
            </a:extLst>
          </p:cNvPr>
          <p:cNvPicPr>
            <a:picLocks noChangeAspect="1"/>
          </p:cNvPicPr>
          <p:nvPr/>
        </p:nvPicPr>
        <p:blipFill>
          <a:blip r:embed="rId4"/>
          <a:srcRect b="24165"/>
          <a:stretch>
            <a:fillRect/>
          </a:stretch>
        </p:blipFill>
        <p:spPr>
          <a:xfrm>
            <a:off x="1370361" y="4421221"/>
            <a:ext cx="9451278" cy="2309694"/>
          </a:xfrm>
          <a:prstGeom prst="rect">
            <a:avLst/>
          </a:prstGeom>
          <a:ln>
            <a:solidFill>
              <a:schemeClr val="tx1"/>
            </a:solidFill>
          </a:ln>
        </p:spPr>
      </p:pic>
    </p:spTree>
    <p:extLst>
      <p:ext uri="{BB962C8B-B14F-4D97-AF65-F5344CB8AC3E}">
        <p14:creationId xmlns:p14="http://schemas.microsoft.com/office/powerpoint/2010/main" val="1063614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FFA76-3C87-63EB-0F57-73F4A685C12B}"/>
              </a:ext>
            </a:extLst>
          </p:cNvPr>
          <p:cNvSpPr>
            <a:spLocks noGrp="1"/>
          </p:cNvSpPr>
          <p:nvPr>
            <p:ph type="title"/>
          </p:nvPr>
        </p:nvSpPr>
        <p:spPr>
          <a:xfrm>
            <a:off x="480000" y="72000"/>
            <a:ext cx="10835700" cy="900000"/>
          </a:xfrm>
        </p:spPr>
        <p:txBody>
          <a:bodyPr/>
          <a:lstStyle/>
          <a:p>
            <a:r>
              <a:rPr lang="en-CA" dirty="0"/>
              <a:t>U.S. Healthcare is NOT the same as Canadian Healthcare</a:t>
            </a:r>
          </a:p>
        </p:txBody>
      </p:sp>
      <p:sp>
        <p:nvSpPr>
          <p:cNvPr id="3" name="Text Placeholder 2">
            <a:extLst>
              <a:ext uri="{FF2B5EF4-FFF2-40B4-BE49-F238E27FC236}">
                <a16:creationId xmlns:a16="http://schemas.microsoft.com/office/drawing/2014/main" id="{56BB70AA-8F60-B65A-21F1-A841BE1C8CAB}"/>
              </a:ext>
            </a:extLst>
          </p:cNvPr>
          <p:cNvSpPr>
            <a:spLocks noGrp="1"/>
          </p:cNvSpPr>
          <p:nvPr>
            <p:ph type="body" sz="quarter" idx="12"/>
          </p:nvPr>
        </p:nvSpPr>
        <p:spPr>
          <a:xfrm>
            <a:off x="480000" y="1630496"/>
            <a:ext cx="8311460" cy="4489504"/>
          </a:xfrm>
        </p:spPr>
        <p:txBody>
          <a:bodyPr/>
          <a:lstStyle/>
          <a:p>
            <a:pPr marL="285750" indent="-285750">
              <a:buFont typeface="Arial" panose="020B0604020202020204" pitchFamily="34" charset="0"/>
              <a:buChar char="•"/>
            </a:pPr>
            <a:r>
              <a:rPr lang="en-CA" sz="2800" b="1" dirty="0">
                <a:solidFill>
                  <a:schemeClr val="tx1"/>
                </a:solidFill>
              </a:rPr>
              <a:t>Not inclusive</a:t>
            </a:r>
            <a:r>
              <a:rPr lang="en-CA" sz="2800" dirty="0">
                <a:solidFill>
                  <a:schemeClr val="tx1"/>
                </a:solidFill>
              </a:rPr>
              <a:t>: </a:t>
            </a:r>
          </a:p>
          <a:p>
            <a:pPr marL="742950" lvl="1" indent="-285750">
              <a:buFont typeface="Arial" panose="020B0604020202020204" pitchFamily="34" charset="0"/>
              <a:buChar char="•"/>
            </a:pPr>
            <a:r>
              <a:rPr lang="en-CA" sz="2800" dirty="0">
                <a:solidFill>
                  <a:schemeClr val="tx1"/>
                </a:solidFill>
              </a:rPr>
              <a:t>27M Americans without insurance</a:t>
            </a:r>
          </a:p>
          <a:p>
            <a:pPr marL="285750" indent="-285750">
              <a:buFont typeface="Arial" panose="020B0604020202020204" pitchFamily="34" charset="0"/>
              <a:buChar char="•"/>
            </a:pPr>
            <a:r>
              <a:rPr lang="en-CA" sz="2800" b="1" dirty="0">
                <a:solidFill>
                  <a:schemeClr val="tx1"/>
                </a:solidFill>
              </a:rPr>
              <a:t>More expensive</a:t>
            </a:r>
            <a:r>
              <a:rPr lang="en-CA" sz="2800" dirty="0">
                <a:solidFill>
                  <a:schemeClr val="tx1"/>
                </a:solidFill>
              </a:rPr>
              <a:t>: </a:t>
            </a:r>
          </a:p>
          <a:p>
            <a:pPr marL="742950" lvl="1" indent="-285750">
              <a:buFont typeface="Arial" panose="020B0604020202020204" pitchFamily="34" charset="0"/>
              <a:buChar char="•"/>
            </a:pPr>
            <a:r>
              <a:rPr lang="en-CA" sz="2800" dirty="0">
                <a:solidFill>
                  <a:schemeClr val="tx1"/>
                </a:solidFill>
              </a:rPr>
              <a:t>$12,555 USD per capita vs $6,319</a:t>
            </a:r>
          </a:p>
          <a:p>
            <a:pPr marL="285750" indent="-285750">
              <a:buFont typeface="Arial" panose="020B0604020202020204" pitchFamily="34" charset="0"/>
              <a:buChar char="•"/>
            </a:pPr>
            <a:r>
              <a:rPr lang="en-CA" sz="2800" b="1" dirty="0">
                <a:solidFill>
                  <a:schemeClr val="tx1"/>
                </a:solidFill>
              </a:rPr>
              <a:t>More intensive</a:t>
            </a:r>
            <a:r>
              <a:rPr lang="en-CA" sz="2800" dirty="0">
                <a:solidFill>
                  <a:schemeClr val="tx1"/>
                </a:solidFill>
              </a:rPr>
              <a:t>:</a:t>
            </a:r>
          </a:p>
          <a:p>
            <a:pPr marL="742950" lvl="1" indent="-285750">
              <a:buFont typeface="Arial" panose="020B0604020202020204" pitchFamily="34" charset="0"/>
              <a:buChar char="•"/>
            </a:pPr>
            <a:r>
              <a:rPr lang="en-CA" sz="2800" dirty="0">
                <a:solidFill>
                  <a:schemeClr val="tx1"/>
                </a:solidFill>
              </a:rPr>
              <a:t>34% more likely to get outpatient antibiotic</a:t>
            </a:r>
          </a:p>
          <a:p>
            <a:pPr marL="742950" lvl="1" indent="-285750">
              <a:buFont typeface="Arial" panose="020B0604020202020204" pitchFamily="34" charset="0"/>
              <a:buChar char="•"/>
            </a:pPr>
            <a:r>
              <a:rPr lang="en-CA" sz="2800" dirty="0">
                <a:solidFill>
                  <a:schemeClr val="tx1"/>
                </a:solidFill>
              </a:rPr>
              <a:t>56% more likely to get an MRI </a:t>
            </a:r>
          </a:p>
          <a:p>
            <a:pPr marL="742950" lvl="1" indent="-285750">
              <a:buFont typeface="Arial" panose="020B0604020202020204" pitchFamily="34" charset="0"/>
              <a:buChar char="•"/>
            </a:pPr>
            <a:r>
              <a:rPr lang="en-CA" sz="2800" dirty="0">
                <a:solidFill>
                  <a:schemeClr val="tx1"/>
                </a:solidFill>
              </a:rPr>
              <a:t>57% more likely to get invasive cardiac procedure</a:t>
            </a:r>
          </a:p>
          <a:p>
            <a:pPr marL="742950" lvl="1" indent="-285750">
              <a:buFont typeface="Arial" panose="020B0604020202020204" pitchFamily="34" charset="0"/>
              <a:buChar char="•"/>
            </a:pPr>
            <a:r>
              <a:rPr lang="en-CA" sz="2800" dirty="0">
                <a:solidFill>
                  <a:schemeClr val="tx1"/>
                </a:solidFill>
              </a:rPr>
              <a:t>471% more likely to get an amputation in diabetes</a:t>
            </a:r>
          </a:p>
        </p:txBody>
      </p:sp>
    </p:spTree>
    <p:extLst>
      <p:ext uri="{BB962C8B-B14F-4D97-AF65-F5344CB8AC3E}">
        <p14:creationId xmlns:p14="http://schemas.microsoft.com/office/powerpoint/2010/main" val="153187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96652-BBA2-C531-203B-2EEDCD2AC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8A66E-A2A5-A4ED-1223-4C9FC116D06A}"/>
              </a:ext>
            </a:extLst>
          </p:cNvPr>
          <p:cNvSpPr>
            <a:spLocks noGrp="1"/>
          </p:cNvSpPr>
          <p:nvPr>
            <p:ph type="title"/>
          </p:nvPr>
        </p:nvSpPr>
        <p:spPr>
          <a:xfrm>
            <a:off x="480000" y="72000"/>
            <a:ext cx="10835700" cy="900000"/>
          </a:xfrm>
        </p:spPr>
        <p:txBody>
          <a:bodyPr/>
          <a:lstStyle/>
          <a:p>
            <a:r>
              <a:rPr lang="en-CA" dirty="0"/>
              <a:t>U.S. Healthcare is NOT the same as Canadian Healthcare</a:t>
            </a:r>
          </a:p>
        </p:txBody>
      </p:sp>
      <p:sp>
        <p:nvSpPr>
          <p:cNvPr id="3" name="Text Placeholder 2">
            <a:extLst>
              <a:ext uri="{FF2B5EF4-FFF2-40B4-BE49-F238E27FC236}">
                <a16:creationId xmlns:a16="http://schemas.microsoft.com/office/drawing/2014/main" id="{0695A19B-8DD9-F62C-D251-83771BFAF7CD}"/>
              </a:ext>
            </a:extLst>
          </p:cNvPr>
          <p:cNvSpPr>
            <a:spLocks noGrp="1"/>
          </p:cNvSpPr>
          <p:nvPr>
            <p:ph type="body" sz="quarter" idx="12"/>
          </p:nvPr>
        </p:nvSpPr>
        <p:spPr>
          <a:xfrm>
            <a:off x="480000" y="1630496"/>
            <a:ext cx="8311460" cy="4489504"/>
          </a:xfrm>
        </p:spPr>
        <p:txBody>
          <a:bodyPr/>
          <a:lstStyle/>
          <a:p>
            <a:pPr marL="285750" indent="-285750">
              <a:buFont typeface="Arial" panose="020B0604020202020204" pitchFamily="34" charset="0"/>
              <a:buChar char="•"/>
            </a:pPr>
            <a:r>
              <a:rPr lang="en-CA" sz="2800" b="1" dirty="0">
                <a:solidFill>
                  <a:schemeClr val="tx1"/>
                </a:solidFill>
              </a:rPr>
              <a:t>Not inclusive</a:t>
            </a:r>
            <a:r>
              <a:rPr lang="en-CA" sz="2800" dirty="0">
                <a:solidFill>
                  <a:schemeClr val="tx1"/>
                </a:solidFill>
              </a:rPr>
              <a:t>: </a:t>
            </a:r>
          </a:p>
          <a:p>
            <a:pPr marL="742950" lvl="1" indent="-285750">
              <a:buFont typeface="Arial" panose="020B0604020202020204" pitchFamily="34" charset="0"/>
              <a:buChar char="•"/>
            </a:pPr>
            <a:r>
              <a:rPr lang="en-CA" sz="2800" dirty="0">
                <a:solidFill>
                  <a:schemeClr val="tx1"/>
                </a:solidFill>
              </a:rPr>
              <a:t>27M Americans without insurance</a:t>
            </a:r>
          </a:p>
          <a:p>
            <a:pPr marL="285750" indent="-285750">
              <a:buFont typeface="Arial" panose="020B0604020202020204" pitchFamily="34" charset="0"/>
              <a:buChar char="•"/>
            </a:pPr>
            <a:r>
              <a:rPr lang="en-CA" sz="2800" b="1" dirty="0">
                <a:solidFill>
                  <a:schemeClr val="tx1"/>
                </a:solidFill>
              </a:rPr>
              <a:t>More expensive</a:t>
            </a:r>
            <a:r>
              <a:rPr lang="en-CA" sz="2800" dirty="0">
                <a:solidFill>
                  <a:schemeClr val="tx1"/>
                </a:solidFill>
              </a:rPr>
              <a:t>: </a:t>
            </a:r>
          </a:p>
          <a:p>
            <a:pPr marL="742950" lvl="1" indent="-285750">
              <a:buFont typeface="Arial" panose="020B0604020202020204" pitchFamily="34" charset="0"/>
              <a:buChar char="•"/>
            </a:pPr>
            <a:r>
              <a:rPr lang="en-CA" sz="2800" dirty="0">
                <a:solidFill>
                  <a:schemeClr val="tx1"/>
                </a:solidFill>
              </a:rPr>
              <a:t>$12,555 USD per capita vs $6,319</a:t>
            </a:r>
          </a:p>
          <a:p>
            <a:pPr marL="285750" indent="-285750">
              <a:buFont typeface="Arial" panose="020B0604020202020204" pitchFamily="34" charset="0"/>
              <a:buChar char="•"/>
            </a:pPr>
            <a:r>
              <a:rPr lang="en-CA" sz="2800" b="1" dirty="0">
                <a:solidFill>
                  <a:schemeClr val="tx1"/>
                </a:solidFill>
              </a:rPr>
              <a:t>More intensive</a:t>
            </a:r>
            <a:r>
              <a:rPr lang="en-CA" sz="2800" dirty="0">
                <a:solidFill>
                  <a:schemeClr val="tx1"/>
                </a:solidFill>
              </a:rPr>
              <a:t>:</a:t>
            </a:r>
          </a:p>
          <a:p>
            <a:pPr marL="742950" lvl="1" indent="-285750">
              <a:buFont typeface="Arial" panose="020B0604020202020204" pitchFamily="34" charset="0"/>
              <a:buChar char="•"/>
            </a:pPr>
            <a:r>
              <a:rPr lang="en-CA" sz="2800" dirty="0">
                <a:solidFill>
                  <a:schemeClr val="tx1"/>
                </a:solidFill>
              </a:rPr>
              <a:t>34% more likely to get outpatient antibiotic</a:t>
            </a:r>
          </a:p>
          <a:p>
            <a:pPr marL="742950" lvl="1" indent="-285750">
              <a:buFont typeface="Arial" panose="020B0604020202020204" pitchFamily="34" charset="0"/>
              <a:buChar char="•"/>
            </a:pPr>
            <a:r>
              <a:rPr lang="en-CA" sz="2800" dirty="0">
                <a:solidFill>
                  <a:schemeClr val="tx1"/>
                </a:solidFill>
              </a:rPr>
              <a:t>56% more likely to get an MRI </a:t>
            </a:r>
          </a:p>
          <a:p>
            <a:pPr marL="742950" lvl="1" indent="-285750">
              <a:buFont typeface="Arial" panose="020B0604020202020204" pitchFamily="34" charset="0"/>
              <a:buChar char="•"/>
            </a:pPr>
            <a:r>
              <a:rPr lang="en-CA" sz="2800" dirty="0">
                <a:solidFill>
                  <a:schemeClr val="tx1"/>
                </a:solidFill>
              </a:rPr>
              <a:t>57% more likely to get invasive cardiac procedure</a:t>
            </a:r>
          </a:p>
          <a:p>
            <a:pPr marL="742950" lvl="1" indent="-285750">
              <a:buFont typeface="Arial" panose="020B0604020202020204" pitchFamily="34" charset="0"/>
              <a:buChar char="•"/>
            </a:pPr>
            <a:r>
              <a:rPr lang="en-CA" sz="2800" dirty="0">
                <a:solidFill>
                  <a:schemeClr val="tx1"/>
                </a:solidFill>
              </a:rPr>
              <a:t>471% more likely to get an amputation in diabetes</a:t>
            </a:r>
          </a:p>
        </p:txBody>
      </p:sp>
      <p:pic>
        <p:nvPicPr>
          <p:cNvPr id="6" name="Picture 5">
            <a:extLst>
              <a:ext uri="{FF2B5EF4-FFF2-40B4-BE49-F238E27FC236}">
                <a16:creationId xmlns:a16="http://schemas.microsoft.com/office/drawing/2014/main" id="{CD009ACE-F284-AC86-E135-0DE4CF9DAB80}"/>
              </a:ext>
            </a:extLst>
          </p:cNvPr>
          <p:cNvPicPr>
            <a:picLocks noChangeAspect="1"/>
          </p:cNvPicPr>
          <p:nvPr/>
        </p:nvPicPr>
        <p:blipFill>
          <a:blip r:embed="rId3"/>
          <a:srcRect t="16814" b="16095"/>
          <a:stretch>
            <a:fillRect/>
          </a:stretch>
        </p:blipFill>
        <p:spPr>
          <a:xfrm>
            <a:off x="8443769" y="2213013"/>
            <a:ext cx="3624870" cy="2431974"/>
          </a:xfrm>
          <a:prstGeom prst="rect">
            <a:avLst/>
          </a:prstGeom>
          <a:ln w="19050">
            <a:solidFill>
              <a:schemeClr val="tx1"/>
            </a:solidFill>
          </a:ln>
        </p:spPr>
      </p:pic>
      <p:sp>
        <p:nvSpPr>
          <p:cNvPr id="4" name="Rectangle 3">
            <a:extLst>
              <a:ext uri="{FF2B5EF4-FFF2-40B4-BE49-F238E27FC236}">
                <a16:creationId xmlns:a16="http://schemas.microsoft.com/office/drawing/2014/main" id="{43DB4FE4-2A3C-7835-40B1-9DD1A5F9D23A}"/>
              </a:ext>
            </a:extLst>
          </p:cNvPr>
          <p:cNvSpPr/>
          <p:nvPr/>
        </p:nvSpPr>
        <p:spPr>
          <a:xfrm>
            <a:off x="8443769" y="2213013"/>
            <a:ext cx="3624869" cy="2431974"/>
          </a:xfrm>
          <a:prstGeom prst="rect">
            <a:avLst/>
          </a:prstGeom>
          <a:solidFill>
            <a:srgbClr val="FFFFFF">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800" b="1" dirty="0">
                <a:solidFill>
                  <a:schemeClr val="tx1"/>
                </a:solidFill>
              </a:rPr>
              <a:t>This is </a:t>
            </a:r>
            <a:r>
              <a:rPr lang="en-CA" sz="2800" b="1" u="sng" dirty="0">
                <a:solidFill>
                  <a:schemeClr val="tx1"/>
                </a:solidFill>
              </a:rPr>
              <a:t>bad training data</a:t>
            </a:r>
            <a:r>
              <a:rPr lang="en-CA" sz="2800" b="1" dirty="0">
                <a:solidFill>
                  <a:schemeClr val="tx1"/>
                </a:solidFill>
              </a:rPr>
              <a:t> for AI for Canadian healthcare</a:t>
            </a:r>
          </a:p>
        </p:txBody>
      </p:sp>
    </p:spTree>
    <p:extLst>
      <p:ext uri="{BB962C8B-B14F-4D97-AF65-F5344CB8AC3E}">
        <p14:creationId xmlns:p14="http://schemas.microsoft.com/office/powerpoint/2010/main" val="4187249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4E0E-B7D1-91B7-0D18-C44E9362417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5CF100-2788-C08E-04A4-E9ACD83C8AB0}"/>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F5A24-FAD5-448B-90C7-C38AA06B112A}" type="slidenum">
              <a:rPr kumimoji="0" lang="en-CA" sz="1800" b="0" i="0" u="none" strike="noStrike" kern="1200" cap="none" spc="0" normalizeH="0" baseline="0" noProof="0" smtClean="0">
                <a:ln>
                  <a:noFill/>
                </a:ln>
                <a:solidFill>
                  <a:srgbClr val="004D85"/>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CA" sz="1800" b="0" i="0" u="none" strike="noStrike" kern="1200" cap="none" spc="0" normalizeH="0" baseline="0" noProof="0">
              <a:ln>
                <a:noFill/>
              </a:ln>
              <a:solidFill>
                <a:srgbClr val="004D85"/>
              </a:solidFill>
              <a:effectLst/>
              <a:uLnTx/>
              <a:uFillTx/>
              <a:latin typeface="Calibri"/>
              <a:ea typeface="+mn-ea"/>
              <a:cs typeface="+mn-cs"/>
            </a:endParaRPr>
          </a:p>
        </p:txBody>
      </p:sp>
      <p:pic>
        <p:nvPicPr>
          <p:cNvPr id="6" name="Picture 5" descr="A close-up of a building&#10;&#10;AI-generated content may be incorrect.">
            <a:extLst>
              <a:ext uri="{FF2B5EF4-FFF2-40B4-BE49-F238E27FC236}">
                <a16:creationId xmlns:a16="http://schemas.microsoft.com/office/drawing/2014/main" id="{AB3CD309-7FAE-23E4-1A8A-A2FD6ECF66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5677" y="1040290"/>
            <a:ext cx="5361432" cy="2606218"/>
          </a:xfrm>
          <a:prstGeom prst="rect">
            <a:avLst/>
          </a:prstGeom>
        </p:spPr>
      </p:pic>
      <p:pic>
        <p:nvPicPr>
          <p:cNvPr id="11" name="Picture 10" descr="A screenshot of a news page&#10;&#10;AI-generated content may be incorrect.">
            <a:extLst>
              <a:ext uri="{FF2B5EF4-FFF2-40B4-BE49-F238E27FC236}">
                <a16:creationId xmlns:a16="http://schemas.microsoft.com/office/drawing/2014/main" id="{D7AFD48B-1E7A-C9DE-BA39-52C7772BB0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045" y="3793694"/>
            <a:ext cx="6199632" cy="2821714"/>
          </a:xfrm>
          <a:prstGeom prst="rect">
            <a:avLst/>
          </a:prstGeom>
        </p:spPr>
      </p:pic>
      <p:sp>
        <p:nvSpPr>
          <p:cNvPr id="2" name="Title 2">
            <a:extLst>
              <a:ext uri="{FF2B5EF4-FFF2-40B4-BE49-F238E27FC236}">
                <a16:creationId xmlns:a16="http://schemas.microsoft.com/office/drawing/2014/main" id="{8E838CB2-2351-8BEE-1393-2126A8D4A85B}"/>
              </a:ext>
            </a:extLst>
          </p:cNvPr>
          <p:cNvSpPr>
            <a:spLocks noGrp="1"/>
          </p:cNvSpPr>
          <p:nvPr>
            <p:ph type="title"/>
          </p:nvPr>
        </p:nvSpPr>
        <p:spPr>
          <a:xfrm>
            <a:off x="255881" y="225894"/>
            <a:ext cx="6492241" cy="2838413"/>
          </a:xfrm>
        </p:spPr>
        <p:txBody>
          <a:bodyPr/>
          <a:lstStyle/>
          <a:p>
            <a:r>
              <a:rPr lang="en-CA" dirty="0">
                <a:solidFill>
                  <a:srgbClr val="011E60"/>
                </a:solidFill>
              </a:rPr>
              <a:t>Data Sovereignty</a:t>
            </a:r>
            <a:br>
              <a:rPr lang="en-CA" dirty="0">
                <a:solidFill>
                  <a:srgbClr val="011E60"/>
                </a:solidFill>
              </a:rPr>
            </a:br>
            <a:r>
              <a:rPr lang="en-CA" dirty="0">
                <a:solidFill>
                  <a:srgbClr val="011E60"/>
                </a:solidFill>
              </a:rPr>
              <a:t> </a:t>
            </a:r>
            <a:br>
              <a:rPr lang="en-CA" dirty="0">
                <a:solidFill>
                  <a:srgbClr val="011E60"/>
                </a:solidFill>
              </a:rPr>
            </a:br>
            <a:br>
              <a:rPr lang="en-CA" dirty="0">
                <a:solidFill>
                  <a:srgbClr val="011E60"/>
                </a:solidFill>
              </a:rPr>
            </a:br>
            <a:r>
              <a:rPr lang="en-CA" sz="2400" b="0" dirty="0">
                <a:solidFill>
                  <a:srgbClr val="011E60"/>
                </a:solidFill>
              </a:rPr>
              <a:t>Without a flourishing Canadian ecosystem for health data innovation, we cede control of these technologies and our sensitive health data to other countries.</a:t>
            </a:r>
            <a:endParaRPr lang="en-CA" b="0" dirty="0">
              <a:solidFill>
                <a:srgbClr val="011E60"/>
              </a:solidFill>
            </a:endParaRPr>
          </a:p>
        </p:txBody>
      </p:sp>
      <p:pic>
        <p:nvPicPr>
          <p:cNvPr id="3" name="Picture 2" descr="A white background with black text&#10;&#10;AI-generated content may be incorrect.">
            <a:extLst>
              <a:ext uri="{FF2B5EF4-FFF2-40B4-BE49-F238E27FC236}">
                <a16:creationId xmlns:a16="http://schemas.microsoft.com/office/drawing/2014/main" id="{5AA1972A-D2EC-1F65-C494-7C13D282239B}"/>
              </a:ext>
            </a:extLst>
          </p:cNvPr>
          <p:cNvPicPr>
            <a:picLocks noChangeAspect="1"/>
          </p:cNvPicPr>
          <p:nvPr/>
        </p:nvPicPr>
        <p:blipFill>
          <a:blip r:embed="rId5"/>
          <a:stretch>
            <a:fillRect/>
          </a:stretch>
        </p:blipFill>
        <p:spPr>
          <a:xfrm>
            <a:off x="6989404" y="4403689"/>
            <a:ext cx="4938193" cy="1332089"/>
          </a:xfrm>
          <a:prstGeom prst="rect">
            <a:avLst/>
          </a:prstGeom>
        </p:spPr>
      </p:pic>
    </p:spTree>
    <p:extLst>
      <p:ext uri="{BB962C8B-B14F-4D97-AF65-F5344CB8AC3E}">
        <p14:creationId xmlns:p14="http://schemas.microsoft.com/office/powerpoint/2010/main" val="3324198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FAFB4-CA77-1E86-CED2-EB7E6841DA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088669-E8E5-6B5D-AC01-A04D88191431}"/>
              </a:ext>
            </a:extLst>
          </p:cNvPr>
          <p:cNvSpPr/>
          <p:nvPr/>
        </p:nvSpPr>
        <p:spPr>
          <a:xfrm>
            <a:off x="4996164" y="5623848"/>
            <a:ext cx="2158851" cy="594000"/>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Infrastructure</a:t>
            </a:r>
          </a:p>
        </p:txBody>
      </p:sp>
      <p:sp>
        <p:nvSpPr>
          <p:cNvPr id="6" name="Rectangle 5">
            <a:extLst>
              <a:ext uri="{FF2B5EF4-FFF2-40B4-BE49-F238E27FC236}">
                <a16:creationId xmlns:a16="http://schemas.microsoft.com/office/drawing/2014/main" id="{8C73B78D-3D1D-9E48-388B-17AC462C9298}"/>
              </a:ext>
            </a:extLst>
          </p:cNvPr>
          <p:cNvSpPr/>
          <p:nvPr/>
        </p:nvSpPr>
        <p:spPr>
          <a:xfrm>
            <a:off x="8512504" y="5580857"/>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People</a:t>
            </a:r>
          </a:p>
        </p:txBody>
      </p:sp>
      <p:sp>
        <p:nvSpPr>
          <p:cNvPr id="10" name="Rectangle 9">
            <a:extLst>
              <a:ext uri="{FF2B5EF4-FFF2-40B4-BE49-F238E27FC236}">
                <a16:creationId xmlns:a16="http://schemas.microsoft.com/office/drawing/2014/main" id="{2220AE62-31DA-FEF8-36DB-14E1D4BC4FF6}"/>
              </a:ext>
            </a:extLst>
          </p:cNvPr>
          <p:cNvSpPr/>
          <p:nvPr/>
        </p:nvSpPr>
        <p:spPr>
          <a:xfrm>
            <a:off x="1310954" y="5623848"/>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Data</a:t>
            </a:r>
          </a:p>
        </p:txBody>
      </p:sp>
      <p:sp>
        <p:nvSpPr>
          <p:cNvPr id="3" name="Title 7">
            <a:extLst>
              <a:ext uri="{FF2B5EF4-FFF2-40B4-BE49-F238E27FC236}">
                <a16:creationId xmlns:a16="http://schemas.microsoft.com/office/drawing/2014/main" id="{6CCB6332-0E5A-17DB-2C9A-C777030F026B}"/>
              </a:ext>
            </a:extLst>
          </p:cNvPr>
          <p:cNvSpPr>
            <a:spLocks noGrp="1"/>
          </p:cNvSpPr>
          <p:nvPr>
            <p:ph type="title"/>
          </p:nvPr>
        </p:nvSpPr>
        <p:spPr>
          <a:xfrm>
            <a:off x="838200" y="365125"/>
            <a:ext cx="10515600" cy="1325563"/>
          </a:xfrm>
        </p:spPr>
        <p:txBody>
          <a:bodyPr/>
          <a:lstStyle/>
          <a:p>
            <a:r>
              <a:rPr lang="en-CA" dirty="0">
                <a:latin typeface="Arial" panose="020B0604020202020204" pitchFamily="34" charset="0"/>
                <a:cs typeface="Arial" panose="020B0604020202020204" pitchFamily="34" charset="0"/>
              </a:rPr>
              <a:t>How do we develop and test clinical AI?</a:t>
            </a:r>
          </a:p>
        </p:txBody>
      </p:sp>
    </p:spTree>
    <p:extLst>
      <p:ext uri="{BB962C8B-B14F-4D97-AF65-F5344CB8AC3E}">
        <p14:creationId xmlns:p14="http://schemas.microsoft.com/office/powerpoint/2010/main" val="24717833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0F73E-F16C-5ABE-CF70-150A50223E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AFDB81-316A-08FB-4225-757955E0D817}"/>
              </a:ext>
            </a:extLst>
          </p:cNvPr>
          <p:cNvSpPr/>
          <p:nvPr/>
        </p:nvSpPr>
        <p:spPr>
          <a:xfrm>
            <a:off x="4996164" y="5623848"/>
            <a:ext cx="2158851" cy="594000"/>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Infrastructure</a:t>
            </a:r>
          </a:p>
        </p:txBody>
      </p:sp>
      <p:sp>
        <p:nvSpPr>
          <p:cNvPr id="6" name="Rectangle 5">
            <a:extLst>
              <a:ext uri="{FF2B5EF4-FFF2-40B4-BE49-F238E27FC236}">
                <a16:creationId xmlns:a16="http://schemas.microsoft.com/office/drawing/2014/main" id="{02160BA6-3BC7-73EB-676B-A23BF90CF3B8}"/>
              </a:ext>
            </a:extLst>
          </p:cNvPr>
          <p:cNvSpPr/>
          <p:nvPr/>
        </p:nvSpPr>
        <p:spPr>
          <a:xfrm>
            <a:off x="8512504" y="5580857"/>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People</a:t>
            </a:r>
          </a:p>
        </p:txBody>
      </p:sp>
      <p:sp>
        <p:nvSpPr>
          <p:cNvPr id="10" name="Rectangle 9">
            <a:extLst>
              <a:ext uri="{FF2B5EF4-FFF2-40B4-BE49-F238E27FC236}">
                <a16:creationId xmlns:a16="http://schemas.microsoft.com/office/drawing/2014/main" id="{C4607993-AD77-15F4-63B0-DF81651989D6}"/>
              </a:ext>
            </a:extLst>
          </p:cNvPr>
          <p:cNvSpPr/>
          <p:nvPr/>
        </p:nvSpPr>
        <p:spPr>
          <a:xfrm>
            <a:off x="1310954" y="5623848"/>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Data</a:t>
            </a:r>
          </a:p>
        </p:txBody>
      </p:sp>
      <p:pic>
        <p:nvPicPr>
          <p:cNvPr id="7" name="Picture 6">
            <a:extLst>
              <a:ext uri="{FF2B5EF4-FFF2-40B4-BE49-F238E27FC236}">
                <a16:creationId xmlns:a16="http://schemas.microsoft.com/office/drawing/2014/main" id="{43079D03-6C6E-02DB-46F0-22508463031A}"/>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4407013" y="376878"/>
            <a:ext cx="2854841" cy="821725"/>
          </a:xfrm>
          <a:prstGeom prst="rect">
            <a:avLst/>
          </a:prstGeom>
          <a:noFill/>
          <a:ln>
            <a:noFill/>
          </a:ln>
        </p:spPr>
      </p:pic>
    </p:spTree>
    <p:extLst>
      <p:ext uri="{BB962C8B-B14F-4D97-AF65-F5344CB8AC3E}">
        <p14:creationId xmlns:p14="http://schemas.microsoft.com/office/powerpoint/2010/main" val="936797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D6C8E-D1C1-0F24-54B6-3BDFC148785E}"/>
            </a:ext>
          </a:extLst>
        </p:cNvPr>
        <p:cNvGrpSpPr/>
        <p:nvPr/>
      </p:nvGrpSpPr>
      <p:grpSpPr>
        <a:xfrm>
          <a:off x="0" y="0"/>
          <a:ext cx="0" cy="0"/>
          <a:chOff x="0" y="0"/>
          <a:chExt cx="0" cy="0"/>
        </a:xfrm>
      </p:grpSpPr>
      <p:pic>
        <p:nvPicPr>
          <p:cNvPr id="5" name="Content Placeholder 4" descr="Hospital outline">
            <a:extLst>
              <a:ext uri="{FF2B5EF4-FFF2-40B4-BE49-F238E27FC236}">
                <a16:creationId xmlns:a16="http://schemas.microsoft.com/office/drawing/2014/main" id="{1F4B2591-FE43-D6F7-B0B6-D1A119AD58C0}"/>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29318" y="1478703"/>
            <a:ext cx="1523273" cy="1523273"/>
          </a:xfrm>
        </p:spPr>
      </p:pic>
      <p:pic>
        <p:nvPicPr>
          <p:cNvPr id="7" name="Graphic 6" descr="Doctor female outline">
            <a:extLst>
              <a:ext uri="{FF2B5EF4-FFF2-40B4-BE49-F238E27FC236}">
                <a16:creationId xmlns:a16="http://schemas.microsoft.com/office/drawing/2014/main" id="{384C2F27-22F8-2CAB-DE18-5317137749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96240" y="1393484"/>
            <a:ext cx="779001" cy="779001"/>
          </a:xfrm>
          <a:prstGeom prst="rect">
            <a:avLst/>
          </a:prstGeom>
        </p:spPr>
      </p:pic>
      <p:pic>
        <p:nvPicPr>
          <p:cNvPr id="9" name="Graphic 8" descr="Inpatient outline">
            <a:extLst>
              <a:ext uri="{FF2B5EF4-FFF2-40B4-BE49-F238E27FC236}">
                <a16:creationId xmlns:a16="http://schemas.microsoft.com/office/drawing/2014/main" id="{E9ABF343-A0F7-C5C0-B884-D8851444F4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606" y="2602791"/>
            <a:ext cx="777054" cy="777054"/>
          </a:xfrm>
          <a:prstGeom prst="rect">
            <a:avLst/>
          </a:prstGeom>
        </p:spPr>
      </p:pic>
      <p:pic>
        <p:nvPicPr>
          <p:cNvPr id="13" name="Graphic 12" descr="Medicine outline">
            <a:extLst>
              <a:ext uri="{FF2B5EF4-FFF2-40B4-BE49-F238E27FC236}">
                <a16:creationId xmlns:a16="http://schemas.microsoft.com/office/drawing/2014/main" id="{DEB56E6E-2166-F7F8-0279-E4815352AAD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77992" y="1436480"/>
            <a:ext cx="777054" cy="777054"/>
          </a:xfrm>
          <a:prstGeom prst="rect">
            <a:avLst/>
          </a:prstGeom>
        </p:spPr>
      </p:pic>
      <p:pic>
        <p:nvPicPr>
          <p:cNvPr id="1026" name="Picture 2" descr="Xray Icon Images, Stock Photos &amp;amp; Vectors | Shutterstock">
            <a:extLst>
              <a:ext uri="{FF2B5EF4-FFF2-40B4-BE49-F238E27FC236}">
                <a16:creationId xmlns:a16="http://schemas.microsoft.com/office/drawing/2014/main" id="{3E0F5B17-EAE1-2E30-6E3A-205415FED09C}"/>
              </a:ext>
            </a:extLst>
          </p:cNvPr>
          <p:cNvPicPr>
            <a:picLocks noChangeAspect="1" noChangeArrowheads="1"/>
          </p:cNvPicPr>
          <p:nvPr/>
        </p:nvPicPr>
        <p:blipFill rotWithShape="1">
          <a:blip r:embed="rId11">
            <a:duotone>
              <a:schemeClr val="bg2">
                <a:shade val="45000"/>
                <a:satMod val="135000"/>
              </a:schemeClr>
              <a:prstClr val="white"/>
            </a:duotone>
            <a:extLst>
              <a:ext uri="{28A0092B-C50C-407E-A947-70E740481C1C}">
                <a14:useLocalDpi xmlns:a14="http://schemas.microsoft.com/office/drawing/2010/main" val="0"/>
              </a:ext>
            </a:extLst>
          </a:blip>
          <a:srcRect l="24950" t="26537" r="25530" b="32152"/>
          <a:stretch/>
        </p:blipFill>
        <p:spPr bwMode="auto">
          <a:xfrm>
            <a:off x="2949486" y="2787043"/>
            <a:ext cx="672508" cy="60419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7981C92-5DA1-ABF4-7AF4-5A9BACBCE3FA}"/>
              </a:ext>
            </a:extLst>
          </p:cNvPr>
          <p:cNvPicPr>
            <a:picLocks noChangeAspect="1"/>
          </p:cNvPicPr>
          <p:nvPr/>
        </p:nvPicPr>
        <p:blipFill>
          <a:blip r:embed="rId12" cstate="print">
            <a:extLst>
              <a:ext uri="{28A0092B-C50C-407E-A947-70E740481C1C}">
                <a14:useLocalDpi xmlns:a14="http://schemas.microsoft.com/office/drawing/2010/main"/>
              </a:ext>
            </a:extLst>
          </a:blip>
          <a:srcRect/>
          <a:stretch>
            <a:fillRect/>
          </a:stretch>
        </p:blipFill>
        <p:spPr bwMode="auto">
          <a:xfrm>
            <a:off x="4407013" y="376878"/>
            <a:ext cx="2854841" cy="821725"/>
          </a:xfrm>
          <a:prstGeom prst="rect">
            <a:avLst/>
          </a:prstGeom>
          <a:noFill/>
          <a:ln>
            <a:noFill/>
          </a:ln>
        </p:spPr>
      </p:pic>
      <p:sp>
        <p:nvSpPr>
          <p:cNvPr id="4" name="Rectangle 3">
            <a:extLst>
              <a:ext uri="{FF2B5EF4-FFF2-40B4-BE49-F238E27FC236}">
                <a16:creationId xmlns:a16="http://schemas.microsoft.com/office/drawing/2014/main" id="{1502F8AE-4DA0-259D-A924-C1ACA3BC35AE}"/>
              </a:ext>
            </a:extLst>
          </p:cNvPr>
          <p:cNvSpPr/>
          <p:nvPr/>
        </p:nvSpPr>
        <p:spPr>
          <a:xfrm>
            <a:off x="4996164" y="5623848"/>
            <a:ext cx="2158851" cy="594000"/>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Infrastructure</a:t>
            </a:r>
          </a:p>
        </p:txBody>
      </p:sp>
      <p:sp>
        <p:nvSpPr>
          <p:cNvPr id="6" name="Rectangle 5">
            <a:extLst>
              <a:ext uri="{FF2B5EF4-FFF2-40B4-BE49-F238E27FC236}">
                <a16:creationId xmlns:a16="http://schemas.microsoft.com/office/drawing/2014/main" id="{923DD0A2-12B9-7026-493B-D42C05575C41}"/>
              </a:ext>
            </a:extLst>
          </p:cNvPr>
          <p:cNvSpPr/>
          <p:nvPr/>
        </p:nvSpPr>
        <p:spPr>
          <a:xfrm>
            <a:off x="8512504" y="5580857"/>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People</a:t>
            </a:r>
          </a:p>
        </p:txBody>
      </p:sp>
      <p:sp>
        <p:nvSpPr>
          <p:cNvPr id="8" name="TextBox 7">
            <a:extLst>
              <a:ext uri="{FF2B5EF4-FFF2-40B4-BE49-F238E27FC236}">
                <a16:creationId xmlns:a16="http://schemas.microsoft.com/office/drawing/2014/main" id="{9A35CD56-FB57-DBE2-99F5-684AF0C9452F}"/>
              </a:ext>
            </a:extLst>
          </p:cNvPr>
          <p:cNvSpPr txBox="1"/>
          <p:nvPr/>
        </p:nvSpPr>
        <p:spPr>
          <a:xfrm>
            <a:off x="1201151" y="3562131"/>
            <a:ext cx="2796689" cy="2246769"/>
          </a:xfrm>
          <a:prstGeom prst="rect">
            <a:avLst/>
          </a:prstGeom>
          <a:noFill/>
        </p:spPr>
        <p:txBody>
          <a:bodyPr wrap="square" rtlCol="0">
            <a:spAutoFit/>
          </a:bodyPr>
          <a:lstStyle/>
          <a:p>
            <a:pPr marL="257175" indent="-257175" defTabSz="685800">
              <a:buFont typeface="Arial" panose="020B0604020202020204" pitchFamily="34" charset="0"/>
              <a:buChar char="•"/>
            </a:pPr>
            <a:r>
              <a:rPr lang="en-US" sz="2000" dirty="0">
                <a:solidFill>
                  <a:srgbClr val="001120"/>
                </a:solidFill>
                <a:latin typeface="Calibri" panose="020F0502020204030204"/>
              </a:rPr>
              <a:t>Electronic data</a:t>
            </a:r>
          </a:p>
          <a:p>
            <a:pPr marL="257175" indent="-257175" defTabSz="685800">
              <a:buFont typeface="Arial" panose="020B0604020202020204" pitchFamily="34" charset="0"/>
              <a:buChar char="•"/>
            </a:pPr>
            <a:r>
              <a:rPr lang="en-US" sz="2000" dirty="0">
                <a:solidFill>
                  <a:srgbClr val="001120"/>
                </a:solidFill>
                <a:latin typeface="Calibri" panose="020F0502020204030204"/>
              </a:rPr>
              <a:t>~40 hospitals</a:t>
            </a:r>
          </a:p>
          <a:p>
            <a:pPr marL="257175" indent="-257175" defTabSz="685800">
              <a:buFont typeface="Arial" panose="020B0604020202020204" pitchFamily="34" charset="0"/>
              <a:buChar char="•"/>
            </a:pPr>
            <a:r>
              <a:rPr lang="en-US" sz="2000" dirty="0">
                <a:solidFill>
                  <a:srgbClr val="001120"/>
                </a:solidFill>
                <a:latin typeface="Calibri" panose="020F0502020204030204"/>
              </a:rPr>
              <a:t>&gt;60% of Ontario’s adult &amp; </a:t>
            </a:r>
            <a:r>
              <a:rPr lang="en-US" sz="2000" dirty="0" err="1">
                <a:solidFill>
                  <a:srgbClr val="001120"/>
                </a:solidFill>
                <a:latin typeface="Calibri" panose="020F0502020204030204"/>
              </a:rPr>
              <a:t>paediatric</a:t>
            </a:r>
            <a:r>
              <a:rPr lang="en-US" sz="2000" dirty="0">
                <a:solidFill>
                  <a:srgbClr val="001120"/>
                </a:solidFill>
                <a:latin typeface="Calibri" panose="020F0502020204030204"/>
              </a:rPr>
              <a:t> patients</a:t>
            </a:r>
          </a:p>
          <a:p>
            <a:pPr marL="257175" indent="-257175" defTabSz="685800">
              <a:buFont typeface="Arial" panose="020B0604020202020204" pitchFamily="34" charset="0"/>
              <a:buChar char="•"/>
            </a:pPr>
            <a:r>
              <a:rPr lang="en-US" sz="2000" dirty="0">
                <a:solidFill>
                  <a:srgbClr val="001120"/>
                </a:solidFill>
                <a:latin typeface="Calibri" panose="020F0502020204030204"/>
              </a:rPr>
              <a:t>&gt;2.4M hospitalizations</a:t>
            </a:r>
          </a:p>
          <a:p>
            <a:pPr marL="257175" indent="-257175" defTabSz="685800">
              <a:buFont typeface="Arial" panose="020B0604020202020204" pitchFamily="34" charset="0"/>
              <a:buChar char="•"/>
            </a:pPr>
            <a:endParaRPr lang="en-US" sz="2000" dirty="0">
              <a:solidFill>
                <a:srgbClr val="001120"/>
              </a:solidFill>
              <a:latin typeface="Calibri" panose="020F0502020204030204"/>
            </a:endParaRPr>
          </a:p>
        </p:txBody>
      </p:sp>
      <p:sp>
        <p:nvSpPr>
          <p:cNvPr id="10" name="Rectangle 9">
            <a:extLst>
              <a:ext uri="{FF2B5EF4-FFF2-40B4-BE49-F238E27FC236}">
                <a16:creationId xmlns:a16="http://schemas.microsoft.com/office/drawing/2014/main" id="{F3A75303-1841-D0D4-ABAA-FBC43A87264E}"/>
              </a:ext>
            </a:extLst>
          </p:cNvPr>
          <p:cNvSpPr/>
          <p:nvPr/>
        </p:nvSpPr>
        <p:spPr>
          <a:xfrm>
            <a:off x="1310954" y="5623848"/>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Data</a:t>
            </a:r>
          </a:p>
        </p:txBody>
      </p:sp>
    </p:spTree>
    <p:extLst>
      <p:ext uri="{BB962C8B-B14F-4D97-AF65-F5344CB8AC3E}">
        <p14:creationId xmlns:p14="http://schemas.microsoft.com/office/powerpoint/2010/main" val="15973864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706C-C048-D90F-ED39-3BFF4AABAADB}"/>
            </a:ext>
          </a:extLst>
        </p:cNvPr>
        <p:cNvGrpSpPr/>
        <p:nvPr/>
      </p:nvGrpSpPr>
      <p:grpSpPr>
        <a:xfrm>
          <a:off x="0" y="0"/>
          <a:ext cx="0" cy="0"/>
          <a:chOff x="0" y="0"/>
          <a:chExt cx="0" cy="0"/>
        </a:xfrm>
      </p:grpSpPr>
      <p:pic>
        <p:nvPicPr>
          <p:cNvPr id="5" name="Content Placeholder 4" descr="Hospital outline">
            <a:extLst>
              <a:ext uri="{FF2B5EF4-FFF2-40B4-BE49-F238E27FC236}">
                <a16:creationId xmlns:a16="http://schemas.microsoft.com/office/drawing/2014/main" id="{0C96A913-F966-6728-0231-0F4DA5F7FB01}"/>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29318" y="1478703"/>
            <a:ext cx="1523273" cy="1523273"/>
          </a:xfrm>
        </p:spPr>
      </p:pic>
      <p:pic>
        <p:nvPicPr>
          <p:cNvPr id="7" name="Graphic 6" descr="Doctor female outline">
            <a:extLst>
              <a:ext uri="{FF2B5EF4-FFF2-40B4-BE49-F238E27FC236}">
                <a16:creationId xmlns:a16="http://schemas.microsoft.com/office/drawing/2014/main" id="{F8EA756B-60F9-3157-D0CA-9FFF4F0569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96240" y="1393484"/>
            <a:ext cx="779001" cy="779001"/>
          </a:xfrm>
          <a:prstGeom prst="rect">
            <a:avLst/>
          </a:prstGeom>
        </p:spPr>
      </p:pic>
      <p:pic>
        <p:nvPicPr>
          <p:cNvPr id="9" name="Graphic 8" descr="Inpatient outline">
            <a:extLst>
              <a:ext uri="{FF2B5EF4-FFF2-40B4-BE49-F238E27FC236}">
                <a16:creationId xmlns:a16="http://schemas.microsoft.com/office/drawing/2014/main" id="{AE6C330D-77A6-EE28-1501-3B4BE076B12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606" y="2602791"/>
            <a:ext cx="777054" cy="777054"/>
          </a:xfrm>
          <a:prstGeom prst="rect">
            <a:avLst/>
          </a:prstGeom>
        </p:spPr>
      </p:pic>
      <p:pic>
        <p:nvPicPr>
          <p:cNvPr id="13" name="Graphic 12" descr="Medicine outline">
            <a:extLst>
              <a:ext uri="{FF2B5EF4-FFF2-40B4-BE49-F238E27FC236}">
                <a16:creationId xmlns:a16="http://schemas.microsoft.com/office/drawing/2014/main" id="{22FCD142-8E85-A8A7-C8D4-7A791347FD0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77992" y="1436480"/>
            <a:ext cx="777054" cy="777054"/>
          </a:xfrm>
          <a:prstGeom prst="rect">
            <a:avLst/>
          </a:prstGeom>
        </p:spPr>
      </p:pic>
      <p:pic>
        <p:nvPicPr>
          <p:cNvPr id="1026" name="Picture 2" descr="Xray Icon Images, Stock Photos &amp;amp; Vectors | Shutterstock">
            <a:extLst>
              <a:ext uri="{FF2B5EF4-FFF2-40B4-BE49-F238E27FC236}">
                <a16:creationId xmlns:a16="http://schemas.microsoft.com/office/drawing/2014/main" id="{371E75D2-5D1F-F0CC-2BCD-22DCF4F726F3}"/>
              </a:ext>
            </a:extLst>
          </p:cNvPr>
          <p:cNvPicPr>
            <a:picLocks noChangeAspect="1" noChangeArrowheads="1"/>
          </p:cNvPicPr>
          <p:nvPr/>
        </p:nvPicPr>
        <p:blipFill rotWithShape="1">
          <a:blip r:embed="rId11">
            <a:duotone>
              <a:schemeClr val="bg2">
                <a:shade val="45000"/>
                <a:satMod val="135000"/>
              </a:schemeClr>
              <a:prstClr val="white"/>
            </a:duotone>
            <a:extLst>
              <a:ext uri="{28A0092B-C50C-407E-A947-70E740481C1C}">
                <a14:useLocalDpi xmlns:a14="http://schemas.microsoft.com/office/drawing/2010/main" val="0"/>
              </a:ext>
            </a:extLst>
          </a:blip>
          <a:srcRect l="24950" t="26537" r="25530" b="32152"/>
          <a:stretch/>
        </p:blipFill>
        <p:spPr bwMode="auto">
          <a:xfrm>
            <a:off x="2949486" y="2787043"/>
            <a:ext cx="672508" cy="6041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A close up of a logo&#10;&#10;Description generated with very high confidence">
            <a:extLst>
              <a:ext uri="{FF2B5EF4-FFF2-40B4-BE49-F238E27FC236}">
                <a16:creationId xmlns:a16="http://schemas.microsoft.com/office/drawing/2014/main" id="{6B7FB06E-8CD8-F304-EDB3-F0A88BABF3BF}"/>
              </a:ext>
            </a:extLst>
          </p:cNvPr>
          <p:cNvPicPr>
            <a:picLocks noChangeAspect="1"/>
          </p:cNvPicPr>
          <p:nvPr/>
        </p:nvPicPr>
        <p:blipFill>
          <a:blip r:embed="rId1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74940" y="1989556"/>
            <a:ext cx="1208918" cy="1208918"/>
          </a:xfrm>
          <a:prstGeom prst="rect">
            <a:avLst/>
          </a:prstGeom>
        </p:spPr>
      </p:pic>
      <p:sp>
        <p:nvSpPr>
          <p:cNvPr id="40" name="TextBox 39">
            <a:extLst>
              <a:ext uri="{FF2B5EF4-FFF2-40B4-BE49-F238E27FC236}">
                <a16:creationId xmlns:a16="http://schemas.microsoft.com/office/drawing/2014/main" id="{C81B0566-D3C7-AB03-56AE-6EF1A41B26FF}"/>
              </a:ext>
            </a:extLst>
          </p:cNvPr>
          <p:cNvSpPr txBox="1"/>
          <p:nvPr/>
        </p:nvSpPr>
        <p:spPr>
          <a:xfrm>
            <a:off x="4869661" y="3562131"/>
            <a:ext cx="2536580" cy="1938992"/>
          </a:xfrm>
          <a:prstGeom prst="rect">
            <a:avLst/>
          </a:prstGeom>
          <a:noFill/>
        </p:spPr>
        <p:txBody>
          <a:bodyPr wrap="square" rtlCol="0">
            <a:spAutoFit/>
          </a:bodyPr>
          <a:lstStyle/>
          <a:p>
            <a:pPr marL="257175" indent="-257175" defTabSz="685800">
              <a:buFont typeface="Arial" panose="020B0604020202020204" pitchFamily="34" charset="0"/>
              <a:buChar char="•"/>
            </a:pPr>
            <a:r>
              <a:rPr lang="en-US" sz="2000" dirty="0">
                <a:solidFill>
                  <a:srgbClr val="001120"/>
                </a:solidFill>
                <a:latin typeface="Calibri" panose="020F0502020204030204"/>
              </a:rPr>
              <a:t>High performance computing environment </a:t>
            </a:r>
          </a:p>
          <a:p>
            <a:pPr marL="257175" indent="-257175" defTabSz="685800">
              <a:buFont typeface="Arial" panose="020B0604020202020204" pitchFamily="34" charset="0"/>
              <a:buChar char="•"/>
            </a:pPr>
            <a:r>
              <a:rPr lang="en-US" sz="2000" dirty="0">
                <a:solidFill>
                  <a:srgbClr val="001120"/>
                </a:solidFill>
                <a:latin typeface="Calibri" panose="020F0502020204030204"/>
              </a:rPr>
              <a:t>Research software and supporting materials</a:t>
            </a:r>
          </a:p>
        </p:txBody>
      </p:sp>
      <p:cxnSp>
        <p:nvCxnSpPr>
          <p:cNvPr id="42" name="Straight Arrow Connector 41">
            <a:extLst>
              <a:ext uri="{FF2B5EF4-FFF2-40B4-BE49-F238E27FC236}">
                <a16:creationId xmlns:a16="http://schemas.microsoft.com/office/drawing/2014/main" id="{5B927EAD-E489-CAE9-BC58-99A99524797B}"/>
              </a:ext>
            </a:extLst>
          </p:cNvPr>
          <p:cNvCxnSpPr>
            <a:cxnSpLocks/>
          </p:cNvCxnSpPr>
          <p:nvPr/>
        </p:nvCxnSpPr>
        <p:spPr>
          <a:xfrm>
            <a:off x="4055273" y="2580599"/>
            <a:ext cx="814388"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01E06A0-3352-DAB5-05F7-0D4D40EE2B96}"/>
              </a:ext>
            </a:extLst>
          </p:cNvPr>
          <p:cNvPicPr>
            <a:picLocks noChangeAspect="1"/>
          </p:cNvPicPr>
          <p:nvPr/>
        </p:nvPicPr>
        <p:blipFill>
          <a:blip r:embed="rId13" cstate="print">
            <a:extLst>
              <a:ext uri="{28A0092B-C50C-407E-A947-70E740481C1C}">
                <a14:useLocalDpi xmlns:a14="http://schemas.microsoft.com/office/drawing/2010/main"/>
              </a:ext>
            </a:extLst>
          </a:blip>
          <a:srcRect/>
          <a:stretch>
            <a:fillRect/>
          </a:stretch>
        </p:blipFill>
        <p:spPr bwMode="auto">
          <a:xfrm>
            <a:off x="4407013" y="376878"/>
            <a:ext cx="2854841" cy="821725"/>
          </a:xfrm>
          <a:prstGeom prst="rect">
            <a:avLst/>
          </a:prstGeom>
          <a:noFill/>
          <a:ln>
            <a:noFill/>
          </a:ln>
        </p:spPr>
      </p:pic>
      <p:sp>
        <p:nvSpPr>
          <p:cNvPr id="4" name="Rectangle 3">
            <a:extLst>
              <a:ext uri="{FF2B5EF4-FFF2-40B4-BE49-F238E27FC236}">
                <a16:creationId xmlns:a16="http://schemas.microsoft.com/office/drawing/2014/main" id="{E8052A0A-D043-0715-CA29-99A2E7D0DCEC}"/>
              </a:ext>
            </a:extLst>
          </p:cNvPr>
          <p:cNvSpPr/>
          <p:nvPr/>
        </p:nvSpPr>
        <p:spPr>
          <a:xfrm>
            <a:off x="4996164" y="5623848"/>
            <a:ext cx="2158851" cy="594000"/>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Infrastructure</a:t>
            </a:r>
          </a:p>
        </p:txBody>
      </p:sp>
      <p:sp>
        <p:nvSpPr>
          <p:cNvPr id="6" name="Rectangle 5">
            <a:extLst>
              <a:ext uri="{FF2B5EF4-FFF2-40B4-BE49-F238E27FC236}">
                <a16:creationId xmlns:a16="http://schemas.microsoft.com/office/drawing/2014/main" id="{F6CB1B44-F08A-6FFA-8A18-AB5CDD22525F}"/>
              </a:ext>
            </a:extLst>
          </p:cNvPr>
          <p:cNvSpPr/>
          <p:nvPr/>
        </p:nvSpPr>
        <p:spPr>
          <a:xfrm>
            <a:off x="8512504" y="5580857"/>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People</a:t>
            </a:r>
          </a:p>
        </p:txBody>
      </p:sp>
      <p:sp>
        <p:nvSpPr>
          <p:cNvPr id="8" name="TextBox 7">
            <a:extLst>
              <a:ext uri="{FF2B5EF4-FFF2-40B4-BE49-F238E27FC236}">
                <a16:creationId xmlns:a16="http://schemas.microsoft.com/office/drawing/2014/main" id="{A6136E5F-2DBD-950A-6C82-1101EBBD6854}"/>
              </a:ext>
            </a:extLst>
          </p:cNvPr>
          <p:cNvSpPr txBox="1"/>
          <p:nvPr/>
        </p:nvSpPr>
        <p:spPr>
          <a:xfrm>
            <a:off x="1201151" y="3562131"/>
            <a:ext cx="2796689" cy="2246769"/>
          </a:xfrm>
          <a:prstGeom prst="rect">
            <a:avLst/>
          </a:prstGeom>
          <a:noFill/>
        </p:spPr>
        <p:txBody>
          <a:bodyPr wrap="square" rtlCol="0">
            <a:spAutoFit/>
          </a:bodyPr>
          <a:lstStyle/>
          <a:p>
            <a:pPr marL="257175" indent="-257175" defTabSz="685800">
              <a:buFont typeface="Arial" panose="020B0604020202020204" pitchFamily="34" charset="0"/>
              <a:buChar char="•"/>
            </a:pPr>
            <a:r>
              <a:rPr lang="en-US" sz="2000" dirty="0">
                <a:solidFill>
                  <a:srgbClr val="001120"/>
                </a:solidFill>
                <a:latin typeface="Calibri" panose="020F0502020204030204"/>
              </a:rPr>
              <a:t>Electronic data</a:t>
            </a:r>
          </a:p>
          <a:p>
            <a:pPr marL="257175" indent="-257175" defTabSz="685800">
              <a:buFont typeface="Arial" panose="020B0604020202020204" pitchFamily="34" charset="0"/>
              <a:buChar char="•"/>
            </a:pPr>
            <a:r>
              <a:rPr lang="en-US" sz="2000" dirty="0">
                <a:solidFill>
                  <a:srgbClr val="001120"/>
                </a:solidFill>
                <a:latin typeface="Calibri" panose="020F0502020204030204"/>
              </a:rPr>
              <a:t>~40 hospitals</a:t>
            </a:r>
          </a:p>
          <a:p>
            <a:pPr marL="257175" indent="-257175" defTabSz="685800">
              <a:buFont typeface="Arial" panose="020B0604020202020204" pitchFamily="34" charset="0"/>
              <a:buChar char="•"/>
            </a:pPr>
            <a:r>
              <a:rPr lang="en-US" sz="2000" dirty="0">
                <a:solidFill>
                  <a:srgbClr val="001120"/>
                </a:solidFill>
                <a:latin typeface="Calibri" panose="020F0502020204030204"/>
              </a:rPr>
              <a:t>&gt;60% of Ontario’s adult &amp; </a:t>
            </a:r>
            <a:r>
              <a:rPr lang="en-US" sz="2000" dirty="0" err="1">
                <a:solidFill>
                  <a:srgbClr val="001120"/>
                </a:solidFill>
                <a:latin typeface="Calibri" panose="020F0502020204030204"/>
              </a:rPr>
              <a:t>paediatric</a:t>
            </a:r>
            <a:r>
              <a:rPr lang="en-US" sz="2000" dirty="0">
                <a:solidFill>
                  <a:srgbClr val="001120"/>
                </a:solidFill>
                <a:latin typeface="Calibri" panose="020F0502020204030204"/>
              </a:rPr>
              <a:t> patients</a:t>
            </a:r>
          </a:p>
          <a:p>
            <a:pPr marL="257175" indent="-257175" defTabSz="685800">
              <a:buFont typeface="Arial" panose="020B0604020202020204" pitchFamily="34" charset="0"/>
              <a:buChar char="•"/>
            </a:pPr>
            <a:r>
              <a:rPr lang="en-US" sz="2000" dirty="0">
                <a:solidFill>
                  <a:srgbClr val="001120"/>
                </a:solidFill>
                <a:latin typeface="Calibri" panose="020F0502020204030204"/>
              </a:rPr>
              <a:t>&gt;2.4M hospitalizations</a:t>
            </a:r>
          </a:p>
          <a:p>
            <a:pPr marL="257175" indent="-257175" defTabSz="685800">
              <a:buFont typeface="Arial" panose="020B0604020202020204" pitchFamily="34" charset="0"/>
              <a:buChar char="•"/>
            </a:pPr>
            <a:endParaRPr lang="en-US" sz="2000" dirty="0">
              <a:solidFill>
                <a:srgbClr val="001120"/>
              </a:solidFill>
              <a:latin typeface="Calibri" panose="020F0502020204030204"/>
            </a:endParaRPr>
          </a:p>
        </p:txBody>
      </p:sp>
      <p:sp>
        <p:nvSpPr>
          <p:cNvPr id="10" name="Rectangle 9">
            <a:extLst>
              <a:ext uri="{FF2B5EF4-FFF2-40B4-BE49-F238E27FC236}">
                <a16:creationId xmlns:a16="http://schemas.microsoft.com/office/drawing/2014/main" id="{DE9DED55-13F0-33A7-472F-26F43043105D}"/>
              </a:ext>
            </a:extLst>
          </p:cNvPr>
          <p:cNvSpPr/>
          <p:nvPr/>
        </p:nvSpPr>
        <p:spPr>
          <a:xfrm>
            <a:off x="1310954" y="5623848"/>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Data</a:t>
            </a:r>
          </a:p>
        </p:txBody>
      </p:sp>
    </p:spTree>
    <p:extLst>
      <p:ext uri="{BB962C8B-B14F-4D97-AF65-F5344CB8AC3E}">
        <p14:creationId xmlns:p14="http://schemas.microsoft.com/office/powerpoint/2010/main" val="644412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E6837-2A14-7806-1CE0-16FA886041D9}"/>
            </a:ext>
          </a:extLst>
        </p:cNvPr>
        <p:cNvGrpSpPr/>
        <p:nvPr/>
      </p:nvGrpSpPr>
      <p:grpSpPr>
        <a:xfrm>
          <a:off x="0" y="0"/>
          <a:ext cx="0" cy="0"/>
          <a:chOff x="0" y="0"/>
          <a:chExt cx="0" cy="0"/>
        </a:xfrm>
      </p:grpSpPr>
      <p:pic>
        <p:nvPicPr>
          <p:cNvPr id="5" name="Content Placeholder 4" descr="Hospital outline">
            <a:extLst>
              <a:ext uri="{FF2B5EF4-FFF2-40B4-BE49-F238E27FC236}">
                <a16:creationId xmlns:a16="http://schemas.microsoft.com/office/drawing/2014/main" id="{103E8E44-4F79-D8B0-2995-0379652D612F}"/>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29318" y="1478703"/>
            <a:ext cx="1523273" cy="1523273"/>
          </a:xfrm>
        </p:spPr>
      </p:pic>
      <p:pic>
        <p:nvPicPr>
          <p:cNvPr id="7" name="Graphic 6" descr="Doctor female outline">
            <a:extLst>
              <a:ext uri="{FF2B5EF4-FFF2-40B4-BE49-F238E27FC236}">
                <a16:creationId xmlns:a16="http://schemas.microsoft.com/office/drawing/2014/main" id="{B1C9DE18-3507-A3C0-85A3-2B9C337D31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96240" y="1393484"/>
            <a:ext cx="779001" cy="779001"/>
          </a:xfrm>
          <a:prstGeom prst="rect">
            <a:avLst/>
          </a:prstGeom>
        </p:spPr>
      </p:pic>
      <p:pic>
        <p:nvPicPr>
          <p:cNvPr id="9" name="Graphic 8" descr="Inpatient outline">
            <a:extLst>
              <a:ext uri="{FF2B5EF4-FFF2-40B4-BE49-F238E27FC236}">
                <a16:creationId xmlns:a16="http://schemas.microsoft.com/office/drawing/2014/main" id="{EC712587-432B-B19A-0C65-B9DEFBC1A34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606" y="2602791"/>
            <a:ext cx="777054" cy="777054"/>
          </a:xfrm>
          <a:prstGeom prst="rect">
            <a:avLst/>
          </a:prstGeom>
        </p:spPr>
      </p:pic>
      <p:pic>
        <p:nvPicPr>
          <p:cNvPr id="13" name="Graphic 12" descr="Medicine outline">
            <a:extLst>
              <a:ext uri="{FF2B5EF4-FFF2-40B4-BE49-F238E27FC236}">
                <a16:creationId xmlns:a16="http://schemas.microsoft.com/office/drawing/2014/main" id="{4442FEFD-B886-867E-D531-E849308423E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77992" y="1436480"/>
            <a:ext cx="777054" cy="777054"/>
          </a:xfrm>
          <a:prstGeom prst="rect">
            <a:avLst/>
          </a:prstGeom>
        </p:spPr>
      </p:pic>
      <p:pic>
        <p:nvPicPr>
          <p:cNvPr id="1026" name="Picture 2" descr="Xray Icon Images, Stock Photos &amp;amp; Vectors | Shutterstock">
            <a:extLst>
              <a:ext uri="{FF2B5EF4-FFF2-40B4-BE49-F238E27FC236}">
                <a16:creationId xmlns:a16="http://schemas.microsoft.com/office/drawing/2014/main" id="{B18953E3-9156-8D2E-C4CC-8831310AC557}"/>
              </a:ext>
            </a:extLst>
          </p:cNvPr>
          <p:cNvPicPr>
            <a:picLocks noChangeAspect="1" noChangeArrowheads="1"/>
          </p:cNvPicPr>
          <p:nvPr/>
        </p:nvPicPr>
        <p:blipFill rotWithShape="1">
          <a:blip r:embed="rId11">
            <a:duotone>
              <a:schemeClr val="bg2">
                <a:shade val="45000"/>
                <a:satMod val="135000"/>
              </a:schemeClr>
              <a:prstClr val="white"/>
            </a:duotone>
            <a:extLst>
              <a:ext uri="{28A0092B-C50C-407E-A947-70E740481C1C}">
                <a14:useLocalDpi xmlns:a14="http://schemas.microsoft.com/office/drawing/2010/main" val="0"/>
              </a:ext>
            </a:extLst>
          </a:blip>
          <a:srcRect l="24950" t="26537" r="25530" b="32152"/>
          <a:stretch/>
        </p:blipFill>
        <p:spPr bwMode="auto">
          <a:xfrm>
            <a:off x="2949486" y="2787043"/>
            <a:ext cx="672508" cy="6041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A close up of a logo&#10;&#10;Description generated with very high confidence">
            <a:extLst>
              <a:ext uri="{FF2B5EF4-FFF2-40B4-BE49-F238E27FC236}">
                <a16:creationId xmlns:a16="http://schemas.microsoft.com/office/drawing/2014/main" id="{6A2C6BBE-A234-7F4F-9010-0D2925D7942C}"/>
              </a:ext>
            </a:extLst>
          </p:cNvPr>
          <p:cNvPicPr>
            <a:picLocks noChangeAspect="1"/>
          </p:cNvPicPr>
          <p:nvPr/>
        </p:nvPicPr>
        <p:blipFill>
          <a:blip r:embed="rId1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74940" y="1989556"/>
            <a:ext cx="1208918" cy="1208918"/>
          </a:xfrm>
          <a:prstGeom prst="rect">
            <a:avLst/>
          </a:prstGeom>
        </p:spPr>
      </p:pic>
      <p:pic>
        <p:nvPicPr>
          <p:cNvPr id="27" name="Graphic 26" descr="Programmer female outline">
            <a:extLst>
              <a:ext uri="{FF2B5EF4-FFF2-40B4-BE49-F238E27FC236}">
                <a16:creationId xmlns:a16="http://schemas.microsoft.com/office/drawing/2014/main" id="{AC3A41AF-2E1B-5DAA-8DF2-F67A6426809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56609" y="1605327"/>
            <a:ext cx="685800" cy="685800"/>
          </a:xfrm>
          <a:prstGeom prst="rect">
            <a:avLst/>
          </a:prstGeom>
        </p:spPr>
      </p:pic>
      <p:pic>
        <p:nvPicPr>
          <p:cNvPr id="29" name="Graphic 28" descr="Programmer male outline">
            <a:extLst>
              <a:ext uri="{FF2B5EF4-FFF2-40B4-BE49-F238E27FC236}">
                <a16:creationId xmlns:a16="http://schemas.microsoft.com/office/drawing/2014/main" id="{51CF5352-4992-3B7C-077D-1E49B3CA277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145268" y="2326830"/>
            <a:ext cx="685800" cy="685800"/>
          </a:xfrm>
          <a:prstGeom prst="rect">
            <a:avLst/>
          </a:prstGeom>
        </p:spPr>
      </p:pic>
      <p:pic>
        <p:nvPicPr>
          <p:cNvPr id="31" name="Graphic 30" descr="Programmer male outline">
            <a:extLst>
              <a:ext uri="{FF2B5EF4-FFF2-40B4-BE49-F238E27FC236}">
                <a16:creationId xmlns:a16="http://schemas.microsoft.com/office/drawing/2014/main" id="{7BE44317-543F-E3AD-3A3C-74A15D7569B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497540" y="1943205"/>
            <a:ext cx="685800" cy="685800"/>
          </a:xfrm>
          <a:prstGeom prst="rect">
            <a:avLst/>
          </a:prstGeom>
        </p:spPr>
      </p:pic>
      <p:pic>
        <p:nvPicPr>
          <p:cNvPr id="33" name="Graphic 32" descr="Programmer female outline">
            <a:extLst>
              <a:ext uri="{FF2B5EF4-FFF2-40B4-BE49-F238E27FC236}">
                <a16:creationId xmlns:a16="http://schemas.microsoft.com/office/drawing/2014/main" id="{CF2EDF98-BC9A-3723-F6C7-CF27D10F561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605510" y="1782985"/>
            <a:ext cx="685800" cy="685800"/>
          </a:xfrm>
          <a:prstGeom prst="rect">
            <a:avLst/>
          </a:prstGeom>
        </p:spPr>
      </p:pic>
      <p:pic>
        <p:nvPicPr>
          <p:cNvPr id="34" name="Graphic 33" descr="Programmer female outline">
            <a:extLst>
              <a:ext uri="{FF2B5EF4-FFF2-40B4-BE49-F238E27FC236}">
                <a16:creationId xmlns:a16="http://schemas.microsoft.com/office/drawing/2014/main" id="{4FDB9002-36CB-0479-A457-01A2ACFD8DA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21653" y="2664708"/>
            <a:ext cx="685800" cy="685800"/>
          </a:xfrm>
          <a:prstGeom prst="rect">
            <a:avLst/>
          </a:prstGeom>
        </p:spPr>
      </p:pic>
      <p:pic>
        <p:nvPicPr>
          <p:cNvPr id="37" name="Graphic 36" descr="Programmer male outline">
            <a:extLst>
              <a:ext uri="{FF2B5EF4-FFF2-40B4-BE49-F238E27FC236}">
                <a16:creationId xmlns:a16="http://schemas.microsoft.com/office/drawing/2014/main" id="{26D25FDD-2318-C0B5-FCC9-F312124521F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605680" y="2705433"/>
            <a:ext cx="685800" cy="685800"/>
          </a:xfrm>
          <a:prstGeom prst="rect">
            <a:avLst/>
          </a:prstGeom>
        </p:spPr>
      </p:pic>
      <p:sp>
        <p:nvSpPr>
          <p:cNvPr id="41" name="TextBox 40">
            <a:extLst>
              <a:ext uri="{FF2B5EF4-FFF2-40B4-BE49-F238E27FC236}">
                <a16:creationId xmlns:a16="http://schemas.microsoft.com/office/drawing/2014/main" id="{927E8A04-759E-6A3B-A51C-DB84B3964701}"/>
              </a:ext>
            </a:extLst>
          </p:cNvPr>
          <p:cNvSpPr txBox="1"/>
          <p:nvPr/>
        </p:nvSpPr>
        <p:spPr>
          <a:xfrm>
            <a:off x="8194160" y="3747370"/>
            <a:ext cx="2796689" cy="1631216"/>
          </a:xfrm>
          <a:prstGeom prst="rect">
            <a:avLst/>
          </a:prstGeom>
          <a:noFill/>
        </p:spPr>
        <p:txBody>
          <a:bodyPr wrap="square" rtlCol="0">
            <a:spAutoFit/>
          </a:bodyPr>
          <a:lstStyle/>
          <a:p>
            <a:pPr marL="257175" indent="-257175" defTabSz="685800">
              <a:buFont typeface="Arial" panose="020B0604020202020204" pitchFamily="34" charset="0"/>
              <a:buChar char="•"/>
            </a:pPr>
            <a:r>
              <a:rPr lang="en-US" sz="2000" dirty="0">
                <a:solidFill>
                  <a:srgbClr val="001120"/>
                </a:solidFill>
                <a:latin typeface="Calibri" panose="020F0502020204030204"/>
              </a:rPr>
              <a:t>&gt;1000 scientists, students, clinicians</a:t>
            </a:r>
          </a:p>
          <a:p>
            <a:pPr marL="257175" indent="-257175" defTabSz="685800">
              <a:buFont typeface="Arial" panose="020B0604020202020204" pitchFamily="34" charset="0"/>
              <a:buChar char="•"/>
            </a:pPr>
            <a:r>
              <a:rPr lang="en-US" sz="2000" dirty="0">
                <a:solidFill>
                  <a:srgbClr val="001120"/>
                </a:solidFill>
                <a:latin typeface="Calibri" panose="020F0502020204030204"/>
              </a:rPr>
              <a:t>&gt;100 active projects</a:t>
            </a:r>
          </a:p>
          <a:p>
            <a:pPr marL="257175" indent="-257175" defTabSz="685800">
              <a:buFont typeface="Arial" panose="020B0604020202020204" pitchFamily="34" charset="0"/>
              <a:buChar char="•"/>
            </a:pPr>
            <a:r>
              <a:rPr lang="en-US" sz="2000" dirty="0">
                <a:solidFill>
                  <a:srgbClr val="001120"/>
                </a:solidFill>
                <a:latin typeface="Calibri" panose="020F0502020204030204"/>
              </a:rPr>
              <a:t>&gt; $210 million grants at &gt;20 institutions</a:t>
            </a:r>
          </a:p>
        </p:txBody>
      </p:sp>
      <p:cxnSp>
        <p:nvCxnSpPr>
          <p:cNvPr id="42" name="Straight Arrow Connector 41">
            <a:extLst>
              <a:ext uri="{FF2B5EF4-FFF2-40B4-BE49-F238E27FC236}">
                <a16:creationId xmlns:a16="http://schemas.microsoft.com/office/drawing/2014/main" id="{8538DB52-75C0-9654-9612-AE9FE83E9F2C}"/>
              </a:ext>
            </a:extLst>
          </p:cNvPr>
          <p:cNvCxnSpPr>
            <a:cxnSpLocks/>
          </p:cNvCxnSpPr>
          <p:nvPr/>
        </p:nvCxnSpPr>
        <p:spPr>
          <a:xfrm>
            <a:off x="4055273" y="2580599"/>
            <a:ext cx="814388"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6B9A3C7-106B-F8E4-10D1-20CE770855A2}"/>
              </a:ext>
            </a:extLst>
          </p:cNvPr>
          <p:cNvCxnSpPr>
            <a:cxnSpLocks/>
          </p:cNvCxnSpPr>
          <p:nvPr/>
        </p:nvCxnSpPr>
        <p:spPr>
          <a:xfrm flipV="1">
            <a:off x="6839538" y="2251549"/>
            <a:ext cx="1260998" cy="32905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F05210C-C307-B35F-3669-F972B3E39041}"/>
              </a:ext>
            </a:extLst>
          </p:cNvPr>
          <p:cNvCxnSpPr>
            <a:cxnSpLocks/>
          </p:cNvCxnSpPr>
          <p:nvPr/>
        </p:nvCxnSpPr>
        <p:spPr>
          <a:xfrm>
            <a:off x="6839538" y="2783409"/>
            <a:ext cx="1260998" cy="29943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AB6C253-B4CF-32AE-7AC6-4F14E76DF55B}"/>
              </a:ext>
            </a:extLst>
          </p:cNvPr>
          <p:cNvPicPr>
            <a:picLocks noChangeAspect="1"/>
          </p:cNvPicPr>
          <p:nvPr/>
        </p:nvPicPr>
        <p:blipFill>
          <a:blip r:embed="rId17" cstate="print">
            <a:extLst>
              <a:ext uri="{28A0092B-C50C-407E-A947-70E740481C1C}">
                <a14:useLocalDpi xmlns:a14="http://schemas.microsoft.com/office/drawing/2010/main"/>
              </a:ext>
            </a:extLst>
          </a:blip>
          <a:srcRect/>
          <a:stretch>
            <a:fillRect/>
          </a:stretch>
        </p:blipFill>
        <p:spPr bwMode="auto">
          <a:xfrm>
            <a:off x="4407013" y="376878"/>
            <a:ext cx="2854841" cy="821725"/>
          </a:xfrm>
          <a:prstGeom prst="rect">
            <a:avLst/>
          </a:prstGeom>
          <a:noFill/>
          <a:ln>
            <a:noFill/>
          </a:ln>
        </p:spPr>
      </p:pic>
      <p:sp>
        <p:nvSpPr>
          <p:cNvPr id="4" name="Rectangle 3">
            <a:extLst>
              <a:ext uri="{FF2B5EF4-FFF2-40B4-BE49-F238E27FC236}">
                <a16:creationId xmlns:a16="http://schemas.microsoft.com/office/drawing/2014/main" id="{353F0191-659D-6651-F98D-94CDC9DF7172}"/>
              </a:ext>
            </a:extLst>
          </p:cNvPr>
          <p:cNvSpPr/>
          <p:nvPr/>
        </p:nvSpPr>
        <p:spPr>
          <a:xfrm>
            <a:off x="4996164" y="5623848"/>
            <a:ext cx="2158851" cy="594000"/>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Infrastructure</a:t>
            </a:r>
          </a:p>
        </p:txBody>
      </p:sp>
      <p:sp>
        <p:nvSpPr>
          <p:cNvPr id="6" name="Rectangle 5">
            <a:extLst>
              <a:ext uri="{FF2B5EF4-FFF2-40B4-BE49-F238E27FC236}">
                <a16:creationId xmlns:a16="http://schemas.microsoft.com/office/drawing/2014/main" id="{FBF895EC-2AEF-AFC1-8558-99F5207B2446}"/>
              </a:ext>
            </a:extLst>
          </p:cNvPr>
          <p:cNvSpPr/>
          <p:nvPr/>
        </p:nvSpPr>
        <p:spPr>
          <a:xfrm>
            <a:off x="8512504" y="5580857"/>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People</a:t>
            </a:r>
          </a:p>
        </p:txBody>
      </p:sp>
      <p:sp>
        <p:nvSpPr>
          <p:cNvPr id="8" name="TextBox 7">
            <a:extLst>
              <a:ext uri="{FF2B5EF4-FFF2-40B4-BE49-F238E27FC236}">
                <a16:creationId xmlns:a16="http://schemas.microsoft.com/office/drawing/2014/main" id="{0593783E-24B0-5E64-CCDE-ACF3C4DC6B81}"/>
              </a:ext>
            </a:extLst>
          </p:cNvPr>
          <p:cNvSpPr txBox="1"/>
          <p:nvPr/>
        </p:nvSpPr>
        <p:spPr>
          <a:xfrm>
            <a:off x="1201151" y="3562131"/>
            <a:ext cx="2796689" cy="2246769"/>
          </a:xfrm>
          <a:prstGeom prst="rect">
            <a:avLst/>
          </a:prstGeom>
          <a:noFill/>
        </p:spPr>
        <p:txBody>
          <a:bodyPr wrap="square" rtlCol="0">
            <a:spAutoFit/>
          </a:bodyPr>
          <a:lstStyle/>
          <a:p>
            <a:pPr marL="257175" indent="-257175" defTabSz="685800">
              <a:buFont typeface="Arial" panose="020B0604020202020204" pitchFamily="34" charset="0"/>
              <a:buChar char="•"/>
            </a:pPr>
            <a:r>
              <a:rPr lang="en-US" sz="2000" dirty="0">
                <a:solidFill>
                  <a:srgbClr val="001120"/>
                </a:solidFill>
                <a:latin typeface="Calibri" panose="020F0502020204030204"/>
              </a:rPr>
              <a:t>Electronic data</a:t>
            </a:r>
          </a:p>
          <a:p>
            <a:pPr marL="257175" indent="-257175" defTabSz="685800">
              <a:buFont typeface="Arial" panose="020B0604020202020204" pitchFamily="34" charset="0"/>
              <a:buChar char="•"/>
            </a:pPr>
            <a:r>
              <a:rPr lang="en-US" sz="2000" dirty="0">
                <a:solidFill>
                  <a:srgbClr val="001120"/>
                </a:solidFill>
                <a:latin typeface="Calibri" panose="020F0502020204030204"/>
              </a:rPr>
              <a:t>~40 hospitals</a:t>
            </a:r>
          </a:p>
          <a:p>
            <a:pPr marL="257175" indent="-257175" defTabSz="685800">
              <a:buFont typeface="Arial" panose="020B0604020202020204" pitchFamily="34" charset="0"/>
              <a:buChar char="•"/>
            </a:pPr>
            <a:r>
              <a:rPr lang="en-US" sz="2000" dirty="0">
                <a:solidFill>
                  <a:srgbClr val="001120"/>
                </a:solidFill>
                <a:latin typeface="Calibri" panose="020F0502020204030204"/>
              </a:rPr>
              <a:t>&gt;60% of Ontario’s adult &amp; </a:t>
            </a:r>
            <a:r>
              <a:rPr lang="en-US" sz="2000" dirty="0" err="1">
                <a:solidFill>
                  <a:srgbClr val="001120"/>
                </a:solidFill>
                <a:latin typeface="Calibri" panose="020F0502020204030204"/>
              </a:rPr>
              <a:t>paediatric</a:t>
            </a:r>
            <a:r>
              <a:rPr lang="en-US" sz="2000" dirty="0">
                <a:solidFill>
                  <a:srgbClr val="001120"/>
                </a:solidFill>
                <a:latin typeface="Calibri" panose="020F0502020204030204"/>
              </a:rPr>
              <a:t> patients</a:t>
            </a:r>
          </a:p>
          <a:p>
            <a:pPr marL="257175" indent="-257175" defTabSz="685800">
              <a:buFont typeface="Arial" panose="020B0604020202020204" pitchFamily="34" charset="0"/>
              <a:buChar char="•"/>
            </a:pPr>
            <a:r>
              <a:rPr lang="en-US" sz="2000" dirty="0">
                <a:solidFill>
                  <a:srgbClr val="001120"/>
                </a:solidFill>
                <a:latin typeface="Calibri" panose="020F0502020204030204"/>
              </a:rPr>
              <a:t>&gt;2.4M hospitalizations</a:t>
            </a:r>
          </a:p>
          <a:p>
            <a:pPr marL="257175" indent="-257175" defTabSz="685800">
              <a:buFont typeface="Arial" panose="020B0604020202020204" pitchFamily="34" charset="0"/>
              <a:buChar char="•"/>
            </a:pPr>
            <a:endParaRPr lang="en-US" sz="2000" dirty="0">
              <a:solidFill>
                <a:srgbClr val="001120"/>
              </a:solidFill>
              <a:latin typeface="Calibri" panose="020F0502020204030204"/>
            </a:endParaRPr>
          </a:p>
        </p:txBody>
      </p:sp>
      <p:sp>
        <p:nvSpPr>
          <p:cNvPr id="10" name="Rectangle 9">
            <a:extLst>
              <a:ext uri="{FF2B5EF4-FFF2-40B4-BE49-F238E27FC236}">
                <a16:creationId xmlns:a16="http://schemas.microsoft.com/office/drawing/2014/main" id="{6EC023DE-7FDD-A769-62A0-A3A07C7A701B}"/>
              </a:ext>
            </a:extLst>
          </p:cNvPr>
          <p:cNvSpPr/>
          <p:nvPr/>
        </p:nvSpPr>
        <p:spPr>
          <a:xfrm>
            <a:off x="1310954" y="5623848"/>
            <a:ext cx="2160000" cy="595489"/>
          </a:xfrm>
          <a:prstGeom prst="rect">
            <a:avLst/>
          </a:prstGeom>
          <a:solidFill>
            <a:srgbClr val="E7F9FF"/>
          </a:solidFill>
          <a:ln w="25400" cap="flat" cmpd="sng" algn="ctr">
            <a:solidFill>
              <a:srgbClr val="022061"/>
            </a:solidFill>
            <a:prstDash val="solid"/>
          </a:ln>
          <a:effectLst/>
        </p:spPr>
        <p:txBody>
          <a:bodyPr rtlCol="0" anchor="ctr"/>
          <a:lstStyle/>
          <a:p>
            <a:pPr algn="ctr">
              <a:defRPr/>
            </a:pPr>
            <a:r>
              <a:rPr lang="en-CA" sz="2400" kern="0" dirty="0">
                <a:solidFill>
                  <a:srgbClr val="001120"/>
                </a:solidFill>
                <a:latin typeface="Arial"/>
              </a:rPr>
              <a:t>Data</a:t>
            </a:r>
          </a:p>
        </p:txBody>
      </p:sp>
      <p:sp>
        <p:nvSpPr>
          <p:cNvPr id="3" name="TextBox 2">
            <a:extLst>
              <a:ext uri="{FF2B5EF4-FFF2-40B4-BE49-F238E27FC236}">
                <a16:creationId xmlns:a16="http://schemas.microsoft.com/office/drawing/2014/main" id="{B7BCADA6-41B6-4F06-94AB-5EED2307B327}"/>
              </a:ext>
            </a:extLst>
          </p:cNvPr>
          <p:cNvSpPr txBox="1"/>
          <p:nvPr/>
        </p:nvSpPr>
        <p:spPr>
          <a:xfrm>
            <a:off x="4869661" y="3562131"/>
            <a:ext cx="2536580" cy="1938992"/>
          </a:xfrm>
          <a:prstGeom prst="rect">
            <a:avLst/>
          </a:prstGeom>
          <a:noFill/>
        </p:spPr>
        <p:txBody>
          <a:bodyPr wrap="square" rtlCol="0">
            <a:spAutoFit/>
          </a:bodyPr>
          <a:lstStyle/>
          <a:p>
            <a:pPr marL="257175" indent="-257175" defTabSz="685800">
              <a:buFont typeface="Arial" panose="020B0604020202020204" pitchFamily="34" charset="0"/>
              <a:buChar char="•"/>
            </a:pPr>
            <a:r>
              <a:rPr lang="en-US" sz="2000" dirty="0">
                <a:solidFill>
                  <a:srgbClr val="001120"/>
                </a:solidFill>
                <a:latin typeface="Calibri" panose="020F0502020204030204"/>
              </a:rPr>
              <a:t>High performance computing environment </a:t>
            </a:r>
          </a:p>
          <a:p>
            <a:pPr marL="257175" indent="-257175" defTabSz="685800">
              <a:buFont typeface="Arial" panose="020B0604020202020204" pitchFamily="34" charset="0"/>
              <a:buChar char="•"/>
            </a:pPr>
            <a:r>
              <a:rPr lang="en-US" sz="2000" dirty="0">
                <a:solidFill>
                  <a:srgbClr val="001120"/>
                </a:solidFill>
                <a:latin typeface="Calibri" panose="020F0502020204030204"/>
              </a:rPr>
              <a:t>Research software and supporting materials</a:t>
            </a:r>
          </a:p>
        </p:txBody>
      </p:sp>
    </p:spTree>
    <p:extLst>
      <p:ext uri="{BB962C8B-B14F-4D97-AF65-F5344CB8AC3E}">
        <p14:creationId xmlns:p14="http://schemas.microsoft.com/office/powerpoint/2010/main" val="3108463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9">
            <a:extLst>
              <a:ext uri="{FF2B5EF4-FFF2-40B4-BE49-F238E27FC236}">
                <a16:creationId xmlns:a16="http://schemas.microsoft.com/office/drawing/2014/main" id="{87E073BE-CA2D-46B5-BA09-DE87AC1CDD80}"/>
              </a:ext>
            </a:extLst>
          </p:cNvPr>
          <p:cNvSpPr>
            <a:spLocks noGrp="1"/>
          </p:cNvSpPr>
          <p:nvPr>
            <p:ph type="title"/>
          </p:nvPr>
        </p:nvSpPr>
        <p:spPr>
          <a:xfrm>
            <a:off x="292100" y="213603"/>
            <a:ext cx="10833100" cy="612459"/>
          </a:xfrm>
        </p:spPr>
        <p:txBody>
          <a:bodyPr/>
          <a:lstStyle/>
          <a:p>
            <a:r>
              <a:rPr lang="en-CA" sz="4000" dirty="0">
                <a:latin typeface="+mn-lt"/>
              </a:rPr>
              <a:t>VITAL Data Platform</a:t>
            </a:r>
          </a:p>
        </p:txBody>
      </p:sp>
      <p:pic>
        <p:nvPicPr>
          <p:cNvPr id="12" name="Picture 11">
            <a:extLst>
              <a:ext uri="{FF2B5EF4-FFF2-40B4-BE49-F238E27FC236}">
                <a16:creationId xmlns:a16="http://schemas.microsoft.com/office/drawing/2014/main" id="{00C6229D-EF81-1C05-4552-4DA394BE895E}"/>
              </a:ext>
            </a:extLst>
          </p:cNvPr>
          <p:cNvPicPr>
            <a:picLocks noChangeAspect="1"/>
          </p:cNvPicPr>
          <p:nvPr/>
        </p:nvPicPr>
        <p:blipFill>
          <a:blip r:embed="rId3"/>
          <a:stretch>
            <a:fillRect/>
          </a:stretch>
        </p:blipFill>
        <p:spPr>
          <a:xfrm>
            <a:off x="11006501" y="61203"/>
            <a:ext cx="1185499" cy="1147111"/>
          </a:xfrm>
          <a:prstGeom prst="rect">
            <a:avLst/>
          </a:prstGeom>
        </p:spPr>
      </p:pic>
      <p:sp>
        <p:nvSpPr>
          <p:cNvPr id="2" name="TextBox 1">
            <a:extLst>
              <a:ext uri="{FF2B5EF4-FFF2-40B4-BE49-F238E27FC236}">
                <a16:creationId xmlns:a16="http://schemas.microsoft.com/office/drawing/2014/main" id="{7A200DA6-9CCC-B875-DF69-BF9A4FE43D54}"/>
              </a:ext>
            </a:extLst>
          </p:cNvPr>
          <p:cNvSpPr txBox="1"/>
          <p:nvPr/>
        </p:nvSpPr>
        <p:spPr>
          <a:xfrm>
            <a:off x="167027" y="1386918"/>
            <a:ext cx="11857944" cy="461665"/>
          </a:xfrm>
          <a:prstGeom prst="rect">
            <a:avLst/>
          </a:prstGeom>
          <a:noFill/>
        </p:spPr>
        <p:txBody>
          <a:bodyPr wrap="square">
            <a:spAutoFit/>
          </a:bodyPr>
          <a:lstStyle/>
          <a:p>
            <a:pPr>
              <a:spcBef>
                <a:spcPts val="600"/>
              </a:spcBef>
              <a:spcAft>
                <a:spcPts val="600"/>
              </a:spcAft>
            </a:pPr>
            <a:r>
              <a:rPr lang="en-US" sz="2400" b="1" dirty="0">
                <a:solidFill>
                  <a:srgbClr val="004D85"/>
                </a:solidFill>
                <a:latin typeface="Arial" panose="020B0604020202020204" pitchFamily="34" charset="0"/>
                <a:cs typeface="Arial" panose="020B0604020202020204" pitchFamily="34" charset="0"/>
              </a:rPr>
              <a:t>Near real-time hospital data for 20 million Canadians for research &amp; innovation</a:t>
            </a:r>
          </a:p>
        </p:txBody>
      </p:sp>
    </p:spTree>
    <p:extLst>
      <p:ext uri="{BB962C8B-B14F-4D97-AF65-F5344CB8AC3E}">
        <p14:creationId xmlns:p14="http://schemas.microsoft.com/office/powerpoint/2010/main" val="16786637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131A1-F463-2D85-45F8-8430BD933A63}"/>
            </a:ext>
          </a:extLst>
        </p:cNvPr>
        <p:cNvGrpSpPr/>
        <p:nvPr/>
      </p:nvGrpSpPr>
      <p:grpSpPr>
        <a:xfrm>
          <a:off x="0" y="0"/>
          <a:ext cx="0" cy="0"/>
          <a:chOff x="0" y="0"/>
          <a:chExt cx="0" cy="0"/>
        </a:xfrm>
      </p:grpSpPr>
      <p:sp>
        <p:nvSpPr>
          <p:cNvPr id="21" name="Title 9">
            <a:extLst>
              <a:ext uri="{FF2B5EF4-FFF2-40B4-BE49-F238E27FC236}">
                <a16:creationId xmlns:a16="http://schemas.microsoft.com/office/drawing/2014/main" id="{2E7B4C02-35FD-86FB-80BD-F6265B8E9D13}"/>
              </a:ext>
            </a:extLst>
          </p:cNvPr>
          <p:cNvSpPr>
            <a:spLocks noGrp="1"/>
          </p:cNvSpPr>
          <p:nvPr>
            <p:ph type="title"/>
          </p:nvPr>
        </p:nvSpPr>
        <p:spPr>
          <a:xfrm>
            <a:off x="292100" y="213603"/>
            <a:ext cx="10833100" cy="612459"/>
          </a:xfrm>
        </p:spPr>
        <p:txBody>
          <a:bodyPr/>
          <a:lstStyle/>
          <a:p>
            <a:r>
              <a:rPr lang="en-CA" sz="4000" dirty="0">
                <a:latin typeface="+mn-lt"/>
              </a:rPr>
              <a:t>VITAL Data Platform</a:t>
            </a:r>
          </a:p>
        </p:txBody>
      </p:sp>
      <p:pic>
        <p:nvPicPr>
          <p:cNvPr id="12" name="Picture 11">
            <a:extLst>
              <a:ext uri="{FF2B5EF4-FFF2-40B4-BE49-F238E27FC236}">
                <a16:creationId xmlns:a16="http://schemas.microsoft.com/office/drawing/2014/main" id="{7B387FC5-14EB-2575-F0D0-C8B74F4925AF}"/>
              </a:ext>
            </a:extLst>
          </p:cNvPr>
          <p:cNvPicPr>
            <a:picLocks noChangeAspect="1"/>
          </p:cNvPicPr>
          <p:nvPr/>
        </p:nvPicPr>
        <p:blipFill>
          <a:blip r:embed="rId3"/>
          <a:stretch>
            <a:fillRect/>
          </a:stretch>
        </p:blipFill>
        <p:spPr>
          <a:xfrm>
            <a:off x="11006501" y="61203"/>
            <a:ext cx="1185499" cy="1147111"/>
          </a:xfrm>
          <a:prstGeom prst="rect">
            <a:avLst/>
          </a:prstGeom>
        </p:spPr>
      </p:pic>
      <p:pic>
        <p:nvPicPr>
          <p:cNvPr id="14" name="Picture 13" descr="A diagram of medical information&#10;&#10;AI-generated content may be incorrect.">
            <a:extLst>
              <a:ext uri="{FF2B5EF4-FFF2-40B4-BE49-F238E27FC236}">
                <a16:creationId xmlns:a16="http://schemas.microsoft.com/office/drawing/2014/main" id="{4BDBECDA-A2FA-FA4A-33D3-359790ADDCE3}"/>
              </a:ext>
            </a:extLst>
          </p:cNvPr>
          <p:cNvPicPr>
            <a:picLocks noChangeAspect="1"/>
          </p:cNvPicPr>
          <p:nvPr/>
        </p:nvPicPr>
        <p:blipFill>
          <a:blip r:embed="rId4"/>
          <a:stretch>
            <a:fillRect/>
          </a:stretch>
        </p:blipFill>
        <p:spPr>
          <a:xfrm>
            <a:off x="167027" y="2919739"/>
            <a:ext cx="11955687" cy="3877058"/>
          </a:xfrm>
          <a:prstGeom prst="rect">
            <a:avLst/>
          </a:prstGeom>
        </p:spPr>
      </p:pic>
      <p:sp>
        <p:nvSpPr>
          <p:cNvPr id="3" name="TextBox 2">
            <a:extLst>
              <a:ext uri="{FF2B5EF4-FFF2-40B4-BE49-F238E27FC236}">
                <a16:creationId xmlns:a16="http://schemas.microsoft.com/office/drawing/2014/main" id="{61381CE9-CB29-A130-9B5B-09151B5322A7}"/>
              </a:ext>
            </a:extLst>
          </p:cNvPr>
          <p:cNvSpPr txBox="1"/>
          <p:nvPr/>
        </p:nvSpPr>
        <p:spPr>
          <a:xfrm>
            <a:off x="167027" y="1386918"/>
            <a:ext cx="11857944" cy="1354217"/>
          </a:xfrm>
          <a:prstGeom prst="rect">
            <a:avLst/>
          </a:prstGeom>
          <a:noFill/>
        </p:spPr>
        <p:txBody>
          <a:bodyPr wrap="square">
            <a:spAutoFit/>
          </a:bodyPr>
          <a:lstStyle/>
          <a:p>
            <a:pPr>
              <a:spcBef>
                <a:spcPts val="600"/>
              </a:spcBef>
              <a:spcAft>
                <a:spcPts val="600"/>
              </a:spcAft>
            </a:pPr>
            <a:r>
              <a:rPr lang="en-US" sz="2400" b="1" dirty="0">
                <a:solidFill>
                  <a:srgbClr val="004D85"/>
                </a:solidFill>
                <a:latin typeface="Arial" panose="020B0604020202020204" pitchFamily="34" charset="0"/>
                <a:cs typeface="Arial" panose="020B0604020202020204" pitchFamily="34" charset="0"/>
              </a:rPr>
              <a:t>Near real-time hospital data for 20 million Canadians for research &amp; innovation</a:t>
            </a:r>
          </a:p>
          <a:p>
            <a:pPr>
              <a:spcBef>
                <a:spcPts val="600"/>
              </a:spcBef>
              <a:spcAft>
                <a:spcPts val="600"/>
              </a:spcAft>
            </a:pPr>
            <a:r>
              <a:rPr lang="en-US" sz="2400" dirty="0">
                <a:solidFill>
                  <a:srgbClr val="004D85"/>
                </a:solidFill>
                <a:latin typeface="Arial" panose="020B0604020202020204" pitchFamily="34" charset="0"/>
                <a:cs typeface="Arial" panose="020B0604020202020204" pitchFamily="34" charset="0"/>
              </a:rPr>
              <a:t>Received initial $30M investment from Government of Canada to build on GEMINI, link across Ontario, Alberta, and Quebec.</a:t>
            </a:r>
          </a:p>
        </p:txBody>
      </p:sp>
    </p:spTree>
    <p:extLst>
      <p:ext uri="{BB962C8B-B14F-4D97-AF65-F5344CB8AC3E}">
        <p14:creationId xmlns:p14="http://schemas.microsoft.com/office/powerpoint/2010/main" val="227055765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34a106e-6316-442c-ad35-738afd673d2b}" enabled="1" method="Standard" siteId="{cddc1229-ac2a-4b97-b78a-0e5cacb5865c}" contentBits="0" removed="0"/>
</clbl:labelList>
</file>

<file path=docProps/app.xml><?xml version="1.0" encoding="utf-8"?>
<Properties xmlns="http://schemas.openxmlformats.org/officeDocument/2006/extended-properties" xmlns:vt="http://schemas.openxmlformats.org/officeDocument/2006/docPropsVTypes">
  <Template>TM03457510[[fn=Savon]]</Template>
  <TotalTime>4495</TotalTime>
  <Words>3610</Words>
  <Application>Microsoft Office PowerPoint</Application>
  <PresentationFormat>Widescreen</PresentationFormat>
  <Paragraphs>280</Paragraphs>
  <Slides>52</Slides>
  <Notes>24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52</vt:i4>
      </vt:variant>
    </vt:vector>
  </HeadingPairs>
  <TitlesOfParts>
    <vt:vector size="64" baseType="lpstr">
      <vt:lpstr>MS PGothic</vt:lpstr>
      <vt:lpstr>Aptos</vt:lpstr>
      <vt:lpstr>Aptos Display</vt:lpstr>
      <vt:lpstr>Arial</vt:lpstr>
      <vt:lpstr>Calibri</vt:lpstr>
      <vt:lpstr>Calibri Light</vt:lpstr>
      <vt:lpstr>Lyon Text Web</vt:lpstr>
      <vt:lpstr>OTNEJMScalaSansLF</vt:lpstr>
      <vt:lpstr>Source Sans Pro</vt:lpstr>
      <vt:lpstr>Times New Roman</vt:lpstr>
      <vt:lpstr>1_Office Theme</vt:lpstr>
      <vt:lpstr>Custom Design</vt:lpstr>
      <vt:lpstr>PowerPoint Presentation</vt:lpstr>
      <vt:lpstr>Disclosures</vt:lpstr>
      <vt:lpstr>What clinical capabilities of AI are relevant for Internal Medicine?</vt:lpstr>
      <vt:lpstr>Ground Rules</vt:lpstr>
      <vt:lpstr>Evaluation – Dr. Excellent Resident, PGY2</vt:lpstr>
      <vt:lpstr>Evaluation – Dr. Excellent Resident, PGY2</vt:lpstr>
      <vt:lpstr>1. Knowledge Base </vt:lpstr>
      <vt:lpstr>PowerPoint Presentation</vt:lpstr>
      <vt:lpstr>PowerPoint Presentation</vt:lpstr>
      <vt:lpstr>PowerPoint Presentation</vt:lpstr>
      <vt:lpstr>PowerPoint Presentation</vt:lpstr>
      <vt:lpstr>2. Clinical Documentation </vt:lpstr>
      <vt:lpstr>AI Scribes</vt:lpstr>
      <vt:lpstr>AI Scribes</vt:lpstr>
      <vt:lpstr>Gather History and Summarize Information From EHR</vt:lpstr>
      <vt:lpstr>Gather History and Summarize Information From EHR</vt:lpstr>
      <vt:lpstr>Gather History and Summarize Information From EHR</vt:lpstr>
      <vt:lpstr>Gather History and Summarize Information From EHR</vt:lpstr>
      <vt:lpstr>PowerPoint Presentation</vt:lpstr>
      <vt:lpstr>3. Diagnosis and decision-making</vt:lpstr>
      <vt:lpstr>Diagnosis and Decision-making</vt:lpstr>
      <vt:lpstr>Clinical Knowledge and Capabilities of AI - Takeaways</vt:lpstr>
      <vt:lpstr>What can AI and Clinicians do together?</vt:lpstr>
      <vt:lpstr>PowerPoint Presentation</vt:lpstr>
      <vt:lpstr>PowerPoint Presentation</vt:lpstr>
      <vt:lpstr>What can AI do that clinicians can’t?  </vt:lpstr>
      <vt:lpstr>PowerPoint Presentation</vt:lpstr>
      <vt:lpstr>PowerPoint Presentation</vt:lpstr>
      <vt:lpstr>PowerPoint Presentation</vt:lpstr>
      <vt:lpstr>PowerPoint Presentation</vt:lpstr>
      <vt:lpstr>Delirium is a leading cause of hospital harm</vt:lpstr>
      <vt:lpstr>Delirium is preventable</vt:lpstr>
      <vt:lpstr>Change Idea: Use AI to focus prevention efforts</vt:lpstr>
      <vt:lpstr>Identifying &amp; Predicting Delirium</vt:lpstr>
      <vt:lpstr>Sparsity Analysis</vt:lpstr>
      <vt:lpstr>PowerPoint Presentation</vt:lpstr>
      <vt:lpstr>“AIM to Prevent” Delirium RCT</vt:lpstr>
      <vt:lpstr>What can we expect AI to accomplish in the next 3 years?</vt:lpstr>
      <vt:lpstr>What is the evidence base for real-world clinical use of AI?</vt:lpstr>
      <vt:lpstr>What is the evidence base for real-world clinical use of AI?</vt:lpstr>
      <vt:lpstr>What is the evidence base for real-world clinical use of AI?</vt:lpstr>
      <vt:lpstr>AI is at a “tipping point” in U.S. healthcare</vt:lpstr>
      <vt:lpstr>U.S. Healthcare is NOT the same as Canadian Healthcare</vt:lpstr>
      <vt:lpstr>U.S. Healthcare is NOT the same as Canadian Healthcare</vt:lpstr>
      <vt:lpstr>Data Sovereignty    Without a flourishing Canadian ecosystem for health data innovation, we cede control of these technologies and our sensitive health data to other countries.</vt:lpstr>
      <vt:lpstr>How do we develop and test clinical AI?</vt:lpstr>
      <vt:lpstr>PowerPoint Presentation</vt:lpstr>
      <vt:lpstr>PowerPoint Presentation</vt:lpstr>
      <vt:lpstr>PowerPoint Presentation</vt:lpstr>
      <vt:lpstr>PowerPoint Presentation</vt:lpstr>
      <vt:lpstr>VITAL Data Platform</vt:lpstr>
      <vt:lpstr>VITAL Data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Paul, Jenine</dc:creator>
  <cp:lastModifiedBy>Amol Verma</cp:lastModifiedBy>
  <cp:revision>118</cp:revision>
  <dcterms:created xsi:type="dcterms:W3CDTF">2021-08-23T17:53:36Z</dcterms:created>
  <dcterms:modified xsi:type="dcterms:W3CDTF">2026-02-11T14:39:46Z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etDate">
    <vt:lpwstr>2021-09-01T14:29:10Z</vt:lpwstr>
  </property>
  <property fmtid="{D5CDD505-2E9C-101B-9397-08002B2CF9AE}" pid="4" name="MSIP_Label_034a106e-6316-442c-ad35-738afd673d2b_Method">
    <vt:lpwstr>Standard</vt:lpwstr>
  </property>
  <property fmtid="{D5CDD505-2E9C-101B-9397-08002B2CF9AE}" pid="5" name="MSIP_Label_034a106e-6316-442c-ad35-738afd673d2b_Name">
    <vt:lpwstr>034a106e-6316-442c-ad35-738afd673d2b</vt:lpwstr>
  </property>
  <property fmtid="{D5CDD505-2E9C-101B-9397-08002B2CF9AE}" pid="6" name="MSIP_Label_034a106e-6316-442c-ad35-738afd673d2b_SiteId">
    <vt:lpwstr>cddc1229-ac2a-4b97-b78a-0e5cacb5865c</vt:lpwstr>
  </property>
  <property fmtid="{D5CDD505-2E9C-101B-9397-08002B2CF9AE}" pid="7" name="MSIP_Label_034a106e-6316-442c-ad35-738afd673d2b_ActionId">
    <vt:lpwstr>f6039981-17b2-46e9-968d-04032abe54d0</vt:lpwstr>
  </property>
  <property fmtid="{D5CDD505-2E9C-101B-9397-08002B2CF9AE}" pid="8" name="MSIP_Label_034a106e-6316-442c-ad35-738afd673d2b_ContentBits">
    <vt:lpwstr>0</vt:lpwstr>
  </property>
</Properties>
</file>